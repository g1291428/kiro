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jpg" ContentType="image/pn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27"/>
  </p:notesMasterIdLst>
  <p:sldIdLst>
    <p:sldId id="297" r:id="rId3"/>
    <p:sldId id="263" r:id="rId4"/>
    <p:sldId id="281" r:id="rId5"/>
    <p:sldId id="283" r:id="rId6"/>
    <p:sldId id="284" r:id="rId7"/>
    <p:sldId id="301" r:id="rId8"/>
    <p:sldId id="286" r:id="rId9"/>
    <p:sldId id="300" r:id="rId10"/>
    <p:sldId id="261" r:id="rId11"/>
    <p:sldId id="285" r:id="rId12"/>
    <p:sldId id="270" r:id="rId13"/>
    <p:sldId id="293" r:id="rId14"/>
    <p:sldId id="292" r:id="rId15"/>
    <p:sldId id="298" r:id="rId16"/>
    <p:sldId id="299" r:id="rId17"/>
    <p:sldId id="294" r:id="rId18"/>
    <p:sldId id="295" r:id="rId19"/>
    <p:sldId id="296" r:id="rId20"/>
    <p:sldId id="291" r:id="rId21"/>
    <p:sldId id="288" r:id="rId22"/>
    <p:sldId id="287" r:id="rId23"/>
    <p:sldId id="290" r:id="rId24"/>
    <p:sldId id="289" r:id="rId25"/>
    <p:sldId id="272" r:id="rId26"/>
  </p:sldIdLst>
  <p:sldSz cx="12192000" cy="6858000"/>
  <p:notesSz cx="6858000" cy="9144000"/>
  <p:defaultTextStyle>
    <a:defPPr>
      <a:defRPr lang="en-US"/>
    </a:defPPr>
    <a:lvl1pPr marL="0" lvl="0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lvl="1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lvl="2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lvl="3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lvl="4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lvl="5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lvl="6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lvl="7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lvl="8" indent="0" algn="l" defTabSz="4572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416C"/>
    <a:srgbClr val="1E5996"/>
    <a:srgbClr val="B9282C"/>
    <a:srgbClr val="A2A7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8" d="100"/>
          <a:sy n="78" d="100"/>
        </p:scale>
        <p:origin x="778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8927915-AFB6-469B-9C17-020B5C66077F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2026/9/17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125" name="备注占位符 4"/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/>
          <a:p>
            <a:pPr lvl="0" algn="r">
              <a:buNone/>
            </a:pPr>
            <a:fld id="{9A0DB2DC-4C9A-4742-B13C-FB6460FD3503}" type="slidenum">
              <a:rPr lang="zh-CN" altLang="en-US" sz="1200" dirty="0">
                <a:latin typeface="等线" panose="02010600030101010101" pitchFamily="2" charset="-122"/>
                <a:ea typeface="等线" panose="02010600030101010101" pitchFamily="2" charset="-122"/>
              </a:rPr>
              <a:t>‹#›</a:t>
            </a:fld>
            <a:endParaRPr lang="zh-CN" altLang="en-US" sz="1200" dirty="0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158750"/>
          </a:xfrm>
          <a:prstGeom prst="rect">
            <a:avLst/>
          </a:prstGeom>
          <a:solidFill>
            <a:srgbClr val="1E599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0" y="6786563"/>
            <a:ext cx="12192000" cy="71438"/>
          </a:xfrm>
          <a:prstGeom prst="rect">
            <a:avLst/>
          </a:prstGeom>
          <a:solidFill>
            <a:srgbClr val="B9282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日期占位符 1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页脚占位符 2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灯片编号占位符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/>
          <a:p>
            <a:pPr algn="r" eaLnBrk="1" hangingPunct="1">
              <a:buNone/>
            </a:pPr>
            <a:fld id="{9A0DB2DC-4C9A-4742-B13C-FB6460FD3503}" type="slidenum">
              <a:rPr lang="zh-CN" altLang="en-US" dirty="0">
                <a:ea typeface="等线" panose="02010600030101010101" pitchFamily="2" charset="-122"/>
              </a:rPr>
              <a:t>‹#›</a:t>
            </a:fld>
            <a:endParaRPr lang="zh-CN" altLang="en-US" dirty="0">
              <a:ea typeface="等线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单击图标添加图片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158750"/>
          </a:xfrm>
          <a:prstGeom prst="rect">
            <a:avLst/>
          </a:prstGeom>
          <a:solidFill>
            <a:srgbClr val="1E599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0" y="6786563"/>
            <a:ext cx="12192000" cy="71438"/>
          </a:xfrm>
          <a:prstGeom prst="rect">
            <a:avLst/>
          </a:prstGeom>
          <a:solidFill>
            <a:srgbClr val="B9282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日期占位符 1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页脚占位符 2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灯片编号占位符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/>
          <a:p>
            <a:pPr algn="r" eaLnBrk="1" hangingPunct="1">
              <a:buNone/>
            </a:pPr>
            <a:fld id="{9A0DB2DC-4C9A-4742-B13C-FB6460FD3503}" type="slidenum">
              <a:rPr lang="zh-CN" altLang="en-US" dirty="0">
                <a:ea typeface="等线" panose="02010600030101010101" pitchFamily="2" charset="-122"/>
              </a:rPr>
              <a:t>‹#›</a:t>
            </a:fld>
            <a:endParaRPr lang="zh-CN" altLang="en-US" dirty="0">
              <a:ea typeface="等线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单击图标添加图片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ea typeface="等线" panose="02010600030101010101" pitchFamily="2" charset="-122"/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ea typeface="等线" panose="02010600030101010101" pitchFamily="2" charset="-122"/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zh-CN" altLang="en-US" dirty="0">
                <a:latin typeface="Calibri" panose="020F0502020204030204" pitchFamily="34" charset="0"/>
              </a:rPr>
              <a:t>‹#›</a:t>
            </a:fld>
            <a:endParaRPr lang="zh-CN" altLang="en-US" dirty="0"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slideLayout" Target="../slideLayouts/slideLayout12.xml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jpeg"/><Relationship Id="rId18" Type="http://schemas.openxmlformats.org/officeDocument/2006/relationships/image" Target="../media/image11.jpeg"/><Relationship Id="rId19" Type="http://schemas.openxmlformats.org/officeDocument/2006/relationships/image" Target="../media/image12.jpeg"/><Relationship Id="rId20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jpeg"/><Relationship Id="rId3" Type="http://schemas.openxmlformats.org/officeDocument/2006/relationships/image" Target="../media/image14.png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image" Target="../media/image22.jpe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microsoft.com/office/2007/relationships/hdphoto" Target="../media/hdphoto1.wdp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3.png"/><Relationship Id="rId11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Relationship Id="rId3" Type="http://schemas.openxmlformats.org/officeDocument/2006/relationships/image" Target="../media/image30.jpeg"/><Relationship Id="rId4" Type="http://schemas.openxmlformats.org/officeDocument/2006/relationships/image" Target="../media/image31.jpeg"/><Relationship Id="rId5" Type="http://schemas.openxmlformats.org/officeDocument/2006/relationships/image" Target="../media/image32.jpeg"/><Relationship Id="rId6" Type="http://schemas.openxmlformats.org/officeDocument/2006/relationships/image" Target="../media/image33.jpeg"/><Relationship Id="rId7" Type="http://schemas.openxmlformats.org/officeDocument/2006/relationships/image" Target="../media/image34.jpeg"/><Relationship Id="rId8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5.jpeg"/><Relationship Id="rId3" Type="http://schemas.openxmlformats.org/officeDocument/2006/relationships/image" Target="../media/image36.png"/><Relationship Id="rId4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6B76BCB-0CB4-4953-2A0B-B3B3202E2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4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6603"/>
            <a:ext cx="3108960" cy="763530"/>
          </a:xfrm>
          <a:prstGeom prst="rect">
            <a:avLst/>
          </a:prstGeom>
          <a:effectLst/>
        </p:spPr>
      </p:pic>
      <p:sp>
        <p:nvSpPr>
          <p:cNvPr id="5" name="TextBox 3"/>
          <p:cNvSpPr txBox="1"/>
          <p:nvPr/>
        </p:nvSpPr>
        <p:spPr>
          <a:xfrm>
            <a:off x="7601682" y="5486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 spc="24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项目汇报</a:t>
            </a:r>
          </a:p>
        </p:txBody>
      </p:sp>
      <p:pic>
        <p:nvPicPr>
          <p:cNvPr id="6" name="Picture 4" descr="image.png"/>
          <p:cNvPicPr>
            <a:picLocks noChangeAspect="1"/>
          </p:cNvPicPr>
          <p:nvPr/>
        </p:nvPicPr>
        <p:blipFill>
          <a:blip r:embed="rId4"/>
          <a:srcRect t="56522" b="8696"/>
          <a:stretch>
            <a:fillRect/>
          </a:stretch>
        </p:blipFill>
        <p:spPr>
          <a:xfrm>
            <a:off x="566928" y="1133856"/>
            <a:ext cx="9509978" cy="32004"/>
          </a:xfrm>
          <a:prstGeom prst="rect">
            <a:avLst/>
          </a:prstGeom>
          <a:effectLst/>
        </p:spPr>
      </p:pic>
      <p:sp>
        <p:nvSpPr>
          <p:cNvPr id="7" name="Rectangle 5"/>
          <p:cNvSpPr/>
          <p:nvPr/>
        </p:nvSpPr>
        <p:spPr>
          <a:xfrm>
            <a:off x="566928" y="1133856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8" name="Picture 6" descr="image.png"/>
          <p:cNvPicPr>
            <a:picLocks noChangeAspect="1"/>
          </p:cNvPicPr>
          <p:nvPr/>
        </p:nvPicPr>
        <p:blipFill>
          <a:blip r:embed="rId2"/>
          <a:srcRect t="43558" b="16939"/>
          <a:stretch>
            <a:fillRect/>
          </a:stretch>
        </p:blipFill>
        <p:spPr>
          <a:xfrm>
            <a:off x="0" y="1389888"/>
            <a:ext cx="12191970" cy="3218688"/>
          </a:xfrm>
          <a:prstGeom prst="rect">
            <a:avLst/>
          </a:prstGeom>
          <a:effectLst/>
        </p:spPr>
      </p:pic>
      <p:sp>
        <p:nvSpPr>
          <p:cNvPr id="9" name="Rectangle 7"/>
          <p:cNvSpPr/>
          <p:nvPr/>
        </p:nvSpPr>
        <p:spPr>
          <a:xfrm>
            <a:off x="0" y="1389888"/>
            <a:ext cx="12191970" cy="3218688"/>
          </a:xfrm>
          <a:prstGeom prst="rect">
            <a:avLst/>
          </a:prstGeom>
          <a:gradFill rotWithShape="1">
            <a:gsLst>
              <a:gs pos="0">
                <a:srgbClr val="0E2F4F">
                  <a:alpha val="88000"/>
                </a:srgbClr>
              </a:gs>
              <a:gs pos="100000">
                <a:srgbClr val="1E5996">
                  <a:alpha val="76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Rectangle 8"/>
          <p:cNvSpPr/>
          <p:nvPr/>
        </p:nvSpPr>
        <p:spPr>
          <a:xfrm>
            <a:off x="0" y="4562856"/>
            <a:ext cx="12191970" cy="4572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ectangle 9"/>
          <p:cNvSpPr/>
          <p:nvPr/>
        </p:nvSpPr>
        <p:spPr>
          <a:xfrm>
            <a:off x="5501625" y="1773936"/>
            <a:ext cx="1188720" cy="50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2" name="TextBox 10"/>
          <p:cNvSpPr txBox="1"/>
          <p:nvPr/>
        </p:nvSpPr>
        <p:spPr>
          <a:xfrm>
            <a:off x="731520" y="2048256"/>
            <a:ext cx="1072893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咖啡液萃取与超声杀菌</a:t>
            </a:r>
          </a:p>
          <a:p>
            <a:pPr algn="ctr">
              <a:lnSpc>
                <a:spcPct val="112000"/>
              </a:lnSpc>
              <a:buNone/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工艺及装备设计研究设备</a:t>
            </a:r>
          </a:p>
        </p:txBody>
      </p:sp>
      <p:sp>
        <p:nvSpPr>
          <p:cNvPr id="13" name="TextBox 11"/>
          <p:cNvSpPr txBox="1"/>
          <p:nvPr/>
        </p:nvSpPr>
        <p:spPr>
          <a:xfrm>
            <a:off x="731520" y="3785616"/>
            <a:ext cx="1072893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700" b="1" spc="60">
                <a:solidFill>
                  <a:srgbClr val="C9DAEA"/>
                </a:solidFill>
                <a:latin typeface="Times New Roman"/>
                <a:ea typeface="Times New Roman"/>
                <a:cs typeface="Times New Roman"/>
              </a:rPr>
              <a:t>Tianjin University of Science ＆ Technology</a:t>
            </a:r>
          </a:p>
        </p:txBody>
      </p:sp>
      <p:sp>
        <p:nvSpPr>
          <p:cNvPr id="14" name="TextBox 12"/>
          <p:cNvSpPr txBox="1"/>
          <p:nvPr/>
        </p:nvSpPr>
        <p:spPr>
          <a:xfrm>
            <a:off x="792465" y="4956048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100" b="0" spc="10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5" name="TextBox 13"/>
          <p:cNvSpPr txBox="1"/>
          <p:nvPr/>
        </p:nvSpPr>
        <p:spPr>
          <a:xfrm>
            <a:off x="792465" y="521208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5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苏  杭</a:t>
            </a:r>
          </a:p>
        </p:txBody>
      </p:sp>
      <p:sp>
        <p:nvSpPr>
          <p:cNvPr id="16" name="TextBox 14"/>
          <p:cNvSpPr txBox="1"/>
          <p:nvPr/>
        </p:nvSpPr>
        <p:spPr>
          <a:xfrm>
            <a:off x="3444225" y="4956048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100" b="0" spc="10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理工科负责人</a:t>
            </a:r>
          </a:p>
        </p:txBody>
      </p:sp>
      <p:sp>
        <p:nvSpPr>
          <p:cNvPr id="17" name="TextBox 15"/>
          <p:cNvSpPr txBox="1"/>
          <p:nvPr/>
        </p:nvSpPr>
        <p:spPr>
          <a:xfrm>
            <a:off x="3444225" y="521208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5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宋继田 教授</a:t>
            </a:r>
          </a:p>
        </p:txBody>
      </p:sp>
      <p:sp>
        <p:nvSpPr>
          <p:cNvPr id="18" name="Rectangle 16"/>
          <p:cNvSpPr/>
          <p:nvPr/>
        </p:nvSpPr>
        <p:spPr>
          <a:xfrm>
            <a:off x="3444225" y="5010912"/>
            <a:ext cx="9144" cy="566928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9" name="TextBox 17"/>
          <p:cNvSpPr txBox="1"/>
          <p:nvPr/>
        </p:nvSpPr>
        <p:spPr>
          <a:xfrm>
            <a:off x="6095985" y="4956048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100" b="0" spc="10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人文社科负责人</a:t>
            </a:r>
          </a:p>
        </p:txBody>
      </p:sp>
      <p:sp>
        <p:nvSpPr>
          <p:cNvPr id="20" name="TextBox 18"/>
          <p:cNvSpPr txBox="1"/>
          <p:nvPr/>
        </p:nvSpPr>
        <p:spPr>
          <a:xfrm>
            <a:off x="6095985" y="521208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5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李金茹 副教授</a:t>
            </a:r>
          </a:p>
        </p:txBody>
      </p:sp>
      <p:sp>
        <p:nvSpPr>
          <p:cNvPr id="21" name="Rectangle 19"/>
          <p:cNvSpPr/>
          <p:nvPr/>
        </p:nvSpPr>
        <p:spPr>
          <a:xfrm>
            <a:off x="6095985" y="5010912"/>
            <a:ext cx="9144" cy="566928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2" name="TextBox 20"/>
          <p:cNvSpPr txBox="1"/>
          <p:nvPr/>
        </p:nvSpPr>
        <p:spPr>
          <a:xfrm>
            <a:off x="8747745" y="4956048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100" b="0" spc="10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汇报日期</a:t>
            </a:r>
          </a:p>
        </p:txBody>
      </p:sp>
      <p:sp>
        <p:nvSpPr>
          <p:cNvPr id="23" name="TextBox 21"/>
          <p:cNvSpPr txBox="1"/>
          <p:nvPr/>
        </p:nvSpPr>
        <p:spPr>
          <a:xfrm>
            <a:off x="8747745" y="521208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5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2026.09.14</a:t>
            </a:r>
          </a:p>
        </p:txBody>
      </p:sp>
      <p:sp>
        <p:nvSpPr>
          <p:cNvPr id="24" name="Rectangle 22"/>
          <p:cNvSpPr/>
          <p:nvPr/>
        </p:nvSpPr>
        <p:spPr>
          <a:xfrm>
            <a:off x="8747745" y="5010912"/>
            <a:ext cx="9144" cy="566928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5" name="Rectangle 23"/>
          <p:cNvSpPr/>
          <p:nvPr/>
        </p:nvSpPr>
        <p:spPr>
          <a:xfrm>
            <a:off x="566928" y="6272784"/>
            <a:ext cx="3520440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6" name="Rectangle 24"/>
          <p:cNvSpPr/>
          <p:nvPr/>
        </p:nvSpPr>
        <p:spPr>
          <a:xfrm>
            <a:off x="8104602" y="6272784"/>
            <a:ext cx="3520440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7" name="TextBox 25"/>
          <p:cNvSpPr txBox="1"/>
          <p:nvPr/>
        </p:nvSpPr>
        <p:spPr>
          <a:xfrm>
            <a:off x="4084305" y="6035040"/>
            <a:ext cx="402336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buNone/>
            </a:pPr>
            <a:r>
              <a:rPr sz="2200" b="0">
                <a:solidFill>
                  <a:srgbClr val="16416C"/>
                </a:solidFill>
                <a:latin typeface="华文行楷"/>
                <a:ea typeface="华文行楷"/>
                <a:cs typeface="华文行楷"/>
              </a:rPr>
              <a:t>尚德尚学尚行 爱国爱校爱人</a:t>
            </a:r>
          </a:p>
        </p:txBody>
      </p:sp>
    </p:spTree>
    <p:extLst>
      <p:ext uri="{BB962C8B-B14F-4D97-AF65-F5344CB8AC3E}">
        <p14:creationId xmlns:p14="http://schemas.microsoft.com/office/powerpoint/2010/main" val="2195617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平行四边形 7"/>
          <p:cNvSpPr/>
          <p:nvPr/>
        </p:nvSpPr>
        <p:spPr>
          <a:xfrm>
            <a:off x="0" y="0"/>
            <a:ext cx="6428232" cy="6858000"/>
          </a:xfrm>
          <a:custGeom>
            <a:avLst/>
            <a:gdLst>
              <a:gd name="connsiteX0" fmla="*/ 0 w 6431042"/>
              <a:gd name="connsiteY0" fmla="*/ 6858001 h 6858001"/>
              <a:gd name="connsiteX1" fmla="*/ 2691520 w 6431042"/>
              <a:gd name="connsiteY1" fmla="*/ 0 h 6858001"/>
              <a:gd name="connsiteX2" fmla="*/ 6431042 w 6431042"/>
              <a:gd name="connsiteY2" fmla="*/ 0 h 6858001"/>
              <a:gd name="connsiteX3" fmla="*/ 3739522 w 6431042"/>
              <a:gd name="connsiteY3" fmla="*/ 6858001 h 6858001"/>
              <a:gd name="connsiteX4" fmla="*/ 0 w 6431042"/>
              <a:gd name="connsiteY4" fmla="*/ 6858001 h 6858001"/>
              <a:gd name="connsiteX0-1" fmla="*/ 0 w 6431042"/>
              <a:gd name="connsiteY0-2" fmla="*/ 6858001 h 6858001"/>
              <a:gd name="connsiteX1-3" fmla="*/ 1269120 w 6431042"/>
              <a:gd name="connsiteY1-4" fmla="*/ 0 h 6858001"/>
              <a:gd name="connsiteX2-5" fmla="*/ 6431042 w 6431042"/>
              <a:gd name="connsiteY2-6" fmla="*/ 0 h 6858001"/>
              <a:gd name="connsiteX3-7" fmla="*/ 3739522 w 6431042"/>
              <a:gd name="connsiteY3-8" fmla="*/ 6858001 h 6858001"/>
              <a:gd name="connsiteX4-9" fmla="*/ 0 w 6431042"/>
              <a:gd name="connsiteY4-10" fmla="*/ 6858001 h 68580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31042" h="6858001">
                <a:moveTo>
                  <a:pt x="0" y="6858001"/>
                </a:moveTo>
                <a:lnTo>
                  <a:pt x="1269120" y="0"/>
                </a:lnTo>
                <a:lnTo>
                  <a:pt x="6431042" y="0"/>
                </a:lnTo>
                <a:lnTo>
                  <a:pt x="3739522" y="6858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16416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矩形 8"/>
          <p:cNvSpPr/>
          <p:nvPr/>
        </p:nvSpPr>
        <p:spPr>
          <a:xfrm>
            <a:off x="0" y="-9144"/>
            <a:ext cx="2779776" cy="6867144"/>
          </a:xfrm>
          <a:custGeom>
            <a:avLst/>
            <a:gdLst>
              <a:gd name="connsiteX0" fmla="*/ 0 w 2783632"/>
              <a:gd name="connsiteY0" fmla="*/ 0 h 6858001"/>
              <a:gd name="connsiteX1" fmla="*/ 2783632 w 2783632"/>
              <a:gd name="connsiteY1" fmla="*/ 0 h 6858001"/>
              <a:gd name="connsiteX2" fmla="*/ 2783632 w 2783632"/>
              <a:gd name="connsiteY2" fmla="*/ 6858001 h 6858001"/>
              <a:gd name="connsiteX3" fmla="*/ 0 w 2783632"/>
              <a:gd name="connsiteY3" fmla="*/ 6858001 h 6858001"/>
              <a:gd name="connsiteX4" fmla="*/ 0 w 2783632"/>
              <a:gd name="connsiteY4" fmla="*/ 0 h 6858001"/>
              <a:gd name="connsiteX0-1" fmla="*/ 0 w 2783632"/>
              <a:gd name="connsiteY0-2" fmla="*/ 12700 h 6870701"/>
              <a:gd name="connsiteX1-3" fmla="*/ 1551732 w 2783632"/>
              <a:gd name="connsiteY1-4" fmla="*/ 0 h 6870701"/>
              <a:gd name="connsiteX2-5" fmla="*/ 2783632 w 2783632"/>
              <a:gd name="connsiteY2-6" fmla="*/ 6870701 h 6870701"/>
              <a:gd name="connsiteX3-7" fmla="*/ 0 w 2783632"/>
              <a:gd name="connsiteY3-8" fmla="*/ 6870701 h 6870701"/>
              <a:gd name="connsiteX4-9" fmla="*/ 0 w 2783632"/>
              <a:gd name="connsiteY4-10" fmla="*/ 12700 h 6870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783632" h="6870701">
                <a:moveTo>
                  <a:pt x="0" y="12700"/>
                </a:moveTo>
                <a:lnTo>
                  <a:pt x="1551732" y="0"/>
                </a:lnTo>
                <a:lnTo>
                  <a:pt x="2783632" y="6870701"/>
                </a:lnTo>
                <a:lnTo>
                  <a:pt x="0" y="6870701"/>
                </a:lnTo>
                <a:lnTo>
                  <a:pt x="0" y="12700"/>
                </a:lnTo>
                <a:close/>
              </a:path>
            </a:pathLst>
          </a:custGeom>
          <a:solidFill>
            <a:srgbClr val="1E59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tangle 9"/>
          <p:cNvSpPr/>
          <p:nvPr/>
        </p:nvSpPr>
        <p:spPr>
          <a:xfrm>
            <a:off x="12073098" y="0"/>
            <a:ext cx="118872" cy="685800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6" name="TextBox 10"/>
          <p:cNvSpPr txBox="1"/>
          <p:nvPr/>
        </p:nvSpPr>
        <p:spPr>
          <a:xfrm>
            <a:off x="274320" y="14447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300" b="1" spc="4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SECTION</a:t>
            </a:r>
          </a:p>
        </p:txBody>
      </p:sp>
      <p:sp>
        <p:nvSpPr>
          <p:cNvPr id="7" name="Rectangle 11"/>
          <p:cNvSpPr/>
          <p:nvPr/>
        </p:nvSpPr>
        <p:spPr>
          <a:xfrm>
            <a:off x="2606040" y="1828800"/>
            <a:ext cx="10058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8" name="TextBox 12"/>
          <p:cNvSpPr txBox="1"/>
          <p:nvPr/>
        </p:nvSpPr>
        <p:spPr>
          <a:xfrm>
            <a:off x="274320" y="201168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Rectangle 13"/>
          <p:cNvSpPr/>
          <p:nvPr/>
        </p:nvSpPr>
        <p:spPr>
          <a:xfrm>
            <a:off x="7178040" y="2139696"/>
            <a:ext cx="960120" cy="5486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TextBox 14"/>
          <p:cNvSpPr txBox="1"/>
          <p:nvPr/>
        </p:nvSpPr>
        <p:spPr>
          <a:xfrm>
            <a:off x="7178040" y="2322576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5200" b="1" spc="30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1" name="TextBox 15"/>
          <p:cNvSpPr txBox="1"/>
          <p:nvPr/>
        </p:nvSpPr>
        <p:spPr>
          <a:xfrm>
            <a:off x="7178040" y="331012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50" b="1" spc="2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PROJECT BACKGROUND</a:t>
            </a:r>
          </a:p>
        </p:txBody>
      </p:sp>
      <p:sp>
        <p:nvSpPr>
          <p:cNvPr id="12" name="Rectangle 16"/>
          <p:cNvSpPr/>
          <p:nvPr/>
        </p:nvSpPr>
        <p:spPr>
          <a:xfrm>
            <a:off x="7178040" y="3712464"/>
            <a:ext cx="548640" cy="20117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TextBox 17"/>
          <p:cNvSpPr txBox="1"/>
          <p:nvPr/>
        </p:nvSpPr>
        <p:spPr>
          <a:xfrm>
            <a:off x="7178040" y="389534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4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国内咖啡消费五年持续增长，咖啡液成为增速领先的细分品类。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1A0A6ECD-CD0A-3320-5D35-0E4C27F25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01 / 项目背景 · 市场分析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国内咖啡生豆消耗量五年持续攀升，</a:t>
            </a:r>
            <a:r>
              <a:rPr sz="2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2025 年达 41.5 万吨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3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8321040" cy="42611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0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99115"/>
            <a:ext cx="7955280" cy="3640314"/>
          </a:xfrm>
          <a:prstGeom prst="rect">
            <a:avLst/>
          </a:prstGeom>
          <a:effectLst/>
        </p:spPr>
      </p:pic>
      <p:sp>
        <p:nvSpPr>
          <p:cNvPr id="11" name="Rounded Rectangle 9"/>
          <p:cNvSpPr/>
          <p:nvPr/>
        </p:nvSpPr>
        <p:spPr>
          <a:xfrm>
            <a:off x="9070848" y="1188720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41.5</a:t>
            </a: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万吨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2025 年国内咖啡生豆消耗总量</a:t>
            </a:r>
          </a:p>
        </p:txBody>
      </p:sp>
      <p:sp>
        <p:nvSpPr>
          <p:cNvPr id="12" name="Rectangle 10"/>
          <p:cNvSpPr/>
          <p:nvPr/>
        </p:nvSpPr>
        <p:spPr>
          <a:xfrm>
            <a:off x="9070848" y="1316736"/>
            <a:ext cx="50292" cy="10607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Rounded Rectangle 11"/>
          <p:cNvSpPr/>
          <p:nvPr/>
        </p:nvSpPr>
        <p:spPr>
          <a:xfrm>
            <a:off x="9070848" y="2660904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22.5 → 41.5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2021 → 2025 消耗总量（万吨）</a:t>
            </a:r>
          </a:p>
        </p:txBody>
      </p:sp>
      <p:sp>
        <p:nvSpPr>
          <p:cNvPr id="14" name="Rectangle 12"/>
          <p:cNvSpPr/>
          <p:nvPr/>
        </p:nvSpPr>
        <p:spPr>
          <a:xfrm>
            <a:off x="9070848" y="2788920"/>
            <a:ext cx="50292" cy="1060704"/>
          </a:xfrm>
          <a:prstGeom prst="rect">
            <a:avLst/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Rounded Rectangle 13"/>
          <p:cNvSpPr/>
          <p:nvPr/>
        </p:nvSpPr>
        <p:spPr>
          <a:xfrm>
            <a:off x="9070848" y="4133088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+84.44</a:t>
            </a:r>
            <a:r>
              <a:rPr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 %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总生豆五年总增长率</a:t>
            </a:r>
          </a:p>
        </p:txBody>
      </p:sp>
      <p:sp>
        <p:nvSpPr>
          <p:cNvPr id="16" name="Rectangle 14"/>
          <p:cNvSpPr/>
          <p:nvPr/>
        </p:nvSpPr>
        <p:spPr>
          <a:xfrm>
            <a:off x="9070848" y="4261104"/>
            <a:ext cx="50292" cy="10607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7" name="Rounded Rectangle 15"/>
          <p:cNvSpPr/>
          <p:nvPr/>
        </p:nvSpPr>
        <p:spPr>
          <a:xfrm>
            <a:off x="566928" y="5596128"/>
            <a:ext cx="11058114" cy="676656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2025 年国内咖啡豆生豆消耗量达到 </a:t>
            </a:r>
            <a:r>
              <a:rPr sz="165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41.5 万吨</a:t>
            </a:r>
          </a:p>
        </p:txBody>
      </p:sp>
      <p:sp>
        <p:nvSpPr>
          <p:cNvPr id="18" name="Rectangle 16"/>
          <p:cNvSpPr/>
          <p:nvPr/>
        </p:nvSpPr>
        <p:spPr>
          <a:xfrm>
            <a:off x="749808" y="5724144"/>
            <a:ext cx="59436" cy="42062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9" name="TextBox 17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　|　统计区间：2021—2025 年；数值与原图表完全一致</a:t>
            </a:r>
          </a:p>
        </p:txBody>
      </p:sp>
      <p:sp>
        <p:nvSpPr>
          <p:cNvPr id="20" name="TextBox 18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03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352095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5A6F7423-BE2E-AAF5-7830-71264C676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01 / 项目背景 · 市场分析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咖啡液五年增长 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621.74%</a:t>
            </a: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，增速仅次于冻干咖啡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3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8321040" cy="42611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0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290" y="1371600"/>
            <a:ext cx="7640316" cy="3895344"/>
          </a:xfrm>
          <a:prstGeom prst="rect">
            <a:avLst/>
          </a:prstGeom>
          <a:effectLst/>
        </p:spPr>
      </p:pic>
      <p:sp>
        <p:nvSpPr>
          <p:cNvPr id="11" name="Rounded Rectangle 9"/>
          <p:cNvSpPr/>
          <p:nvPr/>
        </p:nvSpPr>
        <p:spPr>
          <a:xfrm>
            <a:off x="9070848" y="1188720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621.74</a:t>
            </a:r>
            <a:r>
              <a:rPr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 %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咖啡液 2021—2025 总增长率</a:t>
            </a:r>
          </a:p>
        </p:txBody>
      </p:sp>
      <p:sp>
        <p:nvSpPr>
          <p:cNvPr id="12" name="Rectangle 10"/>
          <p:cNvSpPr/>
          <p:nvPr/>
        </p:nvSpPr>
        <p:spPr>
          <a:xfrm>
            <a:off x="9070848" y="1316736"/>
            <a:ext cx="50292" cy="10607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Rounded Rectangle 11"/>
          <p:cNvSpPr/>
          <p:nvPr/>
        </p:nvSpPr>
        <p:spPr>
          <a:xfrm>
            <a:off x="9070848" y="2660904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731.11</a:t>
            </a: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%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冻干咖啡（全品类增速第一）</a:t>
            </a:r>
          </a:p>
        </p:txBody>
      </p:sp>
      <p:sp>
        <p:nvSpPr>
          <p:cNvPr id="14" name="Rectangle 12"/>
          <p:cNvSpPr/>
          <p:nvPr/>
        </p:nvSpPr>
        <p:spPr>
          <a:xfrm>
            <a:off x="9070848" y="2788920"/>
            <a:ext cx="50292" cy="10607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Rounded Rectangle 13"/>
          <p:cNvSpPr/>
          <p:nvPr/>
        </p:nvSpPr>
        <p:spPr>
          <a:xfrm>
            <a:off x="9070848" y="4133088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-18.84</a:t>
            </a:r>
            <a:r>
              <a:rPr sz="1300" b="1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%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三合一速溶（持续萎缩）</a:t>
            </a:r>
          </a:p>
        </p:txBody>
      </p:sp>
      <p:sp>
        <p:nvSpPr>
          <p:cNvPr id="16" name="Rectangle 14"/>
          <p:cNvSpPr/>
          <p:nvPr/>
        </p:nvSpPr>
        <p:spPr>
          <a:xfrm>
            <a:off x="9070848" y="4261104"/>
            <a:ext cx="50292" cy="1060704"/>
          </a:xfrm>
          <a:prstGeom prst="rect">
            <a:avLst/>
          </a:prstGeom>
          <a:solidFill>
            <a:srgbClr val="8A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7" name="Rounded Rectangle 15"/>
          <p:cNvSpPr/>
          <p:nvPr/>
        </p:nvSpPr>
        <p:spPr>
          <a:xfrm>
            <a:off x="566928" y="5596128"/>
            <a:ext cx="11058114" cy="676656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2021—2025 年咖啡液增长率达到 </a:t>
            </a:r>
            <a:r>
              <a:rPr sz="165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621.74%</a:t>
            </a:r>
          </a:p>
        </p:txBody>
      </p:sp>
      <p:sp>
        <p:nvSpPr>
          <p:cNvPr id="18" name="Rectangle 16"/>
          <p:cNvSpPr/>
          <p:nvPr/>
        </p:nvSpPr>
        <p:spPr>
          <a:xfrm>
            <a:off x="749808" y="5724144"/>
            <a:ext cx="59436" cy="42062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9" name="TextBox 17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　|　统计区间：2021—2025 年；数值与原表格完全一致</a:t>
            </a:r>
          </a:p>
        </p:txBody>
      </p:sp>
      <p:sp>
        <p:nvSpPr>
          <p:cNvPr id="20" name="TextBox 18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04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2505503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975E289-8A4E-0159-815D-7E87D793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01 / 项目背景 · 市场分析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咖啡液年度消费产值增至 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94.8 亿元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3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8321040" cy="42611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0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595744"/>
            <a:ext cx="7955280" cy="3447057"/>
          </a:xfrm>
          <a:prstGeom prst="rect">
            <a:avLst/>
          </a:prstGeom>
          <a:effectLst/>
        </p:spPr>
      </p:pic>
      <p:sp>
        <p:nvSpPr>
          <p:cNvPr id="11" name="Rounded Rectangle 9"/>
          <p:cNvSpPr/>
          <p:nvPr/>
        </p:nvSpPr>
        <p:spPr>
          <a:xfrm>
            <a:off x="9070848" y="1188720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94.8</a:t>
            </a:r>
            <a:r>
              <a:rPr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 亿元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2025 年咖啡液年度消费产值</a:t>
            </a:r>
          </a:p>
        </p:txBody>
      </p:sp>
      <p:sp>
        <p:nvSpPr>
          <p:cNvPr id="12" name="Rectangle 10"/>
          <p:cNvSpPr/>
          <p:nvPr/>
        </p:nvSpPr>
        <p:spPr>
          <a:xfrm>
            <a:off x="9070848" y="1316736"/>
            <a:ext cx="50292" cy="10607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Rounded Rectangle 11"/>
          <p:cNvSpPr/>
          <p:nvPr/>
        </p:nvSpPr>
        <p:spPr>
          <a:xfrm>
            <a:off x="9070848" y="2660904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15.2</a:t>
            </a:r>
            <a:r>
              <a:rPr sz="130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 亿元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2021 年基数</a:t>
            </a:r>
          </a:p>
        </p:txBody>
      </p:sp>
      <p:sp>
        <p:nvSpPr>
          <p:cNvPr id="14" name="Rectangle 12"/>
          <p:cNvSpPr/>
          <p:nvPr/>
        </p:nvSpPr>
        <p:spPr>
          <a:xfrm>
            <a:off x="9070848" y="2788920"/>
            <a:ext cx="50292" cy="1060704"/>
          </a:xfrm>
          <a:prstGeom prst="rect">
            <a:avLst/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Rounded Rectangle 13"/>
          <p:cNvSpPr/>
          <p:nvPr/>
        </p:nvSpPr>
        <p:spPr>
          <a:xfrm>
            <a:off x="9070848" y="4133088"/>
            <a:ext cx="2551176" cy="13167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连续五年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2021—2025 年逐年递增</a:t>
            </a:r>
          </a:p>
        </p:txBody>
      </p:sp>
      <p:sp>
        <p:nvSpPr>
          <p:cNvPr id="16" name="Rectangle 14"/>
          <p:cNvSpPr/>
          <p:nvPr/>
        </p:nvSpPr>
        <p:spPr>
          <a:xfrm>
            <a:off x="9070848" y="4261104"/>
            <a:ext cx="50292" cy="10607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7" name="Rounded Rectangle 15"/>
          <p:cNvSpPr/>
          <p:nvPr/>
        </p:nvSpPr>
        <p:spPr>
          <a:xfrm>
            <a:off x="566928" y="5596128"/>
            <a:ext cx="11058114" cy="676656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截至 2025 年，咖啡液年度消费产值达到 </a:t>
            </a:r>
            <a:r>
              <a:rPr sz="165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94.8 亿元</a:t>
            </a:r>
          </a:p>
        </p:txBody>
      </p:sp>
      <p:sp>
        <p:nvSpPr>
          <p:cNvPr id="18" name="Rectangle 16"/>
          <p:cNvSpPr/>
          <p:nvPr/>
        </p:nvSpPr>
        <p:spPr>
          <a:xfrm>
            <a:off x="749808" y="5724144"/>
            <a:ext cx="59436" cy="42062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9" name="TextBox 17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　|　统计区间：2021—2025 年；数值与原图表完全一致</a:t>
            </a:r>
          </a:p>
        </p:txBody>
      </p:sp>
      <p:sp>
        <p:nvSpPr>
          <p:cNvPr id="20" name="TextBox 18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05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2382482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01 / 项目背景 · 市场前景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现制咖啡规模化 ＋ 冷杀菌装备扩容，</a:t>
            </a:r>
            <a:r>
              <a:rPr sz="2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构成确定的市场窗口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3539734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3</a:t>
            </a: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万家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瑞幸单一品牌国内门店数（2026.02）</a:t>
            </a:r>
          </a:p>
        </p:txBody>
      </p:sp>
      <p:sp>
        <p:nvSpPr>
          <p:cNvPr id="10" name="Rectangle 8"/>
          <p:cNvSpPr/>
          <p:nvPr/>
        </p:nvSpPr>
        <p:spPr>
          <a:xfrm>
            <a:off x="566928" y="1316736"/>
            <a:ext cx="50292" cy="621792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ounded Rectangle 9"/>
          <p:cNvSpPr/>
          <p:nvPr/>
        </p:nvSpPr>
        <p:spPr>
          <a:xfrm>
            <a:off x="4326118" y="1188720"/>
            <a:ext cx="3539734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77.2</a:t>
            </a:r>
            <a:r>
              <a:rPr sz="130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 亿美元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中国咖啡市场 2031 年预测规模</a:t>
            </a:r>
          </a:p>
        </p:txBody>
      </p:sp>
      <p:sp>
        <p:nvSpPr>
          <p:cNvPr id="12" name="Rectangle 10"/>
          <p:cNvSpPr/>
          <p:nvPr/>
        </p:nvSpPr>
        <p:spPr>
          <a:xfrm>
            <a:off x="4326118" y="1316736"/>
            <a:ext cx="50292" cy="621792"/>
          </a:xfrm>
          <a:prstGeom prst="rect">
            <a:avLst/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Rounded Rectangle 11"/>
          <p:cNvSpPr/>
          <p:nvPr/>
        </p:nvSpPr>
        <p:spPr>
          <a:xfrm>
            <a:off x="8085308" y="1188720"/>
            <a:ext cx="3539734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54864" bIns="54864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12.81</a:t>
            </a:r>
            <a:r>
              <a:rPr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 %</a:t>
            </a:r>
          </a:p>
          <a:p>
            <a:pPr algn="l">
              <a:lnSpc>
                <a:spcPct val="115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全球 HPP 冷杀菌装备 CAGR（2023—2030）</a:t>
            </a:r>
          </a:p>
        </p:txBody>
      </p:sp>
      <p:sp>
        <p:nvSpPr>
          <p:cNvPr id="14" name="Rectangle 12"/>
          <p:cNvSpPr/>
          <p:nvPr/>
        </p:nvSpPr>
        <p:spPr>
          <a:xfrm>
            <a:off x="8085308" y="1316736"/>
            <a:ext cx="50292" cy="6217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Rounded Rectangle 13"/>
          <p:cNvSpPr/>
          <p:nvPr/>
        </p:nvSpPr>
        <p:spPr>
          <a:xfrm>
            <a:off x="566928" y="2231136"/>
            <a:ext cx="3527542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6" name="Round Same Side Corner Rectangle 14"/>
          <p:cNvSpPr/>
          <p:nvPr/>
        </p:nvSpPr>
        <p:spPr>
          <a:xfrm>
            <a:off x="566928" y="2231136"/>
            <a:ext cx="3527542" cy="512064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需求端</a:t>
            </a:r>
          </a:p>
        </p:txBody>
      </p:sp>
      <p:sp>
        <p:nvSpPr>
          <p:cNvPr id="17" name="TextBox 15"/>
          <p:cNvSpPr txBox="1"/>
          <p:nvPr/>
        </p:nvSpPr>
        <p:spPr>
          <a:xfrm>
            <a:off x="768096" y="2889504"/>
            <a:ext cx="312520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3</a:t>
            </a:r>
            <a:r>
              <a:rPr sz="1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万家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768096" y="3456432"/>
            <a:ext cx="312520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终端网络已规模化</a:t>
            </a:r>
          </a:p>
        </p:txBody>
      </p:sp>
      <p:sp>
        <p:nvSpPr>
          <p:cNvPr id="19" name="Rectangle 17"/>
          <p:cNvSpPr/>
          <p:nvPr/>
        </p:nvSpPr>
        <p:spPr>
          <a:xfrm>
            <a:off x="768096" y="3785616"/>
            <a:ext cx="3125206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0" name="TextBox 18"/>
          <p:cNvSpPr txBox="1"/>
          <p:nvPr/>
        </p:nvSpPr>
        <p:spPr>
          <a:xfrm>
            <a:off x="768096" y="3895344"/>
            <a:ext cx="3125206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6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瑞幸 2026 年 2 月开出国内第 3 万家门店，覆盖 32 个省级行政区、300 余个城市；2026 年二季度净收入 158.86 亿元，同比增长 28.5%，月均交易客户数创历史新高。</a:t>
            </a:r>
          </a:p>
        </p:txBody>
      </p:sp>
      <p:sp>
        <p:nvSpPr>
          <p:cNvPr id="21" name="Rounded Rectangle 19"/>
          <p:cNvSpPr/>
          <p:nvPr/>
        </p:nvSpPr>
        <p:spPr>
          <a:xfrm>
            <a:off x="713232" y="4663440"/>
            <a:ext cx="3234934" cy="566928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28016" tIns="18288" bIns="18288" wrap="square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1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门店密度与客流规模同步抬升，标准化咖啡液原料需求随之放大</a:t>
            </a:r>
          </a:p>
        </p:txBody>
      </p:sp>
      <p:sp>
        <p:nvSpPr>
          <p:cNvPr id="22" name="Rounded Rectangle 20"/>
          <p:cNvSpPr/>
          <p:nvPr/>
        </p:nvSpPr>
        <p:spPr>
          <a:xfrm>
            <a:off x="4332214" y="2231136"/>
            <a:ext cx="3527542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3" name="Round Same Side Corner Rectangle 21"/>
          <p:cNvSpPr/>
          <p:nvPr/>
        </p:nvSpPr>
        <p:spPr>
          <a:xfrm>
            <a:off x="4332214" y="2231136"/>
            <a:ext cx="3527542" cy="512064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品类端</a:t>
            </a:r>
          </a:p>
        </p:txBody>
      </p:sp>
      <p:sp>
        <p:nvSpPr>
          <p:cNvPr id="24" name="TextBox 22"/>
          <p:cNvSpPr txBox="1"/>
          <p:nvPr/>
        </p:nvSpPr>
        <p:spPr>
          <a:xfrm>
            <a:off x="4533382" y="2889504"/>
            <a:ext cx="312520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621.74</a:t>
            </a:r>
            <a:r>
              <a:rPr sz="140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sp>
        <p:nvSpPr>
          <p:cNvPr id="25" name="TextBox 23"/>
          <p:cNvSpPr txBox="1"/>
          <p:nvPr/>
        </p:nvSpPr>
        <p:spPr>
          <a:xfrm>
            <a:off x="4533382" y="3456432"/>
            <a:ext cx="312520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咖啡液增速领先</a:t>
            </a:r>
          </a:p>
        </p:txBody>
      </p:sp>
      <p:sp>
        <p:nvSpPr>
          <p:cNvPr id="26" name="Rectangle 24"/>
          <p:cNvSpPr/>
          <p:nvPr/>
        </p:nvSpPr>
        <p:spPr>
          <a:xfrm>
            <a:off x="4533382" y="3785616"/>
            <a:ext cx="3125206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7" name="TextBox 25"/>
          <p:cNvSpPr txBox="1"/>
          <p:nvPr/>
        </p:nvSpPr>
        <p:spPr>
          <a:xfrm>
            <a:off x="4533382" y="3895344"/>
            <a:ext cx="3125206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6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本项目调研显示，咖啡液 2021—2025 年增长 621.74%，2025 年年度消费产值 94.8 亿元；中国咖啡市场预计由 2026 年 57.95 亿美元增至 2031 年 77.2 亿美元，年复合增长率 5.89%。</a:t>
            </a:r>
          </a:p>
        </p:txBody>
      </p:sp>
      <p:sp>
        <p:nvSpPr>
          <p:cNvPr id="28" name="Rounded Rectangle 26"/>
          <p:cNvSpPr/>
          <p:nvPr/>
        </p:nvSpPr>
        <p:spPr>
          <a:xfrm>
            <a:off x="4478518" y="4663440"/>
            <a:ext cx="3234934" cy="566928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28016" tIns="18288" bIns="18288" wrap="square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1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品类高增已被市场验证，不再停留于概念阶段</a:t>
            </a:r>
          </a:p>
        </p:txBody>
      </p:sp>
      <p:sp>
        <p:nvSpPr>
          <p:cNvPr id="29" name="Rounded Rectangle 27"/>
          <p:cNvSpPr/>
          <p:nvPr/>
        </p:nvSpPr>
        <p:spPr>
          <a:xfrm>
            <a:off x="8097500" y="2231136"/>
            <a:ext cx="3527542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0" name="Round Same Side Corner Rectangle 28"/>
          <p:cNvSpPr/>
          <p:nvPr/>
        </p:nvSpPr>
        <p:spPr>
          <a:xfrm>
            <a:off x="8097500" y="2231136"/>
            <a:ext cx="3527542" cy="512064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2A7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装备端</a:t>
            </a:r>
          </a:p>
        </p:txBody>
      </p:sp>
      <p:sp>
        <p:nvSpPr>
          <p:cNvPr id="31" name="TextBox 29"/>
          <p:cNvSpPr txBox="1"/>
          <p:nvPr/>
        </p:nvSpPr>
        <p:spPr>
          <a:xfrm>
            <a:off x="8298668" y="2889504"/>
            <a:ext cx="312520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>
                <a:solidFill>
                  <a:srgbClr val="2A7ABF"/>
                </a:solidFill>
                <a:latin typeface="微软雅黑"/>
                <a:ea typeface="微软雅黑"/>
                <a:cs typeface="微软雅黑"/>
              </a:rPr>
              <a:t>22.52</a:t>
            </a:r>
            <a:r>
              <a:rPr sz="1400" b="1">
                <a:solidFill>
                  <a:srgbClr val="2A7ABF"/>
                </a:solidFill>
                <a:latin typeface="微软雅黑"/>
                <a:ea typeface="微软雅黑"/>
                <a:cs typeface="微软雅黑"/>
              </a:rPr>
              <a:t> 亿美元</a:t>
            </a:r>
          </a:p>
        </p:txBody>
      </p:sp>
      <p:sp>
        <p:nvSpPr>
          <p:cNvPr id="32" name="TextBox 30"/>
          <p:cNvSpPr txBox="1"/>
          <p:nvPr/>
        </p:nvSpPr>
        <p:spPr>
          <a:xfrm>
            <a:off x="8298668" y="3456432"/>
            <a:ext cx="312520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冷杀菌装备扩容</a:t>
            </a:r>
          </a:p>
        </p:txBody>
      </p:sp>
      <p:sp>
        <p:nvSpPr>
          <p:cNvPr id="33" name="Rectangle 31"/>
          <p:cNvSpPr/>
          <p:nvPr/>
        </p:nvSpPr>
        <p:spPr>
          <a:xfrm>
            <a:off x="8298668" y="3785616"/>
            <a:ext cx="3125206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4" name="TextBox 32"/>
          <p:cNvSpPr txBox="1"/>
          <p:nvPr/>
        </p:nvSpPr>
        <p:spPr>
          <a:xfrm>
            <a:off x="8298668" y="3895344"/>
            <a:ext cx="3125206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6000"/>
              </a:lnSpc>
              <a:buNone/>
            </a:pPr>
            <a:r>
              <a:rPr sz="11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全球超高压（HPP）冷杀菌装备市场预计由 2023 年 9.67 亿美元增至 2030 年 22.52 亿美元；全球已装机 350 台以上，其中约 19% 用于果汁与饮料，冷杀菌需求明确。</a:t>
            </a:r>
          </a:p>
        </p:txBody>
      </p:sp>
      <p:sp>
        <p:nvSpPr>
          <p:cNvPr id="35" name="Rounded Rectangle 33"/>
          <p:cNvSpPr/>
          <p:nvPr/>
        </p:nvSpPr>
        <p:spPr>
          <a:xfrm>
            <a:off x="8243804" y="4663440"/>
            <a:ext cx="3234934" cy="566928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28016" tIns="18288" bIns="18288" wrap="square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1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装备增速显著高于饮料整体，连续式低温杀菌仍有空位</a:t>
            </a:r>
          </a:p>
        </p:txBody>
      </p:sp>
      <p:sp>
        <p:nvSpPr>
          <p:cNvPr id="36" name="Rounded Rectangle 34"/>
          <p:cNvSpPr/>
          <p:nvPr/>
        </p:nvSpPr>
        <p:spPr>
          <a:xfrm>
            <a:off x="566928" y="5522976"/>
            <a:ext cx="11058114" cy="640080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需求、品类、装备三端趋势叠加，</a:t>
            </a:r>
            <a:r>
              <a:rPr sz="16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萃取与超声杀菌一体化装备正处在市场窗口的交汇点</a:t>
            </a:r>
          </a:p>
        </p:txBody>
      </p:sp>
      <p:sp>
        <p:nvSpPr>
          <p:cNvPr id="37" name="Rectangle 35"/>
          <p:cNvSpPr/>
          <p:nvPr/>
        </p:nvSpPr>
        <p:spPr>
          <a:xfrm>
            <a:off x="749808" y="5650992"/>
            <a:ext cx="59436" cy="384048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8" name="TextBox 36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　|　来源：CGTN 2026-02；瑞幸 2026Q2 业绩；Mordor Intelligence China Coffee Market；360iResearch HPP 装备报告；Hiperbaric 官方资料</a:t>
            </a:r>
          </a:p>
        </p:txBody>
      </p:sp>
      <p:sp>
        <p:nvSpPr>
          <p:cNvPr id="39" name="TextBox 37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06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3917324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989A564E-3D71-662C-F144-394049DF3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平行四边形 7"/>
          <p:cNvSpPr/>
          <p:nvPr/>
        </p:nvSpPr>
        <p:spPr>
          <a:xfrm>
            <a:off x="0" y="0"/>
            <a:ext cx="6428232" cy="6858000"/>
          </a:xfrm>
          <a:custGeom>
            <a:avLst/>
            <a:gdLst>
              <a:gd name="connsiteX0" fmla="*/ 0 w 6431042"/>
              <a:gd name="connsiteY0" fmla="*/ 6858001 h 6858001"/>
              <a:gd name="connsiteX1" fmla="*/ 2691520 w 6431042"/>
              <a:gd name="connsiteY1" fmla="*/ 0 h 6858001"/>
              <a:gd name="connsiteX2" fmla="*/ 6431042 w 6431042"/>
              <a:gd name="connsiteY2" fmla="*/ 0 h 6858001"/>
              <a:gd name="connsiteX3" fmla="*/ 3739522 w 6431042"/>
              <a:gd name="connsiteY3" fmla="*/ 6858001 h 6858001"/>
              <a:gd name="connsiteX4" fmla="*/ 0 w 6431042"/>
              <a:gd name="connsiteY4" fmla="*/ 6858001 h 6858001"/>
              <a:gd name="connsiteX0-1" fmla="*/ 0 w 6431042"/>
              <a:gd name="connsiteY0-2" fmla="*/ 6858001 h 6858001"/>
              <a:gd name="connsiteX1-3" fmla="*/ 1269120 w 6431042"/>
              <a:gd name="connsiteY1-4" fmla="*/ 0 h 6858001"/>
              <a:gd name="connsiteX2-5" fmla="*/ 6431042 w 6431042"/>
              <a:gd name="connsiteY2-6" fmla="*/ 0 h 6858001"/>
              <a:gd name="connsiteX3-7" fmla="*/ 3739522 w 6431042"/>
              <a:gd name="connsiteY3-8" fmla="*/ 6858001 h 6858001"/>
              <a:gd name="connsiteX4-9" fmla="*/ 0 w 6431042"/>
              <a:gd name="connsiteY4-10" fmla="*/ 6858001 h 68580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31042" h="6858001">
                <a:moveTo>
                  <a:pt x="0" y="6858001"/>
                </a:moveTo>
                <a:lnTo>
                  <a:pt x="1269120" y="0"/>
                </a:lnTo>
                <a:lnTo>
                  <a:pt x="6431042" y="0"/>
                </a:lnTo>
                <a:lnTo>
                  <a:pt x="3739522" y="6858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16416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矩形 8"/>
          <p:cNvSpPr/>
          <p:nvPr/>
        </p:nvSpPr>
        <p:spPr>
          <a:xfrm>
            <a:off x="0" y="-9144"/>
            <a:ext cx="2779776" cy="6867144"/>
          </a:xfrm>
          <a:custGeom>
            <a:avLst/>
            <a:gdLst>
              <a:gd name="connsiteX0" fmla="*/ 0 w 2783632"/>
              <a:gd name="connsiteY0" fmla="*/ 0 h 6858001"/>
              <a:gd name="connsiteX1" fmla="*/ 2783632 w 2783632"/>
              <a:gd name="connsiteY1" fmla="*/ 0 h 6858001"/>
              <a:gd name="connsiteX2" fmla="*/ 2783632 w 2783632"/>
              <a:gd name="connsiteY2" fmla="*/ 6858001 h 6858001"/>
              <a:gd name="connsiteX3" fmla="*/ 0 w 2783632"/>
              <a:gd name="connsiteY3" fmla="*/ 6858001 h 6858001"/>
              <a:gd name="connsiteX4" fmla="*/ 0 w 2783632"/>
              <a:gd name="connsiteY4" fmla="*/ 0 h 6858001"/>
              <a:gd name="connsiteX0-1" fmla="*/ 0 w 2783632"/>
              <a:gd name="connsiteY0-2" fmla="*/ 12700 h 6870701"/>
              <a:gd name="connsiteX1-3" fmla="*/ 1551732 w 2783632"/>
              <a:gd name="connsiteY1-4" fmla="*/ 0 h 6870701"/>
              <a:gd name="connsiteX2-5" fmla="*/ 2783632 w 2783632"/>
              <a:gd name="connsiteY2-6" fmla="*/ 6870701 h 6870701"/>
              <a:gd name="connsiteX3-7" fmla="*/ 0 w 2783632"/>
              <a:gd name="connsiteY3-8" fmla="*/ 6870701 h 6870701"/>
              <a:gd name="connsiteX4-9" fmla="*/ 0 w 2783632"/>
              <a:gd name="connsiteY4-10" fmla="*/ 12700 h 6870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783632" h="6870701">
                <a:moveTo>
                  <a:pt x="0" y="12700"/>
                </a:moveTo>
                <a:lnTo>
                  <a:pt x="1551732" y="0"/>
                </a:lnTo>
                <a:lnTo>
                  <a:pt x="2783632" y="6870701"/>
                </a:lnTo>
                <a:lnTo>
                  <a:pt x="0" y="6870701"/>
                </a:lnTo>
                <a:lnTo>
                  <a:pt x="0" y="12700"/>
                </a:lnTo>
                <a:close/>
              </a:path>
            </a:pathLst>
          </a:custGeom>
          <a:solidFill>
            <a:srgbClr val="1E59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tangle 9"/>
          <p:cNvSpPr/>
          <p:nvPr/>
        </p:nvSpPr>
        <p:spPr>
          <a:xfrm>
            <a:off x="12073098" y="0"/>
            <a:ext cx="118872" cy="685800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6" name="TextBox 10"/>
          <p:cNvSpPr txBox="1"/>
          <p:nvPr/>
        </p:nvSpPr>
        <p:spPr>
          <a:xfrm>
            <a:off x="274320" y="14447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300" b="1" spc="4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SECTION</a:t>
            </a:r>
          </a:p>
        </p:txBody>
      </p:sp>
      <p:sp>
        <p:nvSpPr>
          <p:cNvPr id="7" name="Rectangle 11"/>
          <p:cNvSpPr/>
          <p:nvPr/>
        </p:nvSpPr>
        <p:spPr>
          <a:xfrm>
            <a:off x="2606040" y="1828800"/>
            <a:ext cx="10058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8" name="TextBox 12"/>
          <p:cNvSpPr txBox="1"/>
          <p:nvPr/>
        </p:nvSpPr>
        <p:spPr>
          <a:xfrm>
            <a:off x="274320" y="201168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Rectangle 13"/>
          <p:cNvSpPr/>
          <p:nvPr/>
        </p:nvSpPr>
        <p:spPr>
          <a:xfrm>
            <a:off x="7178040" y="2139696"/>
            <a:ext cx="960120" cy="5486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TextBox 14"/>
          <p:cNvSpPr txBox="1"/>
          <p:nvPr/>
        </p:nvSpPr>
        <p:spPr>
          <a:xfrm>
            <a:off x="7178040" y="2322576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5200" b="1" spc="30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行业现状</a:t>
            </a:r>
          </a:p>
        </p:txBody>
      </p:sp>
      <p:sp>
        <p:nvSpPr>
          <p:cNvPr id="11" name="TextBox 15"/>
          <p:cNvSpPr txBox="1"/>
          <p:nvPr/>
        </p:nvSpPr>
        <p:spPr>
          <a:xfrm>
            <a:off x="7178040" y="331012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50" b="1" spc="2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INDUSTRY STATUS</a:t>
            </a:r>
          </a:p>
        </p:txBody>
      </p:sp>
      <p:sp>
        <p:nvSpPr>
          <p:cNvPr id="12" name="Rectangle 16"/>
          <p:cNvSpPr/>
          <p:nvPr/>
        </p:nvSpPr>
        <p:spPr>
          <a:xfrm>
            <a:off x="7178040" y="3712464"/>
            <a:ext cx="548640" cy="20117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TextBox 17"/>
          <p:cNvSpPr txBox="1"/>
          <p:nvPr/>
        </p:nvSpPr>
        <p:spPr>
          <a:xfrm>
            <a:off x="7178040" y="389534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4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加工以热杀菌为主，风味损失与高能耗并存，灭菌是关键工序。</a:t>
            </a:r>
          </a:p>
        </p:txBody>
      </p:sp>
    </p:spTree>
    <p:extLst>
      <p:ext uri="{BB962C8B-B14F-4D97-AF65-F5344CB8AC3E}">
        <p14:creationId xmlns:p14="http://schemas.microsoft.com/office/powerpoint/2010/main" val="2925551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02 / 行业现状 · 应用场景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高峰期大流量场景：</a:t>
            </a:r>
            <a:r>
              <a:rPr sz="2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出杯速度、风味一致性与人力成本三重挤压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11058114" cy="676656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19456" tIns="36576" bIns="36576" wrap="square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4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高峰期矛盾　</a:t>
            </a:r>
            <a:r>
              <a:rPr sz="13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现磨模式受研磨、萃取、清洗节拍限制，而订单集中在早高峰与午后释放，门店同时承受</a:t>
            </a:r>
            <a:r>
              <a:rPr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出杯排队、风味漂移、峰值人力</a:t>
            </a:r>
            <a:r>
              <a:rPr sz="13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 三重压力。</a:t>
            </a:r>
          </a:p>
        </p:txBody>
      </p:sp>
      <p:sp>
        <p:nvSpPr>
          <p:cNvPr id="10" name="Rectangle 8"/>
          <p:cNvSpPr/>
          <p:nvPr/>
        </p:nvSpPr>
        <p:spPr>
          <a:xfrm>
            <a:off x="566928" y="1188720"/>
            <a:ext cx="54864" cy="676656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ounded Rectangle 9"/>
          <p:cNvSpPr/>
          <p:nvPr/>
        </p:nvSpPr>
        <p:spPr>
          <a:xfrm>
            <a:off x="566928" y="2011680"/>
            <a:ext cx="3593592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2" name="Rectangle 10"/>
          <p:cNvSpPr/>
          <p:nvPr/>
        </p:nvSpPr>
        <p:spPr>
          <a:xfrm>
            <a:off x="566928" y="2011680"/>
            <a:ext cx="50292" cy="160020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TextBox 11"/>
          <p:cNvSpPr txBox="1"/>
          <p:nvPr/>
        </p:nvSpPr>
        <p:spPr>
          <a:xfrm>
            <a:off x="786384" y="2176272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D6E2E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2"/>
          <p:cNvSpPr txBox="1"/>
          <p:nvPr/>
        </p:nvSpPr>
        <p:spPr>
          <a:xfrm>
            <a:off x="1353312" y="2212848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连锁咖啡门店 · 早午高峰</a:t>
            </a:r>
          </a:p>
        </p:txBody>
      </p:sp>
      <p:sp>
        <p:nvSpPr>
          <p:cNvPr id="15" name="Rectangle 13"/>
          <p:cNvSpPr/>
          <p:nvPr/>
        </p:nvSpPr>
        <p:spPr>
          <a:xfrm>
            <a:off x="786384" y="2578608"/>
            <a:ext cx="3154680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6" name="TextBox 14"/>
          <p:cNvSpPr txBox="1"/>
          <p:nvPr/>
        </p:nvSpPr>
        <p:spPr>
          <a:xfrm>
            <a:off x="786384" y="2670048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2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咖啡液即调即出，省去单杯研磨与萃取节拍；瑞幸国内门店已超 3 万家（2026.02），高峰出杯能力直接决定单店产出。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4379976" y="2011680"/>
            <a:ext cx="3593592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4379976" y="2011680"/>
            <a:ext cx="50292" cy="160020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9" name="TextBox 17"/>
          <p:cNvSpPr txBox="1"/>
          <p:nvPr/>
        </p:nvSpPr>
        <p:spPr>
          <a:xfrm>
            <a:off x="4599432" y="2176272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D6E2E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20" name="TextBox 18"/>
          <p:cNvSpPr txBox="1"/>
          <p:nvPr/>
        </p:nvSpPr>
        <p:spPr>
          <a:xfrm>
            <a:off x="5166360" y="2212848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新茶饮 / 复合饮品店</a:t>
            </a:r>
          </a:p>
        </p:txBody>
      </p:sp>
      <p:sp>
        <p:nvSpPr>
          <p:cNvPr id="21" name="Rectangle 19"/>
          <p:cNvSpPr/>
          <p:nvPr/>
        </p:nvSpPr>
        <p:spPr>
          <a:xfrm>
            <a:off x="4599432" y="2578608"/>
            <a:ext cx="3154680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2" name="TextBox 20"/>
          <p:cNvSpPr txBox="1"/>
          <p:nvPr/>
        </p:nvSpPr>
        <p:spPr>
          <a:xfrm>
            <a:off x="4599432" y="2670048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2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以咖啡液作标准化基底，门店无需配置专业磨豆与意式机，降低设备投入与咖啡师培训门槛。</a:t>
            </a:r>
          </a:p>
        </p:txBody>
      </p:sp>
      <p:sp>
        <p:nvSpPr>
          <p:cNvPr id="23" name="Rounded Rectangle 21"/>
          <p:cNvSpPr/>
          <p:nvPr/>
        </p:nvSpPr>
        <p:spPr>
          <a:xfrm>
            <a:off x="566928" y="3813048"/>
            <a:ext cx="3593592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4" name="Rectangle 22"/>
          <p:cNvSpPr/>
          <p:nvPr/>
        </p:nvSpPr>
        <p:spPr>
          <a:xfrm>
            <a:off x="566928" y="3813048"/>
            <a:ext cx="50292" cy="160020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5" name="TextBox 23"/>
          <p:cNvSpPr txBox="1"/>
          <p:nvPr/>
        </p:nvSpPr>
        <p:spPr>
          <a:xfrm>
            <a:off x="786384" y="397764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D6E2E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6" name="TextBox 24"/>
          <p:cNvSpPr txBox="1"/>
          <p:nvPr/>
        </p:nvSpPr>
        <p:spPr>
          <a:xfrm>
            <a:off x="1353312" y="4014216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便利店 · 自助咖啡机</a:t>
            </a:r>
          </a:p>
        </p:txBody>
      </p:sp>
      <p:sp>
        <p:nvSpPr>
          <p:cNvPr id="27" name="Rectangle 25"/>
          <p:cNvSpPr/>
          <p:nvPr/>
        </p:nvSpPr>
        <p:spPr>
          <a:xfrm>
            <a:off x="786384" y="4379976"/>
            <a:ext cx="3154680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8" name="TextBox 26"/>
          <p:cNvSpPr txBox="1"/>
          <p:nvPr/>
        </p:nvSpPr>
        <p:spPr>
          <a:xfrm>
            <a:off x="786384" y="4471416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2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无人值守场景需要常温可存、开封即用的标准化原料，对货架期与批次一致性要求高于门店现制。</a:t>
            </a:r>
          </a:p>
        </p:txBody>
      </p:sp>
      <p:sp>
        <p:nvSpPr>
          <p:cNvPr id="29" name="Rounded Rectangle 27"/>
          <p:cNvSpPr/>
          <p:nvPr/>
        </p:nvSpPr>
        <p:spPr>
          <a:xfrm>
            <a:off x="4379976" y="3813048"/>
            <a:ext cx="3593592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0" name="Rectangle 28"/>
          <p:cNvSpPr/>
          <p:nvPr/>
        </p:nvSpPr>
        <p:spPr>
          <a:xfrm>
            <a:off x="4379976" y="3813048"/>
            <a:ext cx="50292" cy="160020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1" name="TextBox 29"/>
          <p:cNvSpPr txBox="1"/>
          <p:nvPr/>
        </p:nvSpPr>
        <p:spPr>
          <a:xfrm>
            <a:off x="4599432" y="397764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D6E2E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2" name="TextBox 30"/>
          <p:cNvSpPr txBox="1"/>
          <p:nvPr/>
        </p:nvSpPr>
        <p:spPr>
          <a:xfrm>
            <a:off x="5166360" y="4014216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校园 · 写字楼 · 机场高铁</a:t>
            </a:r>
          </a:p>
        </p:txBody>
      </p:sp>
      <p:sp>
        <p:nvSpPr>
          <p:cNvPr id="33" name="Rectangle 31"/>
          <p:cNvSpPr/>
          <p:nvPr/>
        </p:nvSpPr>
        <p:spPr>
          <a:xfrm>
            <a:off x="4599432" y="4379976"/>
            <a:ext cx="3154680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4" name="TextBox 32"/>
          <p:cNvSpPr txBox="1"/>
          <p:nvPr/>
        </p:nvSpPr>
        <p:spPr>
          <a:xfrm>
            <a:off x="4599432" y="4471416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2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短时高并发人流，要求批量稳定供应与一致口感，供应中断或口感漂移会直接损失峰值销量。</a:t>
            </a:r>
          </a:p>
        </p:txBody>
      </p:sp>
      <p:sp>
        <p:nvSpPr>
          <p:cNvPr id="35" name="Rounded Rectangle 33"/>
          <p:cNvSpPr/>
          <p:nvPr/>
        </p:nvSpPr>
        <p:spPr>
          <a:xfrm>
            <a:off x="8211312" y="2011680"/>
            <a:ext cx="3413730" cy="402336"/>
          </a:xfrm>
          <a:prstGeom prst="roundRect">
            <a:avLst>
              <a:gd name="adj" fmla="val 12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 wrap="square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对上游装备的要求</a:t>
            </a:r>
          </a:p>
        </p:txBody>
      </p:sp>
      <p:sp>
        <p:nvSpPr>
          <p:cNvPr id="36" name="Rounded Rectangle 34"/>
          <p:cNvSpPr/>
          <p:nvPr/>
        </p:nvSpPr>
        <p:spPr>
          <a:xfrm>
            <a:off x="8211312" y="2542032"/>
            <a:ext cx="3413730" cy="871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7" name="Rectangle 35"/>
          <p:cNvSpPr/>
          <p:nvPr/>
        </p:nvSpPr>
        <p:spPr>
          <a:xfrm>
            <a:off x="8357616" y="2670048"/>
            <a:ext cx="45720" cy="615696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8" name="TextBox 36"/>
          <p:cNvSpPr txBox="1"/>
          <p:nvPr/>
        </p:nvSpPr>
        <p:spPr>
          <a:xfrm>
            <a:off x="8503920" y="2670048"/>
            <a:ext cx="295653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常温货架期</a:t>
            </a:r>
          </a:p>
        </p:txBody>
      </p:sp>
      <p:sp>
        <p:nvSpPr>
          <p:cNvPr id="39" name="TextBox 37"/>
          <p:cNvSpPr txBox="1"/>
          <p:nvPr/>
        </p:nvSpPr>
        <p:spPr>
          <a:xfrm>
            <a:off x="8503920" y="2980944"/>
            <a:ext cx="2974818" cy="323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8000"/>
              </a:lnSpc>
              <a:buNone/>
            </a:pPr>
            <a:r>
              <a:rPr sz="11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无需冷链即可全国流通</a:t>
            </a:r>
          </a:p>
        </p:txBody>
      </p:sp>
      <p:sp>
        <p:nvSpPr>
          <p:cNvPr id="40" name="Rounded Rectangle 38"/>
          <p:cNvSpPr/>
          <p:nvPr/>
        </p:nvSpPr>
        <p:spPr>
          <a:xfrm>
            <a:off x="8211312" y="3541776"/>
            <a:ext cx="3413730" cy="871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1" name="Rectangle 39"/>
          <p:cNvSpPr/>
          <p:nvPr/>
        </p:nvSpPr>
        <p:spPr>
          <a:xfrm>
            <a:off x="8357616" y="3669792"/>
            <a:ext cx="45720" cy="615696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2" name="TextBox 40"/>
          <p:cNvSpPr txBox="1"/>
          <p:nvPr/>
        </p:nvSpPr>
        <p:spPr>
          <a:xfrm>
            <a:off x="8503920" y="3669792"/>
            <a:ext cx="295653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风味一致性</a:t>
            </a:r>
          </a:p>
        </p:txBody>
      </p:sp>
      <p:sp>
        <p:nvSpPr>
          <p:cNvPr id="43" name="TextBox 41"/>
          <p:cNvSpPr txBox="1"/>
          <p:nvPr/>
        </p:nvSpPr>
        <p:spPr>
          <a:xfrm>
            <a:off x="8503920" y="3980688"/>
            <a:ext cx="2974818" cy="323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8000"/>
              </a:lnSpc>
              <a:buNone/>
            </a:pPr>
            <a:r>
              <a:rPr sz="11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批次香气与口感稳定，支撑连锁标准化出品</a:t>
            </a:r>
          </a:p>
        </p:txBody>
      </p:sp>
      <p:sp>
        <p:nvSpPr>
          <p:cNvPr id="44" name="Rounded Rectangle 42"/>
          <p:cNvSpPr/>
          <p:nvPr/>
        </p:nvSpPr>
        <p:spPr>
          <a:xfrm>
            <a:off x="8211312" y="4541520"/>
            <a:ext cx="3413730" cy="871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5" name="Rectangle 43"/>
          <p:cNvSpPr/>
          <p:nvPr/>
        </p:nvSpPr>
        <p:spPr>
          <a:xfrm>
            <a:off x="8357616" y="4669536"/>
            <a:ext cx="45720" cy="615696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6" name="TextBox 44"/>
          <p:cNvSpPr txBox="1"/>
          <p:nvPr/>
        </p:nvSpPr>
        <p:spPr>
          <a:xfrm>
            <a:off x="8503920" y="4669536"/>
            <a:ext cx="295653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连续化产能</a:t>
            </a:r>
          </a:p>
        </p:txBody>
      </p:sp>
      <p:sp>
        <p:nvSpPr>
          <p:cNvPr id="47" name="TextBox 45"/>
          <p:cNvSpPr txBox="1"/>
          <p:nvPr/>
        </p:nvSpPr>
        <p:spPr>
          <a:xfrm>
            <a:off x="8503920" y="4980432"/>
            <a:ext cx="2974818" cy="323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8000"/>
              </a:lnSpc>
              <a:buNone/>
            </a:pPr>
            <a:r>
              <a:rPr sz="11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连续作业替代间歇批次，支撑规模化供货</a:t>
            </a:r>
          </a:p>
        </p:txBody>
      </p:sp>
      <p:sp>
        <p:nvSpPr>
          <p:cNvPr id="48" name="Rounded Rectangle 46"/>
          <p:cNvSpPr/>
          <p:nvPr/>
        </p:nvSpPr>
        <p:spPr>
          <a:xfrm>
            <a:off x="566928" y="5522976"/>
            <a:ext cx="11058114" cy="640080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高峰期大流量把标准化咖啡液变成刚需，而其</a:t>
            </a:r>
            <a:r>
              <a:rPr sz="16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风味与货架期由上游灭菌工艺决定</a:t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—— 即本项目切入点</a:t>
            </a:r>
          </a:p>
        </p:txBody>
      </p:sp>
      <p:sp>
        <p:nvSpPr>
          <p:cNvPr id="49" name="Rectangle 47"/>
          <p:cNvSpPr/>
          <p:nvPr/>
        </p:nvSpPr>
        <p:spPr>
          <a:xfrm>
            <a:off x="749808" y="5650992"/>
            <a:ext cx="59436" cy="384048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0" name="TextBox 48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　|　场景归纳基于行业公开信息与本项目调研；门店数据来源 CGTN 2026-02</a:t>
            </a:r>
          </a:p>
        </p:txBody>
      </p:sp>
      <p:sp>
        <p:nvSpPr>
          <p:cNvPr id="51" name="TextBox 49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08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1575233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02 / 行业现状 · 产业现状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咖啡液加工路径中，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灭菌</a:t>
            </a: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是决定货架期与品质的关键工序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4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TextBox 7"/>
          <p:cNvSpPr txBox="1"/>
          <p:nvPr/>
        </p:nvSpPr>
        <p:spPr>
          <a:xfrm>
            <a:off x="566928" y="1078992"/>
            <a:ext cx="110581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咖啡行业市场分析 —— 市场萃取与灭菌技术分析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1181085" y="14813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咖啡粉</a:t>
            </a:r>
          </a:p>
        </p:txBody>
      </p:sp>
      <p:cxnSp>
        <p:nvCxnSpPr>
          <p:cNvPr id="11" name="Connector 9"/>
          <p:cNvCxnSpPr/>
          <p:nvPr/>
        </p:nvCxnSpPr>
        <p:spPr>
          <a:xfrm>
            <a:off x="3201909" y="1709928"/>
            <a:ext cx="502920" cy="0"/>
          </a:xfrm>
          <a:prstGeom prst="line">
            <a:avLst/>
          </a:prstGeom>
          <a:ln w="19050">
            <a:solidFill>
              <a:srgbClr val="1E59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0"/>
          <p:cNvSpPr/>
          <p:nvPr/>
        </p:nvSpPr>
        <p:spPr>
          <a:xfrm>
            <a:off x="3832845" y="14813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高温萃取</a:t>
            </a:r>
          </a:p>
        </p:txBody>
      </p:sp>
      <p:cxnSp>
        <p:nvCxnSpPr>
          <p:cNvPr id="13" name="Connector 11"/>
          <p:cNvCxnSpPr/>
          <p:nvPr/>
        </p:nvCxnSpPr>
        <p:spPr>
          <a:xfrm>
            <a:off x="5853669" y="1709928"/>
            <a:ext cx="502920" cy="0"/>
          </a:xfrm>
          <a:prstGeom prst="line">
            <a:avLst/>
          </a:prstGeom>
          <a:ln w="19050">
            <a:solidFill>
              <a:srgbClr val="1E59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2"/>
          <p:cNvSpPr/>
          <p:nvPr/>
        </p:nvSpPr>
        <p:spPr>
          <a:xfrm>
            <a:off x="6484605" y="14813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灭菌</a:t>
            </a:r>
          </a:p>
        </p:txBody>
      </p:sp>
      <p:cxnSp>
        <p:nvCxnSpPr>
          <p:cNvPr id="15" name="Connector 13"/>
          <p:cNvCxnSpPr/>
          <p:nvPr/>
        </p:nvCxnSpPr>
        <p:spPr>
          <a:xfrm>
            <a:off x="8505429" y="1709928"/>
            <a:ext cx="502920" cy="0"/>
          </a:xfrm>
          <a:prstGeom prst="line">
            <a:avLst/>
          </a:prstGeom>
          <a:ln w="19050">
            <a:solidFill>
              <a:srgbClr val="1E59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4"/>
          <p:cNvSpPr/>
          <p:nvPr/>
        </p:nvSpPr>
        <p:spPr>
          <a:xfrm>
            <a:off x="9136365" y="14813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灌装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566928" y="2139696"/>
            <a:ext cx="5394960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8" name="Picture 16" descr="image.jpeg"/>
          <p:cNvPicPr>
            <a:picLocks noChangeAspect="1"/>
          </p:cNvPicPr>
          <p:nvPr/>
        </p:nvPicPr>
        <p:blipFill>
          <a:blip r:embed="rId2"/>
          <a:srcRect t="19501" b="15955"/>
          <a:stretch>
            <a:fillRect/>
          </a:stretch>
        </p:blipFill>
        <p:spPr>
          <a:xfrm>
            <a:off x="694944" y="2267712"/>
            <a:ext cx="5138928" cy="2487168"/>
          </a:xfrm>
          <a:prstGeom prst="rect">
            <a:avLst/>
          </a:prstGeom>
          <a:effectLst/>
        </p:spPr>
      </p:pic>
      <p:sp>
        <p:nvSpPr>
          <p:cNvPr id="19" name="Rectangle 17"/>
          <p:cNvSpPr/>
          <p:nvPr/>
        </p:nvSpPr>
        <p:spPr>
          <a:xfrm>
            <a:off x="694944" y="4828032"/>
            <a:ext cx="5138928" cy="45720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 wrap="square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分散式小批量加工（釜式间歇）</a:t>
            </a:r>
          </a:p>
        </p:txBody>
      </p:sp>
      <p:sp>
        <p:nvSpPr>
          <p:cNvPr id="20" name="Rounded Rectangle 18"/>
          <p:cNvSpPr/>
          <p:nvPr/>
        </p:nvSpPr>
        <p:spPr>
          <a:xfrm>
            <a:off x="6227064" y="2139696"/>
            <a:ext cx="5394960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21" name="Picture 19" descr="image.jpeg"/>
          <p:cNvPicPr>
            <a:picLocks noChangeAspect="1"/>
          </p:cNvPicPr>
          <p:nvPr/>
        </p:nvPicPr>
        <p:blipFill>
          <a:blip r:embed="rId3"/>
          <a:srcRect t="17734" b="17734"/>
          <a:stretch>
            <a:fillRect/>
          </a:stretch>
        </p:blipFill>
        <p:spPr>
          <a:xfrm>
            <a:off x="6355080" y="2267712"/>
            <a:ext cx="5138928" cy="2487168"/>
          </a:xfrm>
          <a:prstGeom prst="rect">
            <a:avLst/>
          </a:prstGeom>
          <a:effectLst/>
        </p:spPr>
      </p:pic>
      <p:sp>
        <p:nvSpPr>
          <p:cNvPr id="22" name="Rectangle 20"/>
          <p:cNvSpPr/>
          <p:nvPr/>
        </p:nvSpPr>
        <p:spPr>
          <a:xfrm>
            <a:off x="6355080" y="4828032"/>
            <a:ext cx="5138928" cy="45720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 wrap="square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规模化连续加工生产线</a:t>
            </a:r>
          </a:p>
        </p:txBody>
      </p:sp>
      <p:sp>
        <p:nvSpPr>
          <p:cNvPr id="23" name="Rounded Rectangle 21"/>
          <p:cNvSpPr/>
          <p:nvPr/>
        </p:nvSpPr>
        <p:spPr>
          <a:xfrm>
            <a:off x="566928" y="5577840"/>
            <a:ext cx="11058114" cy="658368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咖啡液加工路径：</a:t>
            </a:r>
            <a:r>
              <a:rPr sz="16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磨粉 → 高温萃取 → 灭菌 → 灌装</a:t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；其中 </a:t>
            </a:r>
            <a:r>
              <a:rPr sz="16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灭菌</a:t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是决定产品货架期和品质的关键工序</a:t>
            </a:r>
          </a:p>
        </p:txBody>
      </p:sp>
      <p:sp>
        <p:nvSpPr>
          <p:cNvPr id="24" name="Rectangle 22"/>
          <p:cNvSpPr/>
          <p:nvPr/>
        </p:nvSpPr>
        <p:spPr>
          <a:xfrm>
            <a:off x="749808" y="5705856"/>
            <a:ext cx="59436" cy="402336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5" name="TextBox 23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26" name="TextBox 24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09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6FD1FB46-8086-ADC6-AA31-5489EE03D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02 / 行业现状 · 存在问题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传统热杀菌的代价：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风味损失、营养破坏与高能耗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11058114" cy="640080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19456" tIns="36576" bIns="36576" wrap="square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4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工艺要求　</a:t>
            </a:r>
            <a:r>
              <a:rPr sz="13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为了延长产品质保期，获得更高的商业价值，需要对产品进行符合国家要求的无菌化消毒处理，同时尽量保存咖啡的风味物质。</a:t>
            </a:r>
          </a:p>
        </p:txBody>
      </p:sp>
      <p:sp>
        <p:nvSpPr>
          <p:cNvPr id="10" name="Rectangle 8"/>
          <p:cNvSpPr/>
          <p:nvPr/>
        </p:nvSpPr>
        <p:spPr>
          <a:xfrm>
            <a:off x="566928" y="1188720"/>
            <a:ext cx="54864" cy="64008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ounded Rectangle 9"/>
          <p:cNvSpPr/>
          <p:nvPr/>
        </p:nvSpPr>
        <p:spPr>
          <a:xfrm>
            <a:off x="566928" y="1993392"/>
            <a:ext cx="3514039" cy="334670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2" name="Round Same Side Corner Rectangle 10"/>
          <p:cNvSpPr/>
          <p:nvPr/>
        </p:nvSpPr>
        <p:spPr>
          <a:xfrm>
            <a:off x="566928" y="1993392"/>
            <a:ext cx="3514039" cy="548640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巴氏杀菌</a:t>
            </a:r>
          </a:p>
        </p:txBody>
      </p:sp>
      <p:sp>
        <p:nvSpPr>
          <p:cNvPr id="13" name="TextBox 11"/>
          <p:cNvSpPr txBox="1"/>
          <p:nvPr/>
        </p:nvSpPr>
        <p:spPr>
          <a:xfrm>
            <a:off x="768096" y="2670048"/>
            <a:ext cx="3111703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温度　</a:t>
            </a:r>
            <a:r>
              <a:rPr sz="19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70-90℃</a:t>
            </a:r>
          </a:p>
        </p:txBody>
      </p:sp>
      <p:sp>
        <p:nvSpPr>
          <p:cNvPr id="14" name="Rectangle 12"/>
          <p:cNvSpPr/>
          <p:nvPr/>
        </p:nvSpPr>
        <p:spPr>
          <a:xfrm>
            <a:off x="768096" y="3054096"/>
            <a:ext cx="3111703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TextBox 13"/>
          <p:cNvSpPr txBox="1"/>
          <p:nvPr/>
        </p:nvSpPr>
        <p:spPr>
          <a:xfrm>
            <a:off x="768096" y="3145536"/>
            <a:ext cx="3111703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3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特点：</a:t>
            </a:r>
            <a:r>
              <a:rPr sz="13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风味损失少</a:t>
            </a:r>
            <a:r>
              <a:rPr sz="1350" b="1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质保期短</a:t>
            </a:r>
          </a:p>
        </p:txBody>
      </p:sp>
      <p:sp>
        <p:nvSpPr>
          <p:cNvPr id="16" name="TextBox 14"/>
          <p:cNvSpPr txBox="1"/>
          <p:nvPr/>
        </p:nvSpPr>
        <p:spPr>
          <a:xfrm>
            <a:off x="768096" y="3749040"/>
            <a:ext cx="3111703" cy="1426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42000"/>
              </a:lnSpc>
              <a:buNone/>
            </a:pP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此方法只能将细菌的数量下降至不会引发疾病的水平，不能消灭可以忍受 70°C 以上的细菌孢子，在牛奶中仍然有微生物存在，一旦温度上升至 10°C 或以上，细菌孢子又会变得活跃，细菌加快繁殖使牛奶腐坏，因此需要将牛奶维持在 4-5°C 的低温保存及运输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4336999" y="1993392"/>
            <a:ext cx="3514039" cy="334670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8" name="Round Same Side Corner Rectangle 16"/>
          <p:cNvSpPr/>
          <p:nvPr/>
        </p:nvSpPr>
        <p:spPr>
          <a:xfrm>
            <a:off x="4336999" y="1993392"/>
            <a:ext cx="3514039" cy="548640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UHT</a:t>
            </a:r>
            <a:r>
              <a:rPr sz="13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  超高温瞬时杀菌</a:t>
            </a:r>
          </a:p>
        </p:txBody>
      </p:sp>
      <p:sp>
        <p:nvSpPr>
          <p:cNvPr id="19" name="TextBox 17"/>
          <p:cNvSpPr txBox="1"/>
          <p:nvPr/>
        </p:nvSpPr>
        <p:spPr>
          <a:xfrm>
            <a:off x="4538167" y="2670048"/>
            <a:ext cx="3111703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温度　</a:t>
            </a:r>
            <a:r>
              <a:rPr sz="19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135-150℃</a:t>
            </a:r>
          </a:p>
        </p:txBody>
      </p:sp>
      <p:sp>
        <p:nvSpPr>
          <p:cNvPr id="20" name="Rectangle 18"/>
          <p:cNvSpPr/>
          <p:nvPr/>
        </p:nvSpPr>
        <p:spPr>
          <a:xfrm>
            <a:off x="4538167" y="3054096"/>
            <a:ext cx="3111703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1" name="TextBox 19"/>
          <p:cNvSpPr txBox="1"/>
          <p:nvPr/>
        </p:nvSpPr>
        <p:spPr>
          <a:xfrm>
            <a:off x="4538167" y="3145536"/>
            <a:ext cx="3111703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3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特点：</a:t>
            </a:r>
            <a:r>
              <a:rPr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风味损失多</a:t>
            </a:r>
            <a:r>
              <a:rPr sz="1350" b="1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3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质保期长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4538167" y="3749040"/>
            <a:ext cx="3111703" cy="1426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42000"/>
              </a:lnSpc>
              <a:buNone/>
            </a:pP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UHT 的加热时间更短，能够更好地保持风味。即使这样，UHT 处理的温度也足够造成梅纳反应，会改变乳品的风味和色泽。经过 UHT 处理的牛奶储存在无菌容器中，在常温情况下有 6—9 个月的保质期</a:t>
            </a:r>
          </a:p>
        </p:txBody>
      </p:sp>
      <p:sp>
        <p:nvSpPr>
          <p:cNvPr id="23" name="Rounded Rectangle 21"/>
          <p:cNvSpPr/>
          <p:nvPr/>
        </p:nvSpPr>
        <p:spPr>
          <a:xfrm>
            <a:off x="8107070" y="1993392"/>
            <a:ext cx="3514039" cy="334670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4" name="Round Same Side Corner Rectangle 22"/>
          <p:cNvSpPr/>
          <p:nvPr/>
        </p:nvSpPr>
        <p:spPr>
          <a:xfrm>
            <a:off x="8107070" y="1993392"/>
            <a:ext cx="3514039" cy="548640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HPP</a:t>
            </a:r>
            <a:r>
              <a:rPr sz="13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  超高压杀菌</a:t>
            </a:r>
          </a:p>
        </p:txBody>
      </p:sp>
      <p:sp>
        <p:nvSpPr>
          <p:cNvPr id="25" name="TextBox 23"/>
          <p:cNvSpPr txBox="1"/>
          <p:nvPr/>
        </p:nvSpPr>
        <p:spPr>
          <a:xfrm>
            <a:off x="8308238" y="2670048"/>
            <a:ext cx="3111703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20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压力　</a:t>
            </a:r>
            <a:r>
              <a:rPr sz="19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100-1000MPA</a:t>
            </a:r>
          </a:p>
        </p:txBody>
      </p:sp>
      <p:sp>
        <p:nvSpPr>
          <p:cNvPr id="26" name="Rectangle 24"/>
          <p:cNvSpPr/>
          <p:nvPr/>
        </p:nvSpPr>
        <p:spPr>
          <a:xfrm>
            <a:off x="8308238" y="3054096"/>
            <a:ext cx="3111703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7" name="TextBox 25"/>
          <p:cNvSpPr txBox="1"/>
          <p:nvPr/>
        </p:nvSpPr>
        <p:spPr>
          <a:xfrm>
            <a:off x="8308238" y="3145536"/>
            <a:ext cx="3111703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3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特点：</a:t>
            </a:r>
            <a:r>
              <a:rPr sz="13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风味损失少、质保期长</a:t>
            </a:r>
            <a:r>
              <a:rPr sz="1350" b="1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成本高</a:t>
            </a:r>
          </a:p>
        </p:txBody>
      </p:sp>
      <p:sp>
        <p:nvSpPr>
          <p:cNvPr id="28" name="TextBox 26"/>
          <p:cNvSpPr txBox="1"/>
          <p:nvPr/>
        </p:nvSpPr>
        <p:spPr>
          <a:xfrm>
            <a:off x="8308238" y="3749040"/>
            <a:ext cx="3111703" cy="1426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42000"/>
              </a:lnSpc>
              <a:buNone/>
            </a:pP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食品超高压杀菌技术是以水或其他液体介质为传递压力的媒介物质，加在液体中的压力（100～1000MPa），通过介质，以压力作为能量因子，将放在专门密封超高压容器内的食品，在常温或者低温 (低于 100℃) 下对食品加压.</a:t>
            </a:r>
          </a:p>
        </p:txBody>
      </p:sp>
      <p:sp>
        <p:nvSpPr>
          <p:cNvPr id="29" name="Rounded Rectangle 27"/>
          <p:cNvSpPr/>
          <p:nvPr/>
        </p:nvSpPr>
        <p:spPr>
          <a:xfrm>
            <a:off x="566928" y="5504688"/>
            <a:ext cx="11058114" cy="786384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传统咖啡液加工主要为热杀菌技术，包括巴氏杀菌（TP）、高温短时杀菌（HTST）、超高温瞬时杀菌（UHT）等，导致</a:t>
            </a:r>
            <a:r>
              <a:rPr sz="15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风味损失、营养破坏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等问题；同时咖啡液加工为高耗能产业，</a:t>
            </a:r>
            <a:r>
              <a:rPr sz="15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耗水、耗电、耗气等能耗为发达国家 1.9 倍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30" name="Rectangle 28"/>
          <p:cNvSpPr/>
          <p:nvPr/>
        </p:nvSpPr>
        <p:spPr>
          <a:xfrm>
            <a:off x="749808" y="5632704"/>
            <a:ext cx="59436" cy="530352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1" name="TextBox 29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32" name="TextBox 30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10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3484813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02 / 行业现状 · 解决方法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超声非热辅助杀菌：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高效杀菌</a:t>
            </a: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＋ 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风味保留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0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740664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0" name="Picture 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1520" y="1382906"/>
            <a:ext cx="7077456" cy="3068060"/>
          </a:xfrm>
          <a:prstGeom prst="rect">
            <a:avLst/>
          </a:prstGeom>
          <a:effectLst/>
        </p:spPr>
      </p:pic>
      <p:sp>
        <p:nvSpPr>
          <p:cNvPr id="11" name="TextBox 9"/>
          <p:cNvSpPr txBox="1"/>
          <p:nvPr/>
        </p:nvSpPr>
        <p:spPr>
          <a:xfrm>
            <a:off x="731520" y="4535424"/>
            <a:ext cx="707745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20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超声探头式与超声水浴式杀菌作用原理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731520" y="4864608"/>
            <a:ext cx="2261616" cy="402336"/>
          </a:xfrm>
          <a:prstGeom prst="roundRect">
            <a:avLst>
              <a:gd name="adj" fmla="val 50000"/>
            </a:avLst>
          </a:prstGeom>
          <a:solidFill>
            <a:srgbClr val="EDF3F9"/>
          </a:solidFill>
          <a:ln w="12700">
            <a:solidFill>
              <a:srgbClr val="CF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非热辅助杀菌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3139440" y="4864608"/>
            <a:ext cx="2261616" cy="402336"/>
          </a:xfrm>
          <a:prstGeom prst="roundRect">
            <a:avLst>
              <a:gd name="adj" fmla="val 50000"/>
            </a:avLst>
          </a:prstGeom>
          <a:solidFill>
            <a:srgbClr val="EDF3F9"/>
          </a:solidFill>
          <a:ln w="12700">
            <a:solidFill>
              <a:srgbClr val="CF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空化效应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5547360" y="4864608"/>
            <a:ext cx="2261616" cy="402336"/>
          </a:xfrm>
          <a:prstGeom prst="roundRect">
            <a:avLst>
              <a:gd name="adj" fmla="val 50000"/>
            </a:avLst>
          </a:prstGeom>
          <a:solidFill>
            <a:srgbClr val="EDF3F9"/>
          </a:solidFill>
          <a:ln w="12700">
            <a:solidFill>
              <a:srgbClr val="CF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低温处理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8211312" y="1188720"/>
            <a:ext cx="3413730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6" name="Round Same Side Corner Rectangle 14"/>
          <p:cNvSpPr/>
          <p:nvPr/>
        </p:nvSpPr>
        <p:spPr>
          <a:xfrm>
            <a:off x="8211312" y="1188720"/>
            <a:ext cx="3413730" cy="475488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28016" tIns="0" bIns="0" wrap="square">
            <a:noAutofit/>
          </a:bodyPr>
          <a:lstStyle/>
          <a:p>
            <a:pPr algn="l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</a:t>
            </a: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　灭活有害微生物</a:t>
            </a:r>
          </a:p>
        </p:txBody>
      </p:sp>
      <p:pic>
        <p:nvPicPr>
          <p:cNvPr id="17" name="Picture 15" descr="image.png"/>
          <p:cNvPicPr>
            <a:picLocks noChangeAspect="1"/>
          </p:cNvPicPr>
          <p:nvPr/>
        </p:nvPicPr>
        <p:blipFill>
          <a:blip r:embed="rId16"/>
          <a:srcRect l="10474" r="10474"/>
          <a:stretch>
            <a:fillRect/>
          </a:stretch>
        </p:blipFill>
        <p:spPr>
          <a:xfrm>
            <a:off x="8375904" y="1810512"/>
            <a:ext cx="1478265" cy="1243584"/>
          </a:xfrm>
          <a:prstGeom prst="roundRect">
            <a:avLst>
              <a:gd name="adj" fmla="val 4000"/>
            </a:avLst>
          </a:prstGeom>
          <a:effectLst/>
        </p:spPr>
      </p:pic>
      <p:pic>
        <p:nvPicPr>
          <p:cNvPr id="18" name="Picture 16" descr="image.jpeg"/>
          <p:cNvPicPr>
            <a:picLocks noChangeAspect="1"/>
          </p:cNvPicPr>
          <p:nvPr/>
        </p:nvPicPr>
        <p:blipFill>
          <a:blip r:embed="rId19"/>
          <a:srcRect l="5423" r="5423"/>
          <a:stretch>
            <a:fillRect/>
          </a:stretch>
        </p:blipFill>
        <p:spPr>
          <a:xfrm>
            <a:off x="9982185" y="1810512"/>
            <a:ext cx="1478265" cy="1243584"/>
          </a:xfrm>
          <a:prstGeom prst="roundRect">
            <a:avLst>
              <a:gd name="adj" fmla="val 4000"/>
            </a:avLst>
          </a:prstGeom>
          <a:effectLst/>
        </p:spPr>
      </p:pic>
      <p:sp>
        <p:nvSpPr>
          <p:cNvPr id="19" name="Rounded Rectangle 17"/>
          <p:cNvSpPr/>
          <p:nvPr/>
        </p:nvSpPr>
        <p:spPr>
          <a:xfrm>
            <a:off x="8211312" y="3364992"/>
            <a:ext cx="3413730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0" name="Round Same Side Corner Rectangle 18"/>
          <p:cNvSpPr/>
          <p:nvPr/>
        </p:nvSpPr>
        <p:spPr>
          <a:xfrm>
            <a:off x="8211312" y="3364992"/>
            <a:ext cx="3413730" cy="475488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28016" tIns="0" bIns="0" wrap="square">
            <a:noAutofit/>
          </a:bodyPr>
          <a:lstStyle/>
          <a:p>
            <a:pPr algn="l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营养</a:t>
            </a: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　保留原有风味</a:t>
            </a:r>
          </a:p>
        </p:txBody>
      </p:sp>
      <p:pic>
        <p:nvPicPr>
          <p:cNvPr id="21" name="Picture 19" descr="image.jpeg"/>
          <p:cNvPicPr>
            <a:picLocks noChangeAspect="1"/>
          </p:cNvPicPr>
          <p:nvPr/>
        </p:nvPicPr>
        <p:blipFill>
          <a:blip r:embed="rId17"/>
          <a:srcRect t="10506" b="10506"/>
          <a:stretch>
            <a:fillRect/>
          </a:stretch>
        </p:blipFill>
        <p:spPr>
          <a:xfrm>
            <a:off x="8375904" y="3986784"/>
            <a:ext cx="1478265" cy="1243584"/>
          </a:xfrm>
          <a:prstGeom prst="roundRect">
            <a:avLst>
              <a:gd name="adj" fmla="val 4000"/>
            </a:avLst>
          </a:prstGeom>
          <a:effectLst/>
        </p:spPr>
      </p:pic>
      <p:pic>
        <p:nvPicPr>
          <p:cNvPr id="22" name="Picture 20" descr="image.jpeg"/>
          <p:cNvPicPr>
            <a:picLocks noChangeAspect="1"/>
          </p:cNvPicPr>
          <p:nvPr/>
        </p:nvPicPr>
        <p:blipFill>
          <a:blip r:embed="rId18"/>
          <a:srcRect l="5423" r="5423"/>
          <a:stretch>
            <a:fillRect/>
          </a:stretch>
        </p:blipFill>
        <p:spPr>
          <a:xfrm>
            <a:off x="9982185" y="3986784"/>
            <a:ext cx="1478265" cy="1243584"/>
          </a:xfrm>
          <a:prstGeom prst="roundRect">
            <a:avLst>
              <a:gd name="adj" fmla="val 4000"/>
            </a:avLst>
          </a:prstGeom>
          <a:effectLst/>
        </p:spPr>
      </p:pic>
      <p:sp>
        <p:nvSpPr>
          <p:cNvPr id="23" name="Rounded Rectangle 21"/>
          <p:cNvSpPr/>
          <p:nvPr/>
        </p:nvSpPr>
        <p:spPr>
          <a:xfrm>
            <a:off x="566928" y="5541264"/>
            <a:ext cx="11058114" cy="676656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6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超声波</a:t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作为非热辅助杀菌技术，顺应国家 </a:t>
            </a:r>
            <a:r>
              <a:rPr sz="16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“食品洁净”和“最少加工”</a:t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的大健康趋势，既能高效杀菌，且能有效保留原有风味。</a:t>
            </a:r>
          </a:p>
        </p:txBody>
      </p:sp>
      <p:sp>
        <p:nvSpPr>
          <p:cNvPr id="24" name="Rectangle 22"/>
          <p:cNvSpPr/>
          <p:nvPr/>
        </p:nvSpPr>
        <p:spPr>
          <a:xfrm>
            <a:off x="749808" y="5669280"/>
            <a:ext cx="59436" cy="42062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5" name="TextBox 23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26" name="TextBox 24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11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43B8B3A3-06F9-45B0-CAC2-2FA8F32C7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平行四边形 7"/>
          <p:cNvSpPr/>
          <p:nvPr/>
        </p:nvSpPr>
        <p:spPr>
          <a:xfrm>
            <a:off x="0" y="0"/>
            <a:ext cx="6428232" cy="6858000"/>
          </a:xfrm>
          <a:custGeom>
            <a:avLst/>
            <a:gdLst>
              <a:gd name="connsiteX0" fmla="*/ 0 w 6431042"/>
              <a:gd name="connsiteY0" fmla="*/ 6858001 h 6858001"/>
              <a:gd name="connsiteX1" fmla="*/ 2691520 w 6431042"/>
              <a:gd name="connsiteY1" fmla="*/ 0 h 6858001"/>
              <a:gd name="connsiteX2" fmla="*/ 6431042 w 6431042"/>
              <a:gd name="connsiteY2" fmla="*/ 0 h 6858001"/>
              <a:gd name="connsiteX3" fmla="*/ 3739522 w 6431042"/>
              <a:gd name="connsiteY3" fmla="*/ 6858001 h 6858001"/>
              <a:gd name="connsiteX4" fmla="*/ 0 w 6431042"/>
              <a:gd name="connsiteY4" fmla="*/ 6858001 h 6858001"/>
              <a:gd name="connsiteX0-1" fmla="*/ 0 w 6431042"/>
              <a:gd name="connsiteY0-2" fmla="*/ 6858001 h 6858001"/>
              <a:gd name="connsiteX1-3" fmla="*/ 1269120 w 6431042"/>
              <a:gd name="connsiteY1-4" fmla="*/ 0 h 6858001"/>
              <a:gd name="connsiteX2-5" fmla="*/ 6431042 w 6431042"/>
              <a:gd name="connsiteY2-6" fmla="*/ 0 h 6858001"/>
              <a:gd name="connsiteX3-7" fmla="*/ 3739522 w 6431042"/>
              <a:gd name="connsiteY3-8" fmla="*/ 6858001 h 6858001"/>
              <a:gd name="connsiteX4-9" fmla="*/ 0 w 6431042"/>
              <a:gd name="connsiteY4-10" fmla="*/ 6858001 h 68580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31042" h="6858001">
                <a:moveTo>
                  <a:pt x="0" y="6858001"/>
                </a:moveTo>
                <a:lnTo>
                  <a:pt x="1269120" y="0"/>
                </a:lnTo>
                <a:lnTo>
                  <a:pt x="6431042" y="0"/>
                </a:lnTo>
                <a:lnTo>
                  <a:pt x="3739522" y="6858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16416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矩形 8"/>
          <p:cNvSpPr/>
          <p:nvPr/>
        </p:nvSpPr>
        <p:spPr>
          <a:xfrm>
            <a:off x="0" y="-9144"/>
            <a:ext cx="2779776" cy="6867144"/>
          </a:xfrm>
          <a:custGeom>
            <a:avLst/>
            <a:gdLst>
              <a:gd name="connsiteX0" fmla="*/ 0 w 2783632"/>
              <a:gd name="connsiteY0" fmla="*/ 0 h 6858001"/>
              <a:gd name="connsiteX1" fmla="*/ 2783632 w 2783632"/>
              <a:gd name="connsiteY1" fmla="*/ 0 h 6858001"/>
              <a:gd name="connsiteX2" fmla="*/ 2783632 w 2783632"/>
              <a:gd name="connsiteY2" fmla="*/ 6858001 h 6858001"/>
              <a:gd name="connsiteX3" fmla="*/ 0 w 2783632"/>
              <a:gd name="connsiteY3" fmla="*/ 6858001 h 6858001"/>
              <a:gd name="connsiteX4" fmla="*/ 0 w 2783632"/>
              <a:gd name="connsiteY4" fmla="*/ 0 h 6858001"/>
              <a:gd name="connsiteX0-1" fmla="*/ 0 w 2783632"/>
              <a:gd name="connsiteY0-2" fmla="*/ 12700 h 6870701"/>
              <a:gd name="connsiteX1-3" fmla="*/ 1551732 w 2783632"/>
              <a:gd name="connsiteY1-4" fmla="*/ 0 h 6870701"/>
              <a:gd name="connsiteX2-5" fmla="*/ 2783632 w 2783632"/>
              <a:gd name="connsiteY2-6" fmla="*/ 6870701 h 6870701"/>
              <a:gd name="connsiteX3-7" fmla="*/ 0 w 2783632"/>
              <a:gd name="connsiteY3-8" fmla="*/ 6870701 h 6870701"/>
              <a:gd name="connsiteX4-9" fmla="*/ 0 w 2783632"/>
              <a:gd name="connsiteY4-10" fmla="*/ 12700 h 6870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783632" h="6870701">
                <a:moveTo>
                  <a:pt x="0" y="12700"/>
                </a:moveTo>
                <a:lnTo>
                  <a:pt x="1551732" y="0"/>
                </a:lnTo>
                <a:lnTo>
                  <a:pt x="2783632" y="6870701"/>
                </a:lnTo>
                <a:lnTo>
                  <a:pt x="0" y="6870701"/>
                </a:lnTo>
                <a:lnTo>
                  <a:pt x="0" y="12700"/>
                </a:lnTo>
                <a:close/>
              </a:path>
            </a:pathLst>
          </a:custGeom>
          <a:solidFill>
            <a:srgbClr val="1E59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tangle 9"/>
          <p:cNvSpPr/>
          <p:nvPr/>
        </p:nvSpPr>
        <p:spPr>
          <a:xfrm>
            <a:off x="12073098" y="0"/>
            <a:ext cx="118872" cy="685800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6" name="TextBox 10"/>
          <p:cNvSpPr txBox="1"/>
          <p:nvPr/>
        </p:nvSpPr>
        <p:spPr>
          <a:xfrm>
            <a:off x="274320" y="14447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300" b="1" spc="4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SECTION</a:t>
            </a:r>
          </a:p>
        </p:txBody>
      </p:sp>
      <p:sp>
        <p:nvSpPr>
          <p:cNvPr id="7" name="Rectangle 11"/>
          <p:cNvSpPr/>
          <p:nvPr/>
        </p:nvSpPr>
        <p:spPr>
          <a:xfrm>
            <a:off x="2606040" y="1828800"/>
            <a:ext cx="10058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8" name="TextBox 12"/>
          <p:cNvSpPr txBox="1"/>
          <p:nvPr/>
        </p:nvSpPr>
        <p:spPr>
          <a:xfrm>
            <a:off x="274320" y="201168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9" name="Rectangle 13"/>
          <p:cNvSpPr/>
          <p:nvPr/>
        </p:nvSpPr>
        <p:spPr>
          <a:xfrm>
            <a:off x="7178040" y="2139696"/>
            <a:ext cx="960120" cy="5486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TextBox 14"/>
          <p:cNvSpPr txBox="1"/>
          <p:nvPr/>
        </p:nvSpPr>
        <p:spPr>
          <a:xfrm>
            <a:off x="7178040" y="2322576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5200" b="1" spc="30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核心优势</a:t>
            </a:r>
          </a:p>
        </p:txBody>
      </p:sp>
      <p:sp>
        <p:nvSpPr>
          <p:cNvPr id="11" name="TextBox 15"/>
          <p:cNvSpPr txBox="1"/>
          <p:nvPr/>
        </p:nvSpPr>
        <p:spPr>
          <a:xfrm>
            <a:off x="7178040" y="331012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50" b="1" spc="2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CORE ADVANTAGES</a:t>
            </a:r>
          </a:p>
        </p:txBody>
      </p:sp>
      <p:sp>
        <p:nvSpPr>
          <p:cNvPr id="12" name="Rectangle 16"/>
          <p:cNvSpPr/>
          <p:nvPr/>
        </p:nvSpPr>
        <p:spPr>
          <a:xfrm>
            <a:off x="7178040" y="3712464"/>
            <a:ext cx="548640" cy="20117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TextBox 17"/>
          <p:cNvSpPr txBox="1"/>
          <p:nvPr/>
        </p:nvSpPr>
        <p:spPr>
          <a:xfrm>
            <a:off x="7178040" y="389534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4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低温超声杀菌叠加多级工艺整合，兼顾风味保留与节能降耗。</a:t>
            </a:r>
          </a:p>
        </p:txBody>
      </p:sp>
    </p:spTree>
    <p:extLst>
      <p:ext uri="{BB962C8B-B14F-4D97-AF65-F5344CB8AC3E}">
        <p14:creationId xmlns:p14="http://schemas.microsoft.com/office/powerpoint/2010/main" val="3239324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03 / 核心优势 · 产品介绍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产品介绍 · </a:t>
            </a: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SK-Ⅱ 萃取与超声杀菌一体化装备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3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15568"/>
            <a:ext cx="4663440" cy="49926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Rounded Rectangle 8"/>
          <p:cNvSpPr/>
          <p:nvPr/>
        </p:nvSpPr>
        <p:spPr>
          <a:xfrm>
            <a:off x="731520" y="1261872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产品 SK-Ⅱ</a:t>
            </a:r>
          </a:p>
        </p:txBody>
      </p:sp>
      <p:pic>
        <p:nvPicPr>
          <p:cNvPr id="11" name="Picture 9" descr="image.png"/>
          <p:cNvPicPr>
            <a:picLocks noChangeAspect="1"/>
          </p:cNvPicPr>
          <p:nvPr/>
        </p:nvPicPr>
        <p:blipFill>
          <a:blip r:embed="rId2"/>
          <a:srcRect l="16800" r="14400" t="11000" b="9800"/>
          <a:stretch>
            <a:fillRect/>
          </a:stretch>
        </p:blipFill>
        <p:spPr>
          <a:xfrm>
            <a:off x="954461" y="1792224"/>
            <a:ext cx="3888374" cy="3621024"/>
          </a:xfrm>
          <a:prstGeom prst="rect">
            <a:avLst/>
          </a:prstGeom>
          <a:effectLst/>
        </p:spPr>
      </p:pic>
      <p:sp>
        <p:nvSpPr>
          <p:cNvPr id="12" name="Rounded Rectangle 10"/>
          <p:cNvSpPr/>
          <p:nvPr/>
        </p:nvSpPr>
        <p:spPr>
          <a:xfrm>
            <a:off x="841248" y="5504688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 wrap="square">
            <a:noAutofit/>
          </a:bodyPr>
          <a:lstStyle/>
          <a:p>
            <a:pPr algn="ctr">
              <a:buNone/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产品模型图</a:t>
            </a:r>
          </a:p>
        </p:txBody>
      </p:sp>
      <p:pic>
        <p:nvPicPr>
          <p:cNvPr id="13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3881" y="1115568"/>
            <a:ext cx="5985975" cy="4992624"/>
          </a:xfrm>
          <a:prstGeom prst="roundRect">
            <a:avLst>
              <a:gd name="adj" fmla="val 1200"/>
            </a:avLst>
          </a:prstGeom>
          <a:ln w="12700">
            <a:solidFill>
              <a:srgbClr val="CFDEEA"/>
            </a:solidFill>
          </a:ln>
          <a:effectLst/>
        </p:spPr>
      </p:pic>
      <p:sp>
        <p:nvSpPr>
          <p:cNvPr id="14" name="TextBox 12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15" name="TextBox 13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13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2666102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03 / 核心优势 · 竞品分析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竞品格局：三条杀菌路线，</a:t>
            </a:r>
            <a:r>
              <a:rPr sz="2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尚无面向咖啡液的一体化整机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3527542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Round Same Side Corner Rectangle 8"/>
          <p:cNvSpPr/>
          <p:nvPr/>
        </p:nvSpPr>
        <p:spPr>
          <a:xfrm>
            <a:off x="566928" y="1188720"/>
            <a:ext cx="3527542" cy="731520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热杀菌 UHT</a:t>
            </a:r>
          </a:p>
          <a:p>
            <a:pPr algn="l">
              <a:lnSpc>
                <a:spcPct val="100000"/>
              </a:lnSpc>
              <a:buNone/>
            </a:pPr>
            <a:r>
              <a:rPr sz="950" b="1" spc="140">
                <a:solidFill>
                  <a:srgbClr val="C9DAEA"/>
                </a:solidFill>
                <a:latin typeface="微软雅黑"/>
                <a:ea typeface="微软雅黑"/>
                <a:cs typeface="微软雅黑"/>
              </a:rPr>
              <a:t>ULTRA-HIGH TEMPERATURE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2796022" y="2048256"/>
            <a:ext cx="11521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4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0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行业主流</a:t>
            </a:r>
          </a:p>
        </p:txBody>
      </p:sp>
      <p:sp>
        <p:nvSpPr>
          <p:cNvPr id="12" name="TextBox 10"/>
          <p:cNvSpPr txBox="1"/>
          <p:nvPr/>
        </p:nvSpPr>
        <p:spPr>
          <a:xfrm>
            <a:off x="768096" y="2048256"/>
            <a:ext cx="200963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050" b="1" spc="10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代表厂商</a:t>
            </a:r>
          </a:p>
        </p:txBody>
      </p:sp>
      <p:sp>
        <p:nvSpPr>
          <p:cNvPr id="13" name="TextBox 11"/>
          <p:cNvSpPr txBox="1"/>
          <p:nvPr/>
        </p:nvSpPr>
        <p:spPr>
          <a:xfrm>
            <a:off x="768096" y="2340864"/>
            <a:ext cx="3125206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利乐 Tetra Pak、GEA</a:t>
            </a:r>
          </a:p>
          <a:p>
            <a:pPr algn="l">
              <a:lnSpc>
                <a:spcPct val="126000"/>
              </a:lnSpc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SPX FLOW 等</a:t>
            </a:r>
          </a:p>
        </p:txBody>
      </p:sp>
      <p:sp>
        <p:nvSpPr>
          <p:cNvPr id="14" name="Rectangle 12"/>
          <p:cNvSpPr/>
          <p:nvPr/>
        </p:nvSpPr>
        <p:spPr>
          <a:xfrm>
            <a:off x="768096" y="2871216"/>
            <a:ext cx="3125206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TextBox 13"/>
          <p:cNvSpPr txBox="1"/>
          <p:nvPr/>
        </p:nvSpPr>
        <p:spPr>
          <a:xfrm>
            <a:off x="768096" y="2980944"/>
            <a:ext cx="3125206" cy="14813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加热至 135℃ 以上杀灭全部微生物，产品可常温流通</a:t>
            </a:r>
          </a:p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需灭菌机与无菌灌装单元配套，用管式或板式换热器间接加热</a:t>
            </a:r>
          </a:p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头部咖啡液品牌（如永璞）即以 UHT 工艺主打锁鲜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713232" y="4517136"/>
            <a:ext cx="3234934" cy="7315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28016" tIns="18288" bIns="18288" wrap="square">
            <a:noAutofit/>
          </a:bodyPr>
          <a:lstStyle/>
          <a:p>
            <a:pPr algn="l">
              <a:lnSpc>
                <a:spcPct val="134000"/>
              </a:lnSpc>
              <a:buNone/>
            </a:pPr>
            <a:r>
              <a:rPr sz="1100" b="1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主要局限　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高温引发梅纳反应，改变风味与色泽；工序能耗高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4332214" y="1188720"/>
            <a:ext cx="3527542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8" name="Round Same Side Corner Rectangle 16"/>
          <p:cNvSpPr/>
          <p:nvPr/>
        </p:nvSpPr>
        <p:spPr>
          <a:xfrm>
            <a:off x="4332214" y="1188720"/>
            <a:ext cx="3527542" cy="731520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超高压 HPP</a:t>
            </a:r>
          </a:p>
          <a:p>
            <a:pPr algn="l">
              <a:lnSpc>
                <a:spcPct val="100000"/>
              </a:lnSpc>
              <a:buNone/>
            </a:pPr>
            <a:r>
              <a:rPr sz="950" b="1" spc="140">
                <a:solidFill>
                  <a:srgbClr val="C9DAEA"/>
                </a:solidFill>
                <a:latin typeface="微软雅黑"/>
                <a:ea typeface="微软雅黑"/>
                <a:cs typeface="微软雅黑"/>
              </a:rPr>
              <a:t>HIGH PRESSURE PROCESSING</a:t>
            </a:r>
          </a:p>
        </p:txBody>
      </p:sp>
      <p:sp>
        <p:nvSpPr>
          <p:cNvPr id="19" name="Rounded Rectangle 17"/>
          <p:cNvSpPr/>
          <p:nvPr/>
        </p:nvSpPr>
        <p:spPr>
          <a:xfrm>
            <a:off x="6561308" y="2048256"/>
            <a:ext cx="11521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59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05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高端冷杀菌</a:t>
            </a:r>
          </a:p>
        </p:txBody>
      </p:sp>
      <p:sp>
        <p:nvSpPr>
          <p:cNvPr id="20" name="TextBox 18"/>
          <p:cNvSpPr txBox="1"/>
          <p:nvPr/>
        </p:nvSpPr>
        <p:spPr>
          <a:xfrm>
            <a:off x="4533382" y="2048256"/>
            <a:ext cx="200963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050" b="1" spc="10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代表厂商</a:t>
            </a:r>
          </a:p>
        </p:txBody>
      </p:sp>
      <p:sp>
        <p:nvSpPr>
          <p:cNvPr id="21" name="TextBox 19"/>
          <p:cNvSpPr txBox="1"/>
          <p:nvPr/>
        </p:nvSpPr>
        <p:spPr>
          <a:xfrm>
            <a:off x="4533382" y="2340864"/>
            <a:ext cx="3125206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Hiperbaric（西班牙）</a:t>
            </a:r>
          </a:p>
          <a:p>
            <a:pPr algn="l">
              <a:lnSpc>
                <a:spcPct val="126000"/>
              </a:lnSpc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JBT Avure（美国）</a:t>
            </a:r>
          </a:p>
        </p:txBody>
      </p:sp>
      <p:sp>
        <p:nvSpPr>
          <p:cNvPr id="22" name="Rectangle 20"/>
          <p:cNvSpPr/>
          <p:nvPr/>
        </p:nvSpPr>
        <p:spPr>
          <a:xfrm>
            <a:off x="4533382" y="2871216"/>
            <a:ext cx="3125206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3" name="TextBox 21"/>
          <p:cNvSpPr txBox="1"/>
          <p:nvPr/>
        </p:nvSpPr>
        <p:spPr>
          <a:xfrm>
            <a:off x="4533382" y="2980944"/>
            <a:ext cx="3125206" cy="14813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5—20℃ 非热处理，压力最高 600 MPa，保压 1—3 分钟</a:t>
            </a:r>
          </a:p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全球装机 350 台以上，其中约 19% 用于果汁与饮料</a:t>
            </a:r>
          </a:p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冷加工可较好保留风味、质地与营养</a:t>
            </a:r>
          </a:p>
        </p:txBody>
      </p:sp>
      <p:sp>
        <p:nvSpPr>
          <p:cNvPr id="24" name="Rounded Rectangle 22"/>
          <p:cNvSpPr/>
          <p:nvPr/>
        </p:nvSpPr>
        <p:spPr>
          <a:xfrm>
            <a:off x="4478518" y="4517136"/>
            <a:ext cx="3234934" cy="7315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28016" tIns="18288" bIns="18288" wrap="square">
            <a:noAutofit/>
          </a:bodyPr>
          <a:lstStyle/>
          <a:p>
            <a:pPr algn="l">
              <a:lnSpc>
                <a:spcPct val="134000"/>
              </a:lnSpc>
              <a:buNone/>
            </a:pPr>
            <a:r>
              <a:rPr sz="1100" b="1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主要局限　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间歇式在包处理难以连续化；承压腔体投资高；包内滞留气体带来能效损失</a:t>
            </a:r>
          </a:p>
        </p:txBody>
      </p:sp>
      <p:sp>
        <p:nvSpPr>
          <p:cNvPr id="25" name="Rounded Rectangle 23"/>
          <p:cNvSpPr/>
          <p:nvPr/>
        </p:nvSpPr>
        <p:spPr>
          <a:xfrm>
            <a:off x="8097500" y="1188720"/>
            <a:ext cx="3527542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6" name="Round Same Side Corner Rectangle 24"/>
          <p:cNvSpPr/>
          <p:nvPr/>
        </p:nvSpPr>
        <p:spPr>
          <a:xfrm>
            <a:off x="8097500" y="1188720"/>
            <a:ext cx="3527542" cy="731520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超声非热</a:t>
            </a:r>
          </a:p>
          <a:p>
            <a:pPr algn="l">
              <a:lnSpc>
                <a:spcPct val="100000"/>
              </a:lnSpc>
              <a:buNone/>
            </a:pPr>
            <a:r>
              <a:rPr sz="950" b="1" spc="140">
                <a:solidFill>
                  <a:srgbClr val="C9DAEA"/>
                </a:solidFill>
                <a:latin typeface="微软雅黑"/>
                <a:ea typeface="微软雅黑"/>
                <a:cs typeface="微软雅黑"/>
              </a:rPr>
              <a:t>POWER ULTRASOUND</a:t>
            </a:r>
          </a:p>
        </p:txBody>
      </p:sp>
      <p:sp>
        <p:nvSpPr>
          <p:cNvPr id="27" name="Rounded Rectangle 25"/>
          <p:cNvSpPr/>
          <p:nvPr/>
        </p:nvSpPr>
        <p:spPr>
          <a:xfrm>
            <a:off x="10326594" y="2048256"/>
            <a:ext cx="11521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92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050" b="1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本项目路线</a:t>
            </a:r>
          </a:p>
        </p:txBody>
      </p:sp>
      <p:sp>
        <p:nvSpPr>
          <p:cNvPr id="28" name="TextBox 26"/>
          <p:cNvSpPr txBox="1"/>
          <p:nvPr/>
        </p:nvSpPr>
        <p:spPr>
          <a:xfrm>
            <a:off x="8298668" y="2048256"/>
            <a:ext cx="200963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050" b="1" spc="10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代表厂商</a:t>
            </a:r>
          </a:p>
        </p:txBody>
      </p:sp>
      <p:sp>
        <p:nvSpPr>
          <p:cNvPr id="29" name="TextBox 27"/>
          <p:cNvSpPr txBox="1"/>
          <p:nvPr/>
        </p:nvSpPr>
        <p:spPr>
          <a:xfrm>
            <a:off x="8298668" y="2340864"/>
            <a:ext cx="3125206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Hielscher（德国）</a:t>
            </a:r>
          </a:p>
          <a:p>
            <a:pPr algn="l">
              <a:lnSpc>
                <a:spcPct val="126000"/>
              </a:lnSpc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Sonics &amp; Materials 等</a:t>
            </a:r>
          </a:p>
        </p:txBody>
      </p:sp>
      <p:sp>
        <p:nvSpPr>
          <p:cNvPr id="30" name="Rectangle 28"/>
          <p:cNvSpPr/>
          <p:nvPr/>
        </p:nvSpPr>
        <p:spPr>
          <a:xfrm>
            <a:off x="8298668" y="2871216"/>
            <a:ext cx="3125206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1" name="TextBox 29"/>
          <p:cNvSpPr txBox="1"/>
          <p:nvPr/>
        </p:nvSpPr>
        <p:spPr>
          <a:xfrm>
            <a:off x="8298668" y="2980944"/>
            <a:ext cx="3125206" cy="14813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空化效应破坏微生物细胞结构，可用于液态食品超声杀菌</a:t>
            </a:r>
          </a:p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工业机型单机功率可达 16 kW，可多机并联放大产能</a:t>
            </a:r>
          </a:p>
          <a:p>
            <a:pPr algn="l">
              <a:lnSpc>
                <a:spcPct val="142000"/>
              </a:lnSpc>
              <a:spcAft>
                <a:spcPts val="400"/>
              </a:spcAft>
              <a:buNone/>
            </a:pPr>
            <a:r>
              <a:rPr sz="1080" b="1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同一能场兼具萃取与杀菌潜力，属非热加工路线</a:t>
            </a:r>
          </a:p>
        </p:txBody>
      </p:sp>
      <p:sp>
        <p:nvSpPr>
          <p:cNvPr id="32" name="Rounded Rectangle 30"/>
          <p:cNvSpPr/>
          <p:nvPr/>
        </p:nvSpPr>
        <p:spPr>
          <a:xfrm>
            <a:off x="8243804" y="4517136"/>
            <a:ext cx="3234934" cy="7315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28016" tIns="18288" bIns="18288" wrap="square">
            <a:noAutofit/>
          </a:bodyPr>
          <a:lstStyle/>
          <a:p>
            <a:pPr algn="l">
              <a:lnSpc>
                <a:spcPct val="134000"/>
              </a:lnSpc>
              <a:buNone/>
            </a:pPr>
            <a:r>
              <a:rPr sz="1100" b="1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主要局限　</a:t>
            </a: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现有产品为通用超声处理单元，需自行串联萃取与灌装，缺少面向咖啡液的一体化整机</a:t>
            </a:r>
          </a:p>
        </p:txBody>
      </p:sp>
      <p:sp>
        <p:nvSpPr>
          <p:cNvPr id="33" name="Rounded Rectangle 31"/>
          <p:cNvSpPr/>
          <p:nvPr/>
        </p:nvSpPr>
        <p:spPr>
          <a:xfrm>
            <a:off x="566928" y="5468112"/>
            <a:ext cx="11058114" cy="640080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三条路线均为</a:t>
            </a:r>
            <a:r>
              <a:rPr sz="155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单工序装备</a:t>
            </a:r>
            <a:r>
              <a:rPr sz="1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；本项目以 </a:t>
            </a:r>
            <a:r>
              <a:rPr sz="155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“萃取＋超声低温杀菌”连续一体化整机</a:t>
            </a:r>
            <a:r>
              <a:rPr sz="1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切入尚未被占据的位置</a:t>
            </a:r>
          </a:p>
        </p:txBody>
      </p:sp>
      <p:sp>
        <p:nvSpPr>
          <p:cNvPr id="34" name="Rectangle 32"/>
          <p:cNvSpPr/>
          <p:nvPr/>
        </p:nvSpPr>
        <p:spPr>
          <a:xfrm>
            <a:off x="749808" y="5596128"/>
            <a:ext cx="59436" cy="384048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5" name="TextBox 33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　|　来源：利乐官网 UHT 技术页；Hiperbaric 官网；JBT Avure 官网；Hielscher 官网（超声杀菌 / UIP16000）；永璞浓缩咖啡液商品页</a:t>
            </a:r>
          </a:p>
        </p:txBody>
      </p:sp>
      <p:sp>
        <p:nvSpPr>
          <p:cNvPr id="36" name="TextBox 34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14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3917608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F280AF2-1592-FE35-0784-A356241A5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03 / 核心优势 · 竞品分析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参数对标：</a:t>
            </a:r>
            <a:r>
              <a:rPr sz="2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56℃ 低温、连续一体化、综合能耗降低 20%~30%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graphicFrame>
        <p:nvGraphicFramePr>
          <p:cNvPr id="9" name="Table 7"/>
          <p:cNvGraphicFramePr>
            <a:graphicFrameLocks noGrp="1"/>
          </p:cNvGraphicFramePr>
          <p:nvPr/>
        </p:nvGraphicFramePr>
        <p:xfrm>
          <a:off x="566928" y="1188720"/>
          <a:ext cx="11055096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2212848"/>
                <a:gridCol w="2048256"/>
                <a:gridCol w="2048256"/>
                <a:gridCol w="3145536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22000"/>
                        </a:lnSpc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对比维度</a:t>
                      </a:r>
                    </a:p>
                  </a:txBody>
                  <a:tcPr marL="109728" marR="10972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6416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热杀菌 UHT</a:t>
                      </a:r>
                    </a:p>
                  </a:txBody>
                  <a:tcPr marL="109728" marR="10972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6416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超高压 HPP</a:t>
                      </a:r>
                    </a:p>
                  </a:txBody>
                  <a:tcPr marL="109728" marR="10972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6416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通用超声设备</a:t>
                      </a:r>
                    </a:p>
                  </a:txBody>
                  <a:tcPr marL="109728" marR="10972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6416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本项目 SK-Ⅱ</a:t>
                      </a:r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L>
                    <a:lnR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6416C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处理温度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＞135℃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5—20℃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近常温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56℃</a:t>
                      </a:r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L>
                    <a:lnR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作用机理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热致死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等静压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空化效应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空化 ＋ 低温协同</a:t>
                      </a:r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L>
                    <a:lnR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生产形态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连续管式 ＋ 无菌灌装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间歇 · 在包处理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通用处理单元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萃取—杀菌连续一体化</a:t>
                      </a:r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L>
                    <a:lnR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风味保留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低</a:t>
                      </a: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· 梅纳反应改变风味色泽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 · 第三方检测报告支撑</a:t>
                      </a:r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L>
                    <a:lnR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常温货架期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6—9 个月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较未处理延长 2—3 倍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需工艺验证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待中试验证</a:t>
                      </a:r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L>
                    <a:lnR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综合能耗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</a:t>
                      </a: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· 为发达国家 1.9 倍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高压泵功耗大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0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取决于配套工序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L>
                    <a:lnR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22000"/>
                        </a:lnSpc>
                        <a:buNone/>
                      </a:pPr>
                      <a:r>
                        <a:rPr sz="1120" b="1">
                          <a:solidFill>
                            <a:srgbClr val="16416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降低 20%~30%</a:t>
                      </a:r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L>
                    <a:lnR w="19050" cap="flat" cmpd="sng" algn="ctr">
                      <a:solidFill>
                        <a:srgbClr val="B9282C"/>
                      </a:solidFill>
                      <a:prstDash val="solid"/>
                      <a:round/>
                      <a:headEnd type="none"/>
                      <a:tailEnd type="none"/>
                    </a:lnR>
                    <a:lnT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T>
                    <a:lnB w="9525" cap="flat" cmpd="sng" algn="ctr">
                      <a:solidFill>
                        <a:srgbClr val="CFDEEA"/>
                      </a:solidFill>
                      <a:prstDash val="solid"/>
                      <a:round/>
                      <a:headEnd type="none"/>
                      <a:tailEnd type="none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8"/>
          <p:cNvSpPr/>
          <p:nvPr/>
        </p:nvSpPr>
        <p:spPr>
          <a:xfrm>
            <a:off x="566928" y="4681728"/>
            <a:ext cx="262736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ectangle 9"/>
          <p:cNvSpPr/>
          <p:nvPr/>
        </p:nvSpPr>
        <p:spPr>
          <a:xfrm>
            <a:off x="566928" y="4681728"/>
            <a:ext cx="2627368" cy="4572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2" name="TextBox 10"/>
          <p:cNvSpPr txBox="1"/>
          <p:nvPr/>
        </p:nvSpPr>
        <p:spPr>
          <a:xfrm>
            <a:off x="731520" y="4809744"/>
            <a:ext cx="2298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50" b="1" spc="8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一体化</a:t>
            </a:r>
          </a:p>
        </p:txBody>
      </p:sp>
      <p:sp>
        <p:nvSpPr>
          <p:cNvPr id="13" name="TextBox 11"/>
          <p:cNvSpPr txBox="1"/>
          <p:nvPr/>
        </p:nvSpPr>
        <p:spPr>
          <a:xfrm>
            <a:off x="731520" y="5102352"/>
            <a:ext cx="229818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4000"/>
              </a:lnSpc>
              <a:buNone/>
            </a:pP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萃取与杀菌连续闭环，替代多台单工序设备串联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3377176" y="4681728"/>
            <a:ext cx="262736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Rectangle 13"/>
          <p:cNvSpPr/>
          <p:nvPr/>
        </p:nvSpPr>
        <p:spPr>
          <a:xfrm>
            <a:off x="3377176" y="4681728"/>
            <a:ext cx="2627368" cy="45720"/>
          </a:xfrm>
          <a:prstGeom prst="rect">
            <a:avLst/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6" name="TextBox 14"/>
          <p:cNvSpPr txBox="1"/>
          <p:nvPr/>
        </p:nvSpPr>
        <p:spPr>
          <a:xfrm>
            <a:off x="3541768" y="4809744"/>
            <a:ext cx="2298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50" b="1" spc="80">
                <a:solidFill>
                  <a:srgbClr val="1E5996"/>
                </a:solidFill>
                <a:latin typeface="微软雅黑"/>
                <a:ea typeface="微软雅黑"/>
                <a:cs typeface="微软雅黑"/>
              </a:rPr>
              <a:t>低　温</a:t>
            </a:r>
          </a:p>
        </p:txBody>
      </p:sp>
      <p:sp>
        <p:nvSpPr>
          <p:cNvPr id="17" name="TextBox 15"/>
          <p:cNvSpPr txBox="1"/>
          <p:nvPr/>
        </p:nvSpPr>
        <p:spPr>
          <a:xfrm>
            <a:off x="3541768" y="5102352"/>
            <a:ext cx="229818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4000"/>
              </a:lnSpc>
              <a:buNone/>
            </a:pP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56℃ 即达良好杀菌效果，显著降低风味损失</a:t>
            </a:r>
          </a:p>
        </p:txBody>
      </p:sp>
      <p:sp>
        <p:nvSpPr>
          <p:cNvPr id="18" name="Rounded Rectangle 16"/>
          <p:cNvSpPr/>
          <p:nvPr/>
        </p:nvSpPr>
        <p:spPr>
          <a:xfrm>
            <a:off x="6187425" y="4681728"/>
            <a:ext cx="262736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9" name="Rectangle 17"/>
          <p:cNvSpPr/>
          <p:nvPr/>
        </p:nvSpPr>
        <p:spPr>
          <a:xfrm>
            <a:off x="6187425" y="4681728"/>
            <a:ext cx="2627368" cy="4572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0" name="TextBox 18"/>
          <p:cNvSpPr txBox="1"/>
          <p:nvPr/>
        </p:nvSpPr>
        <p:spPr>
          <a:xfrm>
            <a:off x="6352017" y="4809744"/>
            <a:ext cx="2298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50" b="1" spc="80">
                <a:solidFill>
                  <a:srgbClr val="1F7A4D"/>
                </a:solidFill>
                <a:latin typeface="微软雅黑"/>
                <a:ea typeface="微软雅黑"/>
                <a:cs typeface="微软雅黑"/>
              </a:rPr>
              <a:t>节　能</a:t>
            </a:r>
          </a:p>
        </p:txBody>
      </p:sp>
      <p:sp>
        <p:nvSpPr>
          <p:cNvPr id="21" name="TextBox 19"/>
          <p:cNvSpPr txBox="1"/>
          <p:nvPr/>
        </p:nvSpPr>
        <p:spPr>
          <a:xfrm>
            <a:off x="6352017" y="5102352"/>
            <a:ext cx="229818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4000"/>
              </a:lnSpc>
              <a:buNone/>
            </a:pP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综合运行能耗降低 20%~30%</a:t>
            </a:r>
          </a:p>
        </p:txBody>
      </p:sp>
      <p:sp>
        <p:nvSpPr>
          <p:cNvPr id="22" name="Rounded Rectangle 20"/>
          <p:cNvSpPr/>
          <p:nvPr/>
        </p:nvSpPr>
        <p:spPr>
          <a:xfrm>
            <a:off x="8997673" y="4681728"/>
            <a:ext cx="262736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3" name="Rectangle 21"/>
          <p:cNvSpPr/>
          <p:nvPr/>
        </p:nvSpPr>
        <p:spPr>
          <a:xfrm>
            <a:off x="8997673" y="4681728"/>
            <a:ext cx="2627368" cy="4572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4" name="TextBox 22"/>
          <p:cNvSpPr txBox="1"/>
          <p:nvPr/>
        </p:nvSpPr>
        <p:spPr>
          <a:xfrm>
            <a:off x="9162265" y="4809744"/>
            <a:ext cx="2298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50" b="1" spc="80">
                <a:solidFill>
                  <a:srgbClr val="B9282C"/>
                </a:solidFill>
                <a:latin typeface="微软雅黑"/>
                <a:ea typeface="微软雅黑"/>
                <a:cs typeface="微软雅黑"/>
              </a:rPr>
              <a:t>可验证</a:t>
            </a:r>
          </a:p>
        </p:txBody>
      </p:sp>
      <p:sp>
        <p:nvSpPr>
          <p:cNvPr id="25" name="TextBox 23"/>
          <p:cNvSpPr txBox="1"/>
          <p:nvPr/>
        </p:nvSpPr>
        <p:spPr>
          <a:xfrm>
            <a:off x="9162265" y="5102352"/>
            <a:ext cx="229818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4000"/>
              </a:lnSpc>
              <a:buNone/>
            </a:pPr>
            <a:r>
              <a:rPr sz="108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已出具第三方检验检测报告</a:t>
            </a:r>
          </a:p>
        </p:txBody>
      </p:sp>
      <p:sp>
        <p:nvSpPr>
          <p:cNvPr id="26" name="Rounded Rectangle 24"/>
          <p:cNvSpPr/>
          <p:nvPr/>
        </p:nvSpPr>
        <p:spPr>
          <a:xfrm>
            <a:off x="566928" y="5687568"/>
            <a:ext cx="11058114" cy="621792"/>
          </a:xfrm>
          <a:prstGeom prst="roundRect">
            <a:avLst>
              <a:gd name="adj" fmla="val 4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rIns="310896" tIns="36576" bIns="36576" wrap="square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对标结论：以 </a:t>
            </a:r>
            <a:r>
              <a:rPr sz="15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56℃ 低温、连续一体化、20%~30% 综合节能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形成差异化；常温货架期与单位成本</a:t>
            </a:r>
            <a:r>
              <a:rPr sz="1500" b="1">
                <a:solidFill>
                  <a:srgbClr val="F2C879"/>
                </a:solidFill>
                <a:latin typeface="微软雅黑"/>
                <a:ea typeface="微软雅黑"/>
                <a:cs typeface="微软雅黑"/>
              </a:rPr>
              <a:t>以中试数据为准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Rectangle 25"/>
          <p:cNvSpPr/>
          <p:nvPr/>
        </p:nvSpPr>
        <p:spPr>
          <a:xfrm>
            <a:off x="749808" y="5815584"/>
            <a:ext cx="59436" cy="36576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8" name="TextBox 26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　|　对标口径：UHT / HPP 温度与压力区间取自原稿第 10 页及厂商公开资料；本项目数据取自第 16—18 页实验与第三方检测报告</a:t>
            </a:r>
          </a:p>
        </p:txBody>
      </p:sp>
      <p:sp>
        <p:nvSpPr>
          <p:cNvPr id="29" name="TextBox 27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15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970173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03 / 核心优势 · 核心技术 1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核心技术 1 · 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杀菌温度低，风味保留度好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3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4206240" cy="23042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0" name="Picture 8" descr="image.png"/>
          <p:cNvPicPr>
            <a:picLocks noChangeAspect="1"/>
          </p:cNvPicPr>
          <p:nvPr/>
        </p:nvPicPr>
        <p:blipFill>
          <a:blip r:embed="rId7"/>
          <a:srcRect l="8800" r="8100" b="3700"/>
          <a:stretch>
            <a:fillRect/>
          </a:stretch>
        </p:blipFill>
        <p:spPr>
          <a:xfrm>
            <a:off x="1353301" y="1335024"/>
            <a:ext cx="2633493" cy="1700784"/>
          </a:xfrm>
          <a:prstGeom prst="rect">
            <a:avLst/>
          </a:prstGeom>
          <a:effectLst/>
        </p:spPr>
      </p:pic>
      <p:sp>
        <p:nvSpPr>
          <p:cNvPr id="11" name="TextBox 9"/>
          <p:cNvSpPr txBox="1"/>
          <p:nvPr/>
        </p:nvSpPr>
        <p:spPr>
          <a:xfrm>
            <a:off x="731520" y="3072384"/>
            <a:ext cx="387705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20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杀菌温度对照：</a:t>
            </a:r>
            <a:r>
              <a:rPr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85℃ → 56℃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566928" y="3657600"/>
            <a:ext cx="4206240" cy="23042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Round Same Side Corner Rectangle 11"/>
          <p:cNvSpPr/>
          <p:nvPr/>
        </p:nvSpPr>
        <p:spPr>
          <a:xfrm>
            <a:off x="566928" y="3657600"/>
            <a:ext cx="4206240" cy="475488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第三方检验检测报告</a:t>
            </a:r>
          </a:p>
        </p:txBody>
      </p:sp>
      <p:pic>
        <p:nvPicPr>
          <p:cNvPr id="14" name="Picture 12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720" y="4242816"/>
            <a:ext cx="956800" cy="1353312"/>
          </a:xfrm>
          <a:prstGeom prst="rect">
            <a:avLst/>
          </a:prstGeom>
          <a:ln w="12700">
            <a:solidFill>
              <a:srgbClr val="CFDEEA"/>
            </a:solidFill>
          </a:ln>
          <a:effectLst/>
        </p:spPr>
      </p:pic>
      <p:pic>
        <p:nvPicPr>
          <p:cNvPr id="15" name="Picture 1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648" y="4242816"/>
            <a:ext cx="956800" cy="1353312"/>
          </a:xfrm>
          <a:prstGeom prst="rect">
            <a:avLst/>
          </a:prstGeom>
          <a:ln w="12700">
            <a:solidFill>
              <a:srgbClr val="CFDEEA"/>
            </a:solidFill>
          </a:ln>
          <a:effectLst/>
        </p:spPr>
      </p:pic>
      <p:pic>
        <p:nvPicPr>
          <p:cNvPr id="16" name="Picture 14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576" y="4242816"/>
            <a:ext cx="956800" cy="1353312"/>
          </a:xfrm>
          <a:prstGeom prst="rect">
            <a:avLst/>
          </a:prstGeom>
          <a:ln w="12700">
            <a:solidFill>
              <a:srgbClr val="CFDEEA"/>
            </a:solidFill>
          </a:ln>
          <a:effectLst/>
        </p:spPr>
      </p:pic>
      <p:sp>
        <p:nvSpPr>
          <p:cNvPr id="17" name="TextBox 15"/>
          <p:cNvSpPr txBox="1"/>
          <p:nvPr/>
        </p:nvSpPr>
        <p:spPr>
          <a:xfrm>
            <a:off x="731520" y="5632704"/>
            <a:ext cx="387705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10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天津市食品安全检测技术研究院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4956048" y="1207008"/>
            <a:ext cx="666899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8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突破传统热杀菌限制，实现低温高效灭菌</a:t>
            </a:r>
          </a:p>
        </p:txBody>
      </p:sp>
      <p:sp>
        <p:nvSpPr>
          <p:cNvPr id="19" name="TextBox 17"/>
          <p:cNvSpPr txBox="1"/>
          <p:nvPr/>
        </p:nvSpPr>
        <p:spPr>
          <a:xfrm>
            <a:off x="4956048" y="1645920"/>
            <a:ext cx="6668994" cy="9875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52000"/>
              </a:lnSpc>
              <a:buNone/>
            </a:pPr>
            <a:r>
              <a:rPr sz="14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超声杀菌技术通过物理能场作用，破坏微生物细胞结构，降低杀菌温度，实现高效杀菌。在 </a:t>
            </a:r>
            <a:r>
              <a:rPr sz="14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56℃</a:t>
            </a:r>
            <a:r>
              <a:rPr sz="14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 低温条件下达到良好杀菌效果，同时显著降低风味物质损失，提升产品品质，实现营养、香气及口感的有效保留。</a:t>
            </a:r>
          </a:p>
        </p:txBody>
      </p:sp>
      <p:sp>
        <p:nvSpPr>
          <p:cNvPr id="20" name="Rounded Rectangle 18"/>
          <p:cNvSpPr/>
          <p:nvPr/>
        </p:nvSpPr>
        <p:spPr>
          <a:xfrm>
            <a:off x="4956048" y="2816352"/>
            <a:ext cx="6668994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1" name="Round Same Side Corner Rectangle 19"/>
          <p:cNvSpPr/>
          <p:nvPr/>
        </p:nvSpPr>
        <p:spPr>
          <a:xfrm>
            <a:off x="4956048" y="2816352"/>
            <a:ext cx="6668994" cy="475488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风味物质总离子流色谱对照（超声杀菌 / 传统热杀菌）</a:t>
            </a:r>
          </a:p>
        </p:txBody>
      </p:sp>
      <p:pic>
        <p:nvPicPr>
          <p:cNvPr id="22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4660" y="3401568"/>
            <a:ext cx="4891770" cy="2395728"/>
          </a:xfrm>
          <a:prstGeom prst="rect">
            <a:avLst/>
          </a:prstGeom>
          <a:effectLst/>
        </p:spPr>
      </p:pic>
      <p:sp>
        <p:nvSpPr>
          <p:cNvPr id="23" name="TextBox 21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24" name="TextBox 22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16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10986743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9E7C28DC-31FA-37C9-A0A6-C7B66327E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03 / 核心优势 · 核心技术 2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核心技术 2 · 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多级工艺整合实现节能降耗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70432"/>
            <a:ext cx="11058114" cy="1024128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19456" tIns="54864" bIns="54864"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14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工艺协同　</a:t>
            </a:r>
            <a:r>
              <a:rPr sz="14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高效萃取 ＋ 低温超声杀菌</a:t>
            </a:r>
            <a:r>
              <a:rPr sz="140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，实现低温高效处理，大幅降低传统热杀菌与萃取的高能耗</a:t>
            </a:r>
          </a:p>
          <a:p>
            <a:pPr algn="l">
              <a:lnSpc>
                <a:spcPct val="130000"/>
              </a:lnSpc>
              <a:buNone/>
            </a:pPr>
            <a:r>
              <a:rPr sz="14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智能匹配　</a:t>
            </a:r>
            <a:r>
              <a:rPr sz="14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传感闭环 ＋ PLC 精准调控</a:t>
            </a:r>
            <a:r>
              <a:rPr sz="140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，实现按需供能与动态匹配，综合降低运行能耗 </a:t>
            </a:r>
            <a:r>
              <a:rPr sz="14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20%~30%</a:t>
            </a:r>
          </a:p>
        </p:txBody>
      </p:sp>
      <p:sp>
        <p:nvSpPr>
          <p:cNvPr id="10" name="Rectangle 8"/>
          <p:cNvSpPr/>
          <p:nvPr/>
        </p:nvSpPr>
        <p:spPr>
          <a:xfrm>
            <a:off x="566928" y="1170432"/>
            <a:ext cx="54864" cy="1024128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ounded Rectangle 9"/>
          <p:cNvSpPr/>
          <p:nvPr/>
        </p:nvSpPr>
        <p:spPr>
          <a:xfrm>
            <a:off x="4590288" y="2359152"/>
            <a:ext cx="3017520" cy="3438144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2" name="Picture 10" descr="image.png"/>
          <p:cNvPicPr>
            <a:picLocks noChangeAspect="1"/>
          </p:cNvPicPr>
          <p:nvPr/>
        </p:nvPicPr>
        <p:blipFill>
          <a:blip r:embed="rId10"/>
          <a:srcRect l="14300" r="12700" t="16500" b="14300"/>
          <a:stretch>
            <a:fillRect/>
          </a:stretch>
        </p:blipFill>
        <p:spPr>
          <a:xfrm>
            <a:off x="4791456" y="2837754"/>
            <a:ext cx="2615184" cy="2005451"/>
          </a:xfrm>
          <a:prstGeom prst="rect">
            <a:avLst/>
          </a:prstGeom>
          <a:effectLst/>
        </p:spPr>
      </p:pic>
      <p:sp>
        <p:nvSpPr>
          <p:cNvPr id="13" name="Rounded Rectangle 11"/>
          <p:cNvSpPr/>
          <p:nvPr/>
        </p:nvSpPr>
        <p:spPr>
          <a:xfrm>
            <a:off x="5001768" y="5175504"/>
            <a:ext cx="2194560" cy="475488"/>
          </a:xfrm>
          <a:prstGeom prst="roundRect">
            <a:avLst>
              <a:gd name="adj" fmla="val 800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91440" wrap="square">
            <a:noAutofit/>
          </a:bodyPr>
          <a:lstStyle/>
          <a:p>
            <a:pPr algn="ctr">
              <a:buNone/>
            </a:pPr>
            <a:r>
              <a:rPr sz="1550" b="1" spc="12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技术集成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566928" y="2359152"/>
            <a:ext cx="3566160" cy="1645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5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44" y="2520327"/>
            <a:ext cx="1481328" cy="1323569"/>
          </a:xfrm>
          <a:prstGeom prst="rect">
            <a:avLst/>
          </a:prstGeom>
          <a:effectLst/>
        </p:spPr>
      </p:pic>
      <p:sp>
        <p:nvSpPr>
          <p:cNvPr id="16" name="TextBox 14"/>
          <p:cNvSpPr txBox="1"/>
          <p:nvPr/>
        </p:nvSpPr>
        <p:spPr>
          <a:xfrm>
            <a:off x="2286000" y="2798064"/>
            <a:ext cx="1719072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工业级萃取泵</a:t>
            </a:r>
          </a:p>
        </p:txBody>
      </p:sp>
      <p:sp>
        <p:nvSpPr>
          <p:cNvPr id="17" name="Rectangle 15"/>
          <p:cNvSpPr/>
          <p:nvPr/>
        </p:nvSpPr>
        <p:spPr>
          <a:xfrm>
            <a:off x="2286000" y="3236976"/>
            <a:ext cx="384048" cy="20117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8" name="TextBox 16"/>
          <p:cNvSpPr txBox="1"/>
          <p:nvPr/>
        </p:nvSpPr>
        <p:spPr>
          <a:xfrm>
            <a:off x="2286000" y="33467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高效萃取</a:t>
            </a:r>
          </a:p>
        </p:txBody>
      </p:sp>
      <p:cxnSp>
        <p:nvCxnSpPr>
          <p:cNvPr id="19" name="Connector 17"/>
          <p:cNvCxnSpPr/>
          <p:nvPr/>
        </p:nvCxnSpPr>
        <p:spPr>
          <a:xfrm>
            <a:off x="4206240" y="3182112"/>
            <a:ext cx="310896" cy="0"/>
          </a:xfrm>
          <a:prstGeom prst="line">
            <a:avLst/>
          </a:prstGeom>
          <a:ln w="19050">
            <a:solidFill>
              <a:srgbClr val="1E59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8"/>
          <p:cNvSpPr/>
          <p:nvPr/>
        </p:nvSpPr>
        <p:spPr>
          <a:xfrm>
            <a:off x="566928" y="4151376"/>
            <a:ext cx="3566160" cy="1645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21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747164"/>
            <a:ext cx="704088" cy="454344"/>
          </a:xfrm>
          <a:prstGeom prst="rect">
            <a:avLst/>
          </a:prstGeom>
          <a:effectLst/>
        </p:spPr>
      </p:pic>
      <p:pic>
        <p:nvPicPr>
          <p:cNvPr id="22" name="Picture 20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2184" y="4425277"/>
            <a:ext cx="704088" cy="1098119"/>
          </a:xfrm>
          <a:prstGeom prst="rect">
            <a:avLst/>
          </a:prstGeom>
          <a:effectLst/>
        </p:spPr>
      </p:pic>
      <p:sp>
        <p:nvSpPr>
          <p:cNvPr id="23" name="TextBox 21"/>
          <p:cNvSpPr txBox="1"/>
          <p:nvPr/>
        </p:nvSpPr>
        <p:spPr>
          <a:xfrm>
            <a:off x="2286000" y="4590288"/>
            <a:ext cx="1719072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超声杀菌系统</a:t>
            </a:r>
          </a:p>
        </p:txBody>
      </p:sp>
      <p:sp>
        <p:nvSpPr>
          <p:cNvPr id="24" name="Rectangle 22"/>
          <p:cNvSpPr/>
          <p:nvPr/>
        </p:nvSpPr>
        <p:spPr>
          <a:xfrm>
            <a:off x="2286000" y="5029200"/>
            <a:ext cx="384048" cy="20117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5" name="TextBox 23"/>
          <p:cNvSpPr txBox="1"/>
          <p:nvPr/>
        </p:nvSpPr>
        <p:spPr>
          <a:xfrm>
            <a:off x="2286000" y="5138928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低温超声杀菌</a:t>
            </a:r>
          </a:p>
        </p:txBody>
      </p:sp>
      <p:cxnSp>
        <p:nvCxnSpPr>
          <p:cNvPr id="26" name="Connector 24"/>
          <p:cNvCxnSpPr/>
          <p:nvPr/>
        </p:nvCxnSpPr>
        <p:spPr>
          <a:xfrm>
            <a:off x="4206240" y="4974336"/>
            <a:ext cx="310896" cy="0"/>
          </a:xfrm>
          <a:prstGeom prst="line">
            <a:avLst/>
          </a:prstGeom>
          <a:ln w="19050">
            <a:solidFill>
              <a:srgbClr val="1E59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5"/>
          <p:cNvSpPr/>
          <p:nvPr/>
        </p:nvSpPr>
        <p:spPr>
          <a:xfrm>
            <a:off x="8065008" y="2359152"/>
            <a:ext cx="3566160" cy="1645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28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4" y="2717485"/>
            <a:ext cx="704088" cy="929253"/>
          </a:xfrm>
          <a:prstGeom prst="rect">
            <a:avLst/>
          </a:prstGeom>
          <a:effectLst/>
        </p:spPr>
      </p:pic>
      <p:pic>
        <p:nvPicPr>
          <p:cNvPr id="29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0264" y="2778062"/>
            <a:ext cx="704088" cy="808101"/>
          </a:xfrm>
          <a:prstGeom prst="rect">
            <a:avLst/>
          </a:prstGeom>
          <a:effectLst/>
        </p:spPr>
      </p:pic>
      <p:sp>
        <p:nvSpPr>
          <p:cNvPr id="30" name="TextBox 28"/>
          <p:cNvSpPr txBox="1"/>
          <p:nvPr/>
        </p:nvSpPr>
        <p:spPr>
          <a:xfrm>
            <a:off x="9784080" y="2798064"/>
            <a:ext cx="1719072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温度、流量传感系统</a:t>
            </a:r>
          </a:p>
        </p:txBody>
      </p:sp>
      <p:sp>
        <p:nvSpPr>
          <p:cNvPr id="31" name="Rectangle 29"/>
          <p:cNvSpPr/>
          <p:nvPr/>
        </p:nvSpPr>
        <p:spPr>
          <a:xfrm>
            <a:off x="9784080" y="3236976"/>
            <a:ext cx="384048" cy="20117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2" name="TextBox 30"/>
          <p:cNvSpPr txBox="1"/>
          <p:nvPr/>
        </p:nvSpPr>
        <p:spPr>
          <a:xfrm>
            <a:off x="9784080" y="33467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传感闭环</a:t>
            </a:r>
          </a:p>
        </p:txBody>
      </p:sp>
      <p:cxnSp>
        <p:nvCxnSpPr>
          <p:cNvPr id="33" name="Connector 31"/>
          <p:cNvCxnSpPr/>
          <p:nvPr/>
        </p:nvCxnSpPr>
        <p:spPr>
          <a:xfrm flipH="1">
            <a:off x="7680960" y="3182112"/>
            <a:ext cx="310896" cy="0"/>
          </a:xfrm>
          <a:prstGeom prst="line">
            <a:avLst/>
          </a:prstGeom>
          <a:ln w="19050">
            <a:solidFill>
              <a:srgbClr val="1E59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2"/>
          <p:cNvSpPr/>
          <p:nvPr/>
        </p:nvSpPr>
        <p:spPr>
          <a:xfrm>
            <a:off x="8065008" y="4151376"/>
            <a:ext cx="3566160" cy="1645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35" name="Picture 3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024" y="4504393"/>
            <a:ext cx="704088" cy="939886"/>
          </a:xfrm>
          <a:prstGeom prst="rect">
            <a:avLst/>
          </a:prstGeom>
          <a:effectLst/>
        </p:spPr>
      </p:pic>
      <p:pic>
        <p:nvPicPr>
          <p:cNvPr id="36" name="Picture 3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0264" y="4504393"/>
            <a:ext cx="704088" cy="939886"/>
          </a:xfrm>
          <a:prstGeom prst="rect">
            <a:avLst/>
          </a:prstGeom>
          <a:effectLst/>
        </p:spPr>
      </p:pic>
      <p:sp>
        <p:nvSpPr>
          <p:cNvPr id="37" name="TextBox 35"/>
          <p:cNvSpPr txBox="1"/>
          <p:nvPr/>
        </p:nvSpPr>
        <p:spPr>
          <a:xfrm>
            <a:off x="9784080" y="4590288"/>
            <a:ext cx="1719072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PLC 管控系统</a:t>
            </a:r>
          </a:p>
        </p:txBody>
      </p:sp>
      <p:sp>
        <p:nvSpPr>
          <p:cNvPr id="38" name="Rectangle 36"/>
          <p:cNvSpPr/>
          <p:nvPr/>
        </p:nvSpPr>
        <p:spPr>
          <a:xfrm>
            <a:off x="9784080" y="5029200"/>
            <a:ext cx="384048" cy="20117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9" name="TextBox 37"/>
          <p:cNvSpPr txBox="1"/>
          <p:nvPr/>
        </p:nvSpPr>
        <p:spPr>
          <a:xfrm>
            <a:off x="9784080" y="5138928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精准调控</a:t>
            </a:r>
          </a:p>
        </p:txBody>
      </p:sp>
      <p:cxnSp>
        <p:nvCxnSpPr>
          <p:cNvPr id="40" name="Connector 38"/>
          <p:cNvCxnSpPr/>
          <p:nvPr/>
        </p:nvCxnSpPr>
        <p:spPr>
          <a:xfrm flipH="1">
            <a:off x="7680960" y="4974336"/>
            <a:ext cx="310896" cy="0"/>
          </a:xfrm>
          <a:prstGeom prst="line">
            <a:avLst/>
          </a:prstGeom>
          <a:ln w="19050">
            <a:solidFill>
              <a:srgbClr val="1E59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39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42" name="TextBox 40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17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3418211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725BE8CC-52F6-F1A4-1840-76929FE1B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03 / 核心优势 · 核心技术 3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核心技术 3 · </a:t>
            </a: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萃取与超声杀菌一体化装备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70432"/>
            <a:ext cx="11058114" cy="877824"/>
          </a:xfrm>
          <a:prstGeom prst="roundRect">
            <a:avLst>
              <a:gd name="adj" fmla="val 7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37744" tIns="54864" bIns="54864" wrap="square">
            <a:no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4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本装备将</a:t>
            </a:r>
            <a:r>
              <a:rPr sz="14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萃取混合</a:t>
            </a:r>
            <a:r>
              <a:rPr sz="14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sz="14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超声空化灭菌</a:t>
            </a:r>
            <a:r>
              <a:rPr sz="1450" b="0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两大核心技术集于一体，采用全封闭管道化连续作业模式，实现物料萃取与杀菌工艺的连续化闭环运行，在有效保留物料原有品质的同时大幅降低系统综合能耗。</a:t>
            </a:r>
          </a:p>
        </p:txBody>
      </p:sp>
      <p:sp>
        <p:nvSpPr>
          <p:cNvPr id="10" name="Rectangle 8"/>
          <p:cNvSpPr/>
          <p:nvPr/>
        </p:nvSpPr>
        <p:spPr>
          <a:xfrm>
            <a:off x="566928" y="1170432"/>
            <a:ext cx="54864" cy="87782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ounded Rectangle 9"/>
          <p:cNvSpPr/>
          <p:nvPr/>
        </p:nvSpPr>
        <p:spPr>
          <a:xfrm>
            <a:off x="566928" y="2121408"/>
            <a:ext cx="11058114" cy="38770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2" name="Round Same Side Corner Rectangle 10"/>
          <p:cNvSpPr/>
          <p:nvPr/>
        </p:nvSpPr>
        <p:spPr>
          <a:xfrm>
            <a:off x="566928" y="2121408"/>
            <a:ext cx="11058114" cy="457200"/>
          </a:xfrm>
          <a:prstGeom prst="round2SameRect">
            <a:avLst>
              <a:gd name="adj1" fmla="val 10000"/>
              <a:gd name="adj2" fmla="val 0"/>
            </a:avLst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0" bIns="0" wrap="square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萃取 — 超声杀菌一体化工艺流程图</a:t>
            </a:r>
          </a:p>
        </p:txBody>
      </p:sp>
      <p:pic>
        <p:nvPicPr>
          <p:cNvPr id="13" name="Picture 11" descr="image.png"/>
          <p:cNvPicPr>
            <a:picLocks noChangeAspect="1"/>
          </p:cNvPicPr>
          <p:nvPr/>
        </p:nvPicPr>
        <p:blipFill>
          <a:blip r:embed="rId3"/>
          <a:srcRect t="3200"/>
          <a:stretch>
            <a:fillRect/>
          </a:stretch>
        </p:blipFill>
        <p:spPr>
          <a:xfrm>
            <a:off x="2399340" y="2688336"/>
            <a:ext cx="7393289" cy="3145536"/>
          </a:xfrm>
          <a:prstGeom prst="rect">
            <a:avLst/>
          </a:prstGeom>
          <a:effectLst/>
        </p:spPr>
      </p:pic>
      <p:sp>
        <p:nvSpPr>
          <p:cNvPr id="14" name="TextBox 12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15" name="TextBox 13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18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46013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B65527A0-73EB-6A4F-E816-F914BC5F6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平行四边形 7"/>
          <p:cNvSpPr/>
          <p:nvPr/>
        </p:nvSpPr>
        <p:spPr>
          <a:xfrm>
            <a:off x="0" y="0"/>
            <a:ext cx="6428232" cy="6858000"/>
          </a:xfrm>
          <a:custGeom>
            <a:avLst/>
            <a:gdLst>
              <a:gd name="connsiteX0" fmla="*/ 0 w 6431042"/>
              <a:gd name="connsiteY0" fmla="*/ 6858001 h 6858001"/>
              <a:gd name="connsiteX1" fmla="*/ 2691520 w 6431042"/>
              <a:gd name="connsiteY1" fmla="*/ 0 h 6858001"/>
              <a:gd name="connsiteX2" fmla="*/ 6431042 w 6431042"/>
              <a:gd name="connsiteY2" fmla="*/ 0 h 6858001"/>
              <a:gd name="connsiteX3" fmla="*/ 3739522 w 6431042"/>
              <a:gd name="connsiteY3" fmla="*/ 6858001 h 6858001"/>
              <a:gd name="connsiteX4" fmla="*/ 0 w 6431042"/>
              <a:gd name="connsiteY4" fmla="*/ 6858001 h 6858001"/>
              <a:gd name="connsiteX0-1" fmla="*/ 0 w 6431042"/>
              <a:gd name="connsiteY0-2" fmla="*/ 6858001 h 6858001"/>
              <a:gd name="connsiteX1-3" fmla="*/ 1269120 w 6431042"/>
              <a:gd name="connsiteY1-4" fmla="*/ 0 h 6858001"/>
              <a:gd name="connsiteX2-5" fmla="*/ 6431042 w 6431042"/>
              <a:gd name="connsiteY2-6" fmla="*/ 0 h 6858001"/>
              <a:gd name="connsiteX3-7" fmla="*/ 3739522 w 6431042"/>
              <a:gd name="connsiteY3-8" fmla="*/ 6858001 h 6858001"/>
              <a:gd name="connsiteX4-9" fmla="*/ 0 w 6431042"/>
              <a:gd name="connsiteY4-10" fmla="*/ 6858001 h 68580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31042" h="6858001">
                <a:moveTo>
                  <a:pt x="0" y="6858001"/>
                </a:moveTo>
                <a:lnTo>
                  <a:pt x="1269120" y="0"/>
                </a:lnTo>
                <a:lnTo>
                  <a:pt x="6431042" y="0"/>
                </a:lnTo>
                <a:lnTo>
                  <a:pt x="3739522" y="6858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16416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矩形 8"/>
          <p:cNvSpPr/>
          <p:nvPr/>
        </p:nvSpPr>
        <p:spPr>
          <a:xfrm>
            <a:off x="0" y="-9144"/>
            <a:ext cx="2779776" cy="6867144"/>
          </a:xfrm>
          <a:custGeom>
            <a:avLst/>
            <a:gdLst>
              <a:gd name="connsiteX0" fmla="*/ 0 w 2783632"/>
              <a:gd name="connsiteY0" fmla="*/ 0 h 6858001"/>
              <a:gd name="connsiteX1" fmla="*/ 2783632 w 2783632"/>
              <a:gd name="connsiteY1" fmla="*/ 0 h 6858001"/>
              <a:gd name="connsiteX2" fmla="*/ 2783632 w 2783632"/>
              <a:gd name="connsiteY2" fmla="*/ 6858001 h 6858001"/>
              <a:gd name="connsiteX3" fmla="*/ 0 w 2783632"/>
              <a:gd name="connsiteY3" fmla="*/ 6858001 h 6858001"/>
              <a:gd name="connsiteX4" fmla="*/ 0 w 2783632"/>
              <a:gd name="connsiteY4" fmla="*/ 0 h 6858001"/>
              <a:gd name="connsiteX0-1" fmla="*/ 0 w 2783632"/>
              <a:gd name="connsiteY0-2" fmla="*/ 12700 h 6870701"/>
              <a:gd name="connsiteX1-3" fmla="*/ 1551732 w 2783632"/>
              <a:gd name="connsiteY1-4" fmla="*/ 0 h 6870701"/>
              <a:gd name="connsiteX2-5" fmla="*/ 2783632 w 2783632"/>
              <a:gd name="connsiteY2-6" fmla="*/ 6870701 h 6870701"/>
              <a:gd name="connsiteX3-7" fmla="*/ 0 w 2783632"/>
              <a:gd name="connsiteY3-8" fmla="*/ 6870701 h 6870701"/>
              <a:gd name="connsiteX4-9" fmla="*/ 0 w 2783632"/>
              <a:gd name="connsiteY4-10" fmla="*/ 12700 h 6870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783632" h="6870701">
                <a:moveTo>
                  <a:pt x="0" y="12700"/>
                </a:moveTo>
                <a:lnTo>
                  <a:pt x="1551732" y="0"/>
                </a:lnTo>
                <a:lnTo>
                  <a:pt x="2783632" y="6870701"/>
                </a:lnTo>
                <a:lnTo>
                  <a:pt x="0" y="6870701"/>
                </a:lnTo>
                <a:lnTo>
                  <a:pt x="0" y="12700"/>
                </a:lnTo>
                <a:close/>
              </a:path>
            </a:pathLst>
          </a:custGeom>
          <a:solidFill>
            <a:srgbClr val="1E59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tangle 9"/>
          <p:cNvSpPr/>
          <p:nvPr/>
        </p:nvSpPr>
        <p:spPr>
          <a:xfrm>
            <a:off x="12073098" y="0"/>
            <a:ext cx="118872" cy="685800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6" name="TextBox 10"/>
          <p:cNvSpPr txBox="1"/>
          <p:nvPr/>
        </p:nvSpPr>
        <p:spPr>
          <a:xfrm>
            <a:off x="274320" y="14447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300" b="1" spc="4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SECTION</a:t>
            </a:r>
          </a:p>
        </p:txBody>
      </p:sp>
      <p:sp>
        <p:nvSpPr>
          <p:cNvPr id="7" name="Rectangle 11"/>
          <p:cNvSpPr/>
          <p:nvPr/>
        </p:nvSpPr>
        <p:spPr>
          <a:xfrm>
            <a:off x="2606040" y="1828800"/>
            <a:ext cx="10058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8" name="TextBox 12"/>
          <p:cNvSpPr txBox="1"/>
          <p:nvPr/>
        </p:nvSpPr>
        <p:spPr>
          <a:xfrm>
            <a:off x="274320" y="201168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9" name="Rectangle 13"/>
          <p:cNvSpPr/>
          <p:nvPr/>
        </p:nvSpPr>
        <p:spPr>
          <a:xfrm>
            <a:off x="7178040" y="2139696"/>
            <a:ext cx="960120" cy="5486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TextBox 14"/>
          <p:cNvSpPr txBox="1"/>
          <p:nvPr/>
        </p:nvSpPr>
        <p:spPr>
          <a:xfrm>
            <a:off x="7178040" y="2322576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5200" b="1" spc="30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团队成员</a:t>
            </a:r>
          </a:p>
        </p:txBody>
      </p:sp>
      <p:sp>
        <p:nvSpPr>
          <p:cNvPr id="11" name="TextBox 15"/>
          <p:cNvSpPr txBox="1"/>
          <p:nvPr/>
        </p:nvSpPr>
        <p:spPr>
          <a:xfrm>
            <a:off x="7178040" y="331012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50" b="1" spc="2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OUR TEAM</a:t>
            </a:r>
          </a:p>
        </p:txBody>
      </p:sp>
      <p:sp>
        <p:nvSpPr>
          <p:cNvPr id="12" name="Rectangle 16"/>
          <p:cNvSpPr/>
          <p:nvPr/>
        </p:nvSpPr>
        <p:spPr>
          <a:xfrm>
            <a:off x="7178040" y="3712464"/>
            <a:ext cx="548640" cy="20117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TextBox 17"/>
          <p:cNvSpPr txBox="1"/>
          <p:nvPr/>
        </p:nvSpPr>
        <p:spPr>
          <a:xfrm>
            <a:off x="7178040" y="389534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4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机械与能源动力方向研究生团队，双负责人跨学科指导。</a:t>
            </a:r>
          </a:p>
        </p:txBody>
      </p:sp>
    </p:spTree>
    <p:extLst>
      <p:ext uri="{BB962C8B-B14F-4D97-AF65-F5344CB8AC3E}">
        <p14:creationId xmlns:p14="http://schemas.microsoft.com/office/powerpoint/2010/main" val="2523162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BC9E7A5-82B8-ADFD-0B5D-F1A20872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04 / 团队成员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研究生团队 · </a:t>
            </a: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机械 ＋ 能源动力交叉配置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8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188720"/>
            <a:ext cx="3514039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Rectangle 8"/>
          <p:cNvSpPr/>
          <p:nvPr/>
        </p:nvSpPr>
        <p:spPr>
          <a:xfrm>
            <a:off x="566928" y="1280160"/>
            <a:ext cx="54864" cy="2139696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1" name="Picture 9" descr="image.png"/>
          <p:cNvPicPr>
            <a:picLocks noChangeAspect="1"/>
          </p:cNvPicPr>
          <p:nvPr/>
        </p:nvPicPr>
        <p:blipFill>
          <a:blip r:embed="rId2"/>
          <a:srcRect t="11297" b="21929"/>
          <a:stretch>
            <a:fillRect/>
          </a:stretch>
        </p:blipFill>
        <p:spPr>
          <a:xfrm>
            <a:off x="749808" y="1353312"/>
            <a:ext cx="1060704" cy="1060704"/>
          </a:xfrm>
          <a:prstGeom prst="ellipse">
            <a:avLst/>
          </a:prstGeom>
          <a:effectLst/>
        </p:spPr>
      </p:pic>
      <p:sp>
        <p:nvSpPr>
          <p:cNvPr id="12" name="TextBox 10"/>
          <p:cNvSpPr txBox="1"/>
          <p:nvPr/>
        </p:nvSpPr>
        <p:spPr>
          <a:xfrm>
            <a:off x="2011680" y="1371600"/>
            <a:ext cx="19046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50" b="1" spc="6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苏  杭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2011680" y="1755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C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4" name="TextBox 12"/>
          <p:cNvSpPr txBox="1"/>
          <p:nvPr/>
        </p:nvSpPr>
        <p:spPr>
          <a:xfrm>
            <a:off x="2011680" y="2084832"/>
            <a:ext cx="19046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机械工程专业研究生</a:t>
            </a:r>
          </a:p>
        </p:txBody>
      </p:sp>
      <p:sp>
        <p:nvSpPr>
          <p:cNvPr id="15" name="Rectangle 13"/>
          <p:cNvSpPr/>
          <p:nvPr/>
        </p:nvSpPr>
        <p:spPr>
          <a:xfrm>
            <a:off x="749808" y="2505456"/>
            <a:ext cx="3148279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6" name="TextBox 14"/>
          <p:cNvSpPr txBox="1"/>
          <p:nvPr/>
        </p:nvSpPr>
        <p:spPr>
          <a:xfrm>
            <a:off x="749808" y="2596896"/>
            <a:ext cx="31482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38000"/>
              </a:lnSpc>
              <a:buNone/>
            </a:pPr>
            <a:r>
              <a:rPr sz="104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获第十七届“挑战杯”天津科技大学大学生课外学术科技作品竞赛市赛一等奖；获天津市知识产权创新创业发明与设计大赛“超声联合杀菌装置”校赛一等奖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4336999" y="1188720"/>
            <a:ext cx="3514039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8" name="Picture 16" descr="image.jpeg"/>
          <p:cNvPicPr>
            <a:picLocks noChangeAspect="1"/>
          </p:cNvPicPr>
          <p:nvPr/>
        </p:nvPicPr>
        <p:blipFill>
          <a:blip r:embed="rId4"/>
          <a:srcRect t="9567" b="18571"/>
          <a:stretch>
            <a:fillRect/>
          </a:stretch>
        </p:blipFill>
        <p:spPr>
          <a:xfrm>
            <a:off x="4519879" y="1353312"/>
            <a:ext cx="1060704" cy="1060704"/>
          </a:xfrm>
          <a:prstGeom prst="ellipse">
            <a:avLst/>
          </a:prstGeom>
          <a:effectLst/>
        </p:spPr>
      </p:pic>
      <p:sp>
        <p:nvSpPr>
          <p:cNvPr id="19" name="TextBox 17"/>
          <p:cNvSpPr txBox="1"/>
          <p:nvPr/>
        </p:nvSpPr>
        <p:spPr>
          <a:xfrm>
            <a:off x="5781751" y="1371600"/>
            <a:ext cx="19046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50" b="1" spc="6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袁祎晨</a:t>
            </a:r>
          </a:p>
        </p:txBody>
      </p:sp>
      <p:sp>
        <p:nvSpPr>
          <p:cNvPr id="20" name="TextBox 18"/>
          <p:cNvSpPr txBox="1"/>
          <p:nvPr/>
        </p:nvSpPr>
        <p:spPr>
          <a:xfrm>
            <a:off x="5781751" y="1773936"/>
            <a:ext cx="19046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能源动力专业研究生</a:t>
            </a:r>
          </a:p>
        </p:txBody>
      </p:sp>
      <p:sp>
        <p:nvSpPr>
          <p:cNvPr id="21" name="Rectangle 19"/>
          <p:cNvSpPr/>
          <p:nvPr/>
        </p:nvSpPr>
        <p:spPr>
          <a:xfrm>
            <a:off x="4519879" y="2505456"/>
            <a:ext cx="3148279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2" name="TextBox 20"/>
          <p:cNvSpPr txBox="1"/>
          <p:nvPr/>
        </p:nvSpPr>
        <p:spPr>
          <a:xfrm>
            <a:off x="4519879" y="2596896"/>
            <a:ext cx="31482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38000"/>
              </a:lnSpc>
              <a:buNone/>
            </a:pPr>
            <a:r>
              <a:rPr sz="104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获“初级工程师”证书；曾参加多项学科知识比赛；曾获国家电网北方客服中心优秀见习生。</a:t>
            </a:r>
          </a:p>
        </p:txBody>
      </p:sp>
      <p:sp>
        <p:nvSpPr>
          <p:cNvPr id="23" name="Rounded Rectangle 21"/>
          <p:cNvSpPr/>
          <p:nvPr/>
        </p:nvSpPr>
        <p:spPr>
          <a:xfrm>
            <a:off x="8107070" y="1188720"/>
            <a:ext cx="3514039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24" name="Picture 22" descr="image.jpeg"/>
          <p:cNvPicPr>
            <a:picLocks noChangeAspect="1"/>
          </p:cNvPicPr>
          <p:nvPr/>
        </p:nvPicPr>
        <p:blipFill>
          <a:blip r:embed="rId3"/>
          <a:srcRect t="11333" b="22000"/>
          <a:stretch>
            <a:fillRect/>
          </a:stretch>
        </p:blipFill>
        <p:spPr>
          <a:xfrm>
            <a:off x="8289950" y="1353312"/>
            <a:ext cx="1060704" cy="1060704"/>
          </a:xfrm>
          <a:prstGeom prst="ellipse">
            <a:avLst/>
          </a:prstGeom>
          <a:effectLst/>
        </p:spPr>
      </p:pic>
      <p:sp>
        <p:nvSpPr>
          <p:cNvPr id="25" name="TextBox 23"/>
          <p:cNvSpPr txBox="1"/>
          <p:nvPr/>
        </p:nvSpPr>
        <p:spPr>
          <a:xfrm>
            <a:off x="9551822" y="1371600"/>
            <a:ext cx="19046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50" b="1" spc="6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雷国豪</a:t>
            </a:r>
          </a:p>
        </p:txBody>
      </p:sp>
      <p:sp>
        <p:nvSpPr>
          <p:cNvPr id="26" name="TextBox 24"/>
          <p:cNvSpPr txBox="1"/>
          <p:nvPr/>
        </p:nvSpPr>
        <p:spPr>
          <a:xfrm>
            <a:off x="9551822" y="1773936"/>
            <a:ext cx="19046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机械工程专业研究生</a:t>
            </a:r>
          </a:p>
        </p:txBody>
      </p:sp>
      <p:sp>
        <p:nvSpPr>
          <p:cNvPr id="27" name="Rectangle 25"/>
          <p:cNvSpPr/>
          <p:nvPr/>
        </p:nvSpPr>
        <p:spPr>
          <a:xfrm>
            <a:off x="8289950" y="2505456"/>
            <a:ext cx="3148279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8" name="TextBox 26"/>
          <p:cNvSpPr txBox="1"/>
          <p:nvPr/>
        </p:nvSpPr>
        <p:spPr>
          <a:xfrm>
            <a:off x="8289950" y="2596896"/>
            <a:ext cx="31482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38000"/>
              </a:lnSpc>
              <a:buNone/>
            </a:pPr>
            <a:r>
              <a:rPr sz="104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曾获第一届天津市节能减排社会实践与科技竞赛市赛三等奖；熟练运用各类办公软件。</a:t>
            </a:r>
          </a:p>
        </p:txBody>
      </p:sp>
      <p:sp>
        <p:nvSpPr>
          <p:cNvPr id="29" name="Rounded Rectangle 27"/>
          <p:cNvSpPr/>
          <p:nvPr/>
        </p:nvSpPr>
        <p:spPr>
          <a:xfrm>
            <a:off x="566928" y="3694176"/>
            <a:ext cx="3514039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30" name="Picture 28" descr="image.jpeg"/>
          <p:cNvPicPr>
            <a:picLocks noChangeAspect="1"/>
          </p:cNvPicPr>
          <p:nvPr/>
        </p:nvPicPr>
        <p:blipFill>
          <a:blip r:embed="rId7"/>
          <a:srcRect t="9691" b="18812"/>
          <a:stretch>
            <a:fillRect/>
          </a:stretch>
        </p:blipFill>
        <p:spPr>
          <a:xfrm>
            <a:off x="749808" y="3858768"/>
            <a:ext cx="1060704" cy="1060704"/>
          </a:xfrm>
          <a:prstGeom prst="ellipse">
            <a:avLst/>
          </a:prstGeom>
          <a:effectLst/>
        </p:spPr>
      </p:pic>
      <p:sp>
        <p:nvSpPr>
          <p:cNvPr id="31" name="TextBox 29"/>
          <p:cNvSpPr txBox="1"/>
          <p:nvPr/>
        </p:nvSpPr>
        <p:spPr>
          <a:xfrm>
            <a:off x="2011680" y="3877056"/>
            <a:ext cx="19046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50" b="1" spc="6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李丽梅</a:t>
            </a:r>
          </a:p>
        </p:txBody>
      </p:sp>
      <p:sp>
        <p:nvSpPr>
          <p:cNvPr id="32" name="TextBox 30"/>
          <p:cNvSpPr txBox="1"/>
          <p:nvPr/>
        </p:nvSpPr>
        <p:spPr>
          <a:xfrm>
            <a:off x="2011680" y="4279392"/>
            <a:ext cx="19046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机械专业博士生</a:t>
            </a:r>
          </a:p>
        </p:txBody>
      </p:sp>
      <p:sp>
        <p:nvSpPr>
          <p:cNvPr id="33" name="Rectangle 31"/>
          <p:cNvSpPr/>
          <p:nvPr/>
        </p:nvSpPr>
        <p:spPr>
          <a:xfrm>
            <a:off x="749808" y="5010912"/>
            <a:ext cx="3148279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34" name="TextBox 32"/>
          <p:cNvSpPr txBox="1"/>
          <p:nvPr/>
        </p:nvSpPr>
        <p:spPr>
          <a:xfrm>
            <a:off x="749808" y="5102352"/>
            <a:ext cx="31482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38000"/>
              </a:lnSpc>
              <a:buNone/>
            </a:pPr>
            <a:r>
              <a:rPr sz="104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发表论文 6 篇，授权发明专利 9 篇</a:t>
            </a:r>
          </a:p>
        </p:txBody>
      </p:sp>
      <p:sp>
        <p:nvSpPr>
          <p:cNvPr id="35" name="Rounded Rectangle 33"/>
          <p:cNvSpPr/>
          <p:nvPr/>
        </p:nvSpPr>
        <p:spPr>
          <a:xfrm>
            <a:off x="4336999" y="3694176"/>
            <a:ext cx="3514039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36" name="Picture 34" descr="image.jpeg"/>
          <p:cNvPicPr>
            <a:picLocks noChangeAspect="1"/>
          </p:cNvPicPr>
          <p:nvPr/>
        </p:nvPicPr>
        <p:blipFill>
          <a:blip r:embed="rId6"/>
          <a:srcRect t="8300" b="16113"/>
          <a:stretch>
            <a:fillRect/>
          </a:stretch>
        </p:blipFill>
        <p:spPr>
          <a:xfrm>
            <a:off x="4519879" y="3858768"/>
            <a:ext cx="1060704" cy="1060704"/>
          </a:xfrm>
          <a:prstGeom prst="ellipse">
            <a:avLst/>
          </a:prstGeom>
          <a:effectLst/>
        </p:spPr>
      </p:pic>
      <p:sp>
        <p:nvSpPr>
          <p:cNvPr id="37" name="TextBox 35"/>
          <p:cNvSpPr txBox="1"/>
          <p:nvPr/>
        </p:nvSpPr>
        <p:spPr>
          <a:xfrm>
            <a:off x="5781751" y="3877056"/>
            <a:ext cx="19046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50" b="1" spc="6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张善槟</a:t>
            </a:r>
          </a:p>
        </p:txBody>
      </p:sp>
      <p:sp>
        <p:nvSpPr>
          <p:cNvPr id="38" name="TextBox 36"/>
          <p:cNvSpPr txBox="1"/>
          <p:nvPr/>
        </p:nvSpPr>
        <p:spPr>
          <a:xfrm>
            <a:off x="5781751" y="4279392"/>
            <a:ext cx="19046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能源动力专业研究生</a:t>
            </a:r>
          </a:p>
        </p:txBody>
      </p:sp>
      <p:sp>
        <p:nvSpPr>
          <p:cNvPr id="39" name="Rectangle 37"/>
          <p:cNvSpPr/>
          <p:nvPr/>
        </p:nvSpPr>
        <p:spPr>
          <a:xfrm>
            <a:off x="4519879" y="5010912"/>
            <a:ext cx="3148279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0" name="TextBox 38"/>
          <p:cNvSpPr txBox="1"/>
          <p:nvPr/>
        </p:nvSpPr>
        <p:spPr>
          <a:xfrm>
            <a:off x="4519879" y="5102352"/>
            <a:ext cx="31482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38000"/>
              </a:lnSpc>
              <a:buNone/>
            </a:pPr>
            <a:r>
              <a:rPr sz="104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获天津科技大学第一届校友创新创业大赛学生组二等奖</a:t>
            </a:r>
          </a:p>
        </p:txBody>
      </p:sp>
      <p:sp>
        <p:nvSpPr>
          <p:cNvPr id="41" name="Rounded Rectangle 39"/>
          <p:cNvSpPr/>
          <p:nvPr/>
        </p:nvSpPr>
        <p:spPr>
          <a:xfrm>
            <a:off x="8107070" y="3694176"/>
            <a:ext cx="3514039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42" name="Picture 40" descr="image.jpeg"/>
          <p:cNvPicPr>
            <a:picLocks noChangeAspect="1"/>
          </p:cNvPicPr>
          <p:nvPr/>
        </p:nvPicPr>
        <p:blipFill>
          <a:blip r:embed="rId5"/>
          <a:srcRect t="8422" b="16349"/>
          <a:stretch>
            <a:fillRect/>
          </a:stretch>
        </p:blipFill>
        <p:spPr>
          <a:xfrm>
            <a:off x="8289950" y="3858768"/>
            <a:ext cx="1060704" cy="1060704"/>
          </a:xfrm>
          <a:prstGeom prst="ellipse">
            <a:avLst/>
          </a:prstGeom>
          <a:effectLst/>
        </p:spPr>
      </p:pic>
      <p:sp>
        <p:nvSpPr>
          <p:cNvPr id="43" name="TextBox 41"/>
          <p:cNvSpPr txBox="1"/>
          <p:nvPr/>
        </p:nvSpPr>
        <p:spPr>
          <a:xfrm>
            <a:off x="9551822" y="3877056"/>
            <a:ext cx="19046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750" b="1" spc="6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马建斌</a:t>
            </a:r>
          </a:p>
        </p:txBody>
      </p:sp>
      <p:sp>
        <p:nvSpPr>
          <p:cNvPr id="44" name="TextBox 42"/>
          <p:cNvSpPr txBox="1"/>
          <p:nvPr/>
        </p:nvSpPr>
        <p:spPr>
          <a:xfrm>
            <a:off x="9551822" y="4279392"/>
            <a:ext cx="190469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能源动力专业研究生</a:t>
            </a:r>
          </a:p>
        </p:txBody>
      </p:sp>
      <p:sp>
        <p:nvSpPr>
          <p:cNvPr id="45" name="Rectangle 43"/>
          <p:cNvSpPr/>
          <p:nvPr/>
        </p:nvSpPr>
        <p:spPr>
          <a:xfrm>
            <a:off x="8289950" y="5010912"/>
            <a:ext cx="3148279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6" name="TextBox 44"/>
          <p:cNvSpPr txBox="1"/>
          <p:nvPr/>
        </p:nvSpPr>
        <p:spPr>
          <a:xfrm>
            <a:off x="8289950" y="5102352"/>
            <a:ext cx="31482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38000"/>
              </a:lnSpc>
              <a:buNone/>
            </a:pPr>
            <a:r>
              <a:rPr sz="104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获天津科技大学第一届校友创新创业大赛学生组二等奖</a:t>
            </a:r>
          </a:p>
        </p:txBody>
      </p:sp>
      <p:sp>
        <p:nvSpPr>
          <p:cNvPr id="47" name="TextBox 45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48" name="TextBox 46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20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14075551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39B645BC-ABCC-0BA2-4173-120DB73E5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04 / 团队成员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指导教师 · </a:t>
            </a: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理工 ＋ 人文社科双负责人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4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225296"/>
            <a:ext cx="11058114" cy="23042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Rectangle 8"/>
          <p:cNvSpPr/>
          <p:nvPr/>
        </p:nvSpPr>
        <p:spPr>
          <a:xfrm>
            <a:off x="566928" y="1335024"/>
            <a:ext cx="54864" cy="2084832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1" name="Picture 9" descr="image.jpeg"/>
          <p:cNvPicPr>
            <a:picLocks noChangeAspect="1"/>
          </p:cNvPicPr>
          <p:nvPr/>
        </p:nvPicPr>
        <p:blipFill>
          <a:blip r:embed="rId2"/>
          <a:srcRect t="2982" b="4866"/>
          <a:stretch>
            <a:fillRect/>
          </a:stretch>
        </p:blipFill>
        <p:spPr>
          <a:xfrm>
            <a:off x="804672" y="1426464"/>
            <a:ext cx="1444752" cy="1901952"/>
          </a:xfrm>
          <a:prstGeom prst="roundRect">
            <a:avLst>
              <a:gd name="adj" fmla="val 5000"/>
            </a:avLst>
          </a:prstGeom>
          <a:ln w="12700">
            <a:solidFill>
              <a:srgbClr val="CFDEEA"/>
            </a:solidFill>
          </a:ln>
          <a:effectLst/>
        </p:spPr>
      </p:pic>
      <p:sp>
        <p:nvSpPr>
          <p:cNvPr id="12" name="TextBox 10"/>
          <p:cNvSpPr txBox="1"/>
          <p:nvPr/>
        </p:nvSpPr>
        <p:spPr>
          <a:xfrm>
            <a:off x="2560320" y="1444752"/>
            <a:ext cx="879040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300" b="1" spc="12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宋继田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4041648" y="1517904"/>
            <a:ext cx="1874520" cy="310896"/>
          </a:xfrm>
          <a:prstGeom prst="roundRect">
            <a:avLst>
              <a:gd name="adj" fmla="val 50000"/>
            </a:avLst>
          </a:prstGeom>
          <a:solidFill>
            <a:srgbClr val="C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理工科负责人</a:t>
            </a:r>
          </a:p>
        </p:txBody>
      </p:sp>
      <p:sp>
        <p:nvSpPr>
          <p:cNvPr id="14" name="TextBox 12"/>
          <p:cNvSpPr txBox="1"/>
          <p:nvPr/>
        </p:nvSpPr>
        <p:spPr>
          <a:xfrm>
            <a:off x="2560320" y="1938528"/>
            <a:ext cx="879040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天津科技大学教授；博士生导师；全国蒸发结晶学组专家</a:t>
            </a:r>
          </a:p>
        </p:txBody>
      </p:sp>
      <p:sp>
        <p:nvSpPr>
          <p:cNvPr id="15" name="Rectangle 13"/>
          <p:cNvSpPr/>
          <p:nvPr/>
        </p:nvSpPr>
        <p:spPr>
          <a:xfrm>
            <a:off x="2560320" y="2304288"/>
            <a:ext cx="8790402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6" name="TextBox 14"/>
          <p:cNvSpPr txBox="1"/>
          <p:nvPr/>
        </p:nvSpPr>
        <p:spPr>
          <a:xfrm>
            <a:off x="2560320" y="2414016"/>
            <a:ext cx="8790402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52000"/>
              </a:lnSpc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天津市轻工工程学会副理事长，天津市节能协会专家组成员，发表学术论文 90 余篇，主持完成省部级和横向科研项目 20 余项，申请并授权专利近 50 项。荣获 2019 年天津市专利优秀奖；获第三届中国创新挑战赛（宁夏）优胜奖（一等奖）。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566928" y="3749040"/>
            <a:ext cx="11058114" cy="23042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566928" y="3858768"/>
            <a:ext cx="54864" cy="2084832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pic>
        <p:nvPicPr>
          <p:cNvPr id="19" name="Picture 17" descr="image.png"/>
          <p:cNvPicPr>
            <a:picLocks noChangeAspect="1"/>
          </p:cNvPicPr>
          <p:nvPr/>
        </p:nvPicPr>
        <p:blipFill>
          <a:blip r:embed="rId3"/>
          <a:srcRect t="4823" b="7870"/>
          <a:stretch>
            <a:fillRect/>
          </a:stretch>
        </p:blipFill>
        <p:spPr>
          <a:xfrm>
            <a:off x="804672" y="3950208"/>
            <a:ext cx="1444752" cy="1901952"/>
          </a:xfrm>
          <a:prstGeom prst="roundRect">
            <a:avLst>
              <a:gd name="adj" fmla="val 5000"/>
            </a:avLst>
          </a:prstGeom>
          <a:ln w="12700">
            <a:solidFill>
              <a:srgbClr val="CFDEEA"/>
            </a:solidFill>
          </a:ln>
          <a:effectLst/>
        </p:spPr>
      </p:pic>
      <p:sp>
        <p:nvSpPr>
          <p:cNvPr id="20" name="TextBox 18"/>
          <p:cNvSpPr txBox="1"/>
          <p:nvPr/>
        </p:nvSpPr>
        <p:spPr>
          <a:xfrm>
            <a:off x="2560320" y="3968496"/>
            <a:ext cx="879040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300" b="1" spc="12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李金茹</a:t>
            </a:r>
          </a:p>
        </p:txBody>
      </p:sp>
      <p:sp>
        <p:nvSpPr>
          <p:cNvPr id="21" name="Rounded Rectangle 19"/>
          <p:cNvSpPr/>
          <p:nvPr/>
        </p:nvSpPr>
        <p:spPr>
          <a:xfrm>
            <a:off x="4041648" y="4041648"/>
            <a:ext cx="1874520" cy="310896"/>
          </a:xfrm>
          <a:prstGeom prst="roundRect">
            <a:avLst>
              <a:gd name="adj" fmla="val 50000"/>
            </a:avLst>
          </a:prstGeom>
          <a:solidFill>
            <a:srgbClr val="C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人文社科负责人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2560320" y="4462272"/>
            <a:ext cx="879040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天津科技大学副教授；硕士生导师</a:t>
            </a:r>
          </a:p>
        </p:txBody>
      </p:sp>
      <p:sp>
        <p:nvSpPr>
          <p:cNvPr id="23" name="Rectangle 21"/>
          <p:cNvSpPr/>
          <p:nvPr/>
        </p:nvSpPr>
        <p:spPr>
          <a:xfrm>
            <a:off x="2560320" y="4828032"/>
            <a:ext cx="8790402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4" name="TextBox 22"/>
          <p:cNvSpPr txBox="1"/>
          <p:nvPr/>
        </p:nvSpPr>
        <p:spPr>
          <a:xfrm>
            <a:off x="2560320" y="4937760"/>
            <a:ext cx="8790402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ct val="152000"/>
              </a:lnSpc>
              <a:buNone/>
            </a:pPr>
            <a:r>
              <a:rPr sz="13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天津市无形资产研究会理事，承担、参与多项各级科研课题，发表论文 20 余篇，出版专著 1 部，主编出版等多部教材。撰写的教学案例入选中国专业学位案例库，并荣获中国专业学位案例中心优秀案例。擅长案例教学，承担多项学校研究生案例教学教改项目，注重校企合作。</a:t>
            </a:r>
          </a:p>
        </p:txBody>
      </p:sp>
      <p:sp>
        <p:nvSpPr>
          <p:cNvPr id="25" name="TextBox 23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26" name="TextBox 24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21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38412474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A5BFD0A-4D52-A068-85A5-2B342077A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平行四边形 7"/>
          <p:cNvSpPr/>
          <p:nvPr/>
        </p:nvSpPr>
        <p:spPr>
          <a:xfrm>
            <a:off x="0" y="0"/>
            <a:ext cx="6428232" cy="6858000"/>
          </a:xfrm>
          <a:custGeom>
            <a:avLst/>
            <a:gdLst>
              <a:gd name="connsiteX0" fmla="*/ 0 w 6431042"/>
              <a:gd name="connsiteY0" fmla="*/ 6858001 h 6858001"/>
              <a:gd name="connsiteX1" fmla="*/ 2691520 w 6431042"/>
              <a:gd name="connsiteY1" fmla="*/ 0 h 6858001"/>
              <a:gd name="connsiteX2" fmla="*/ 6431042 w 6431042"/>
              <a:gd name="connsiteY2" fmla="*/ 0 h 6858001"/>
              <a:gd name="connsiteX3" fmla="*/ 3739522 w 6431042"/>
              <a:gd name="connsiteY3" fmla="*/ 6858001 h 6858001"/>
              <a:gd name="connsiteX4" fmla="*/ 0 w 6431042"/>
              <a:gd name="connsiteY4" fmla="*/ 6858001 h 6858001"/>
              <a:gd name="connsiteX0-1" fmla="*/ 0 w 6431042"/>
              <a:gd name="connsiteY0-2" fmla="*/ 6858001 h 6858001"/>
              <a:gd name="connsiteX1-3" fmla="*/ 1269120 w 6431042"/>
              <a:gd name="connsiteY1-4" fmla="*/ 0 h 6858001"/>
              <a:gd name="connsiteX2-5" fmla="*/ 6431042 w 6431042"/>
              <a:gd name="connsiteY2-6" fmla="*/ 0 h 6858001"/>
              <a:gd name="connsiteX3-7" fmla="*/ 3739522 w 6431042"/>
              <a:gd name="connsiteY3-8" fmla="*/ 6858001 h 6858001"/>
              <a:gd name="connsiteX4-9" fmla="*/ 0 w 6431042"/>
              <a:gd name="connsiteY4-10" fmla="*/ 6858001 h 68580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31042" h="6858001">
                <a:moveTo>
                  <a:pt x="0" y="6858001"/>
                </a:moveTo>
                <a:lnTo>
                  <a:pt x="1269120" y="0"/>
                </a:lnTo>
                <a:lnTo>
                  <a:pt x="6431042" y="0"/>
                </a:lnTo>
                <a:lnTo>
                  <a:pt x="3739522" y="6858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16416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矩形 8"/>
          <p:cNvSpPr/>
          <p:nvPr/>
        </p:nvSpPr>
        <p:spPr>
          <a:xfrm>
            <a:off x="0" y="-9144"/>
            <a:ext cx="2779776" cy="6867144"/>
          </a:xfrm>
          <a:custGeom>
            <a:avLst/>
            <a:gdLst>
              <a:gd name="connsiteX0" fmla="*/ 0 w 2783632"/>
              <a:gd name="connsiteY0" fmla="*/ 0 h 6858001"/>
              <a:gd name="connsiteX1" fmla="*/ 2783632 w 2783632"/>
              <a:gd name="connsiteY1" fmla="*/ 0 h 6858001"/>
              <a:gd name="connsiteX2" fmla="*/ 2783632 w 2783632"/>
              <a:gd name="connsiteY2" fmla="*/ 6858001 h 6858001"/>
              <a:gd name="connsiteX3" fmla="*/ 0 w 2783632"/>
              <a:gd name="connsiteY3" fmla="*/ 6858001 h 6858001"/>
              <a:gd name="connsiteX4" fmla="*/ 0 w 2783632"/>
              <a:gd name="connsiteY4" fmla="*/ 0 h 6858001"/>
              <a:gd name="connsiteX0-1" fmla="*/ 0 w 2783632"/>
              <a:gd name="connsiteY0-2" fmla="*/ 12700 h 6870701"/>
              <a:gd name="connsiteX1-3" fmla="*/ 1551732 w 2783632"/>
              <a:gd name="connsiteY1-4" fmla="*/ 0 h 6870701"/>
              <a:gd name="connsiteX2-5" fmla="*/ 2783632 w 2783632"/>
              <a:gd name="connsiteY2-6" fmla="*/ 6870701 h 6870701"/>
              <a:gd name="connsiteX3-7" fmla="*/ 0 w 2783632"/>
              <a:gd name="connsiteY3-8" fmla="*/ 6870701 h 6870701"/>
              <a:gd name="connsiteX4-9" fmla="*/ 0 w 2783632"/>
              <a:gd name="connsiteY4-10" fmla="*/ 12700 h 6870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783632" h="6870701">
                <a:moveTo>
                  <a:pt x="0" y="12700"/>
                </a:moveTo>
                <a:lnTo>
                  <a:pt x="1551732" y="0"/>
                </a:lnTo>
                <a:lnTo>
                  <a:pt x="2783632" y="6870701"/>
                </a:lnTo>
                <a:lnTo>
                  <a:pt x="0" y="6870701"/>
                </a:lnTo>
                <a:lnTo>
                  <a:pt x="0" y="12700"/>
                </a:lnTo>
                <a:close/>
              </a:path>
            </a:pathLst>
          </a:custGeom>
          <a:solidFill>
            <a:srgbClr val="1E59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tangle 9"/>
          <p:cNvSpPr/>
          <p:nvPr/>
        </p:nvSpPr>
        <p:spPr>
          <a:xfrm>
            <a:off x="12073098" y="0"/>
            <a:ext cx="118872" cy="685800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6" name="TextBox 10"/>
          <p:cNvSpPr txBox="1"/>
          <p:nvPr/>
        </p:nvSpPr>
        <p:spPr>
          <a:xfrm>
            <a:off x="274320" y="14447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buNone/>
            </a:pPr>
            <a:r>
              <a:rPr sz="1300" b="1" spc="4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SECTION</a:t>
            </a:r>
          </a:p>
        </p:txBody>
      </p:sp>
      <p:sp>
        <p:nvSpPr>
          <p:cNvPr id="7" name="Rectangle 11"/>
          <p:cNvSpPr/>
          <p:nvPr/>
        </p:nvSpPr>
        <p:spPr>
          <a:xfrm>
            <a:off x="2606040" y="1828800"/>
            <a:ext cx="10058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8" name="TextBox 12"/>
          <p:cNvSpPr txBox="1"/>
          <p:nvPr/>
        </p:nvSpPr>
        <p:spPr>
          <a:xfrm>
            <a:off x="274320" y="201168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9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9" name="Rectangle 13"/>
          <p:cNvSpPr/>
          <p:nvPr/>
        </p:nvSpPr>
        <p:spPr>
          <a:xfrm>
            <a:off x="7178040" y="2139696"/>
            <a:ext cx="960120" cy="5486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TextBox 14"/>
          <p:cNvSpPr txBox="1"/>
          <p:nvPr/>
        </p:nvSpPr>
        <p:spPr>
          <a:xfrm>
            <a:off x="7178040" y="2322576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5200" b="1" spc="30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未来规划</a:t>
            </a:r>
          </a:p>
        </p:txBody>
      </p:sp>
      <p:sp>
        <p:nvSpPr>
          <p:cNvPr id="11" name="TextBox 15"/>
          <p:cNvSpPr txBox="1"/>
          <p:nvPr/>
        </p:nvSpPr>
        <p:spPr>
          <a:xfrm>
            <a:off x="7178040" y="331012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350" b="1" spc="2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12" name="Rectangle 16"/>
          <p:cNvSpPr/>
          <p:nvPr/>
        </p:nvSpPr>
        <p:spPr>
          <a:xfrm>
            <a:off x="7178040" y="3712464"/>
            <a:ext cx="548640" cy="20117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TextBox 17"/>
          <p:cNvSpPr txBox="1"/>
          <p:nvPr/>
        </p:nvSpPr>
        <p:spPr>
          <a:xfrm>
            <a:off x="7178040" y="389534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4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2026—2028 三步走：中试运行、一体化装备、技术更新。</a:t>
            </a:r>
          </a:p>
        </p:txBody>
      </p:sp>
    </p:spTree>
    <p:extLst>
      <p:ext uri="{BB962C8B-B14F-4D97-AF65-F5344CB8AC3E}">
        <p14:creationId xmlns:p14="http://schemas.microsoft.com/office/powerpoint/2010/main" val="6336626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CA2BCEB-B9A5-BBFD-7D03-C8C74BCF7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1970" cy="159106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786677"/>
            <a:ext cx="12191970" cy="71323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5" name="TextBox 3"/>
          <p:cNvSpPr txBox="1"/>
          <p:nvPr/>
        </p:nvSpPr>
        <p:spPr>
          <a:xfrm>
            <a:off x="566928" y="274320"/>
            <a:ext cx="774067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1150" b="1" spc="16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05 / 未来规划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66928" y="493776"/>
            <a:ext cx="1105811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三年三步走 · </a:t>
            </a:r>
            <a:r>
              <a:rPr sz="2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从天津到华北再到全国</a:t>
            </a:r>
          </a:p>
        </p:txBody>
      </p:sp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rcRect t="56522" b="8696"/>
          <a:stretch>
            <a:fillRect/>
          </a:stretch>
        </p:blipFill>
        <p:spPr>
          <a:xfrm>
            <a:off x="566928" y="969264"/>
            <a:ext cx="9509978" cy="32004"/>
          </a:xfrm>
          <a:prstGeom prst="rect">
            <a:avLst/>
          </a:prstGeom>
          <a:effectLst/>
        </p:spPr>
      </p:pic>
      <p:sp>
        <p:nvSpPr>
          <p:cNvPr id="8" name="Rectangle 6"/>
          <p:cNvSpPr/>
          <p:nvPr/>
        </p:nvSpPr>
        <p:spPr>
          <a:xfrm>
            <a:off x="566928" y="969264"/>
            <a:ext cx="841248" cy="32004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9" name="Rounded Rectangle 7"/>
          <p:cNvSpPr/>
          <p:nvPr/>
        </p:nvSpPr>
        <p:spPr>
          <a:xfrm>
            <a:off x="566928" y="1225296"/>
            <a:ext cx="3514039" cy="640080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46304" tIns="0" bIns="0" wrap="square">
            <a:noAutofit/>
          </a:bodyPr>
          <a:lstStyle/>
          <a:p>
            <a:pPr algn="l">
              <a:buNone/>
            </a:pPr>
            <a:r>
              <a:rPr sz="125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扩张路径　</a:t>
            </a:r>
            <a:r>
              <a:rPr sz="1350" b="1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天津 → 华北 → 全国</a:t>
            </a:r>
          </a:p>
        </p:txBody>
      </p:sp>
      <p:sp>
        <p:nvSpPr>
          <p:cNvPr id="10" name="Rectangle 8"/>
          <p:cNvSpPr/>
          <p:nvPr/>
        </p:nvSpPr>
        <p:spPr>
          <a:xfrm>
            <a:off x="566928" y="1225296"/>
            <a:ext cx="50292" cy="640080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1" name="Rectangle 9"/>
          <p:cNvSpPr/>
          <p:nvPr/>
        </p:nvSpPr>
        <p:spPr>
          <a:xfrm>
            <a:off x="566928" y="4663440"/>
            <a:ext cx="237744" cy="950976"/>
          </a:xfrm>
          <a:prstGeom prst="rect">
            <a:avLst/>
          </a:prstGeom>
          <a:solidFill>
            <a:srgbClr val="2A7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2" name="Rectangle 10"/>
          <p:cNvSpPr/>
          <p:nvPr/>
        </p:nvSpPr>
        <p:spPr>
          <a:xfrm>
            <a:off x="566928" y="4663440"/>
            <a:ext cx="3770071" cy="256032"/>
          </a:xfrm>
          <a:prstGeom prst="rect">
            <a:avLst/>
          </a:prstGeom>
          <a:solidFill>
            <a:srgbClr val="2A7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3" name="Rounded Rectangle 11"/>
          <p:cNvSpPr/>
          <p:nvPr/>
        </p:nvSpPr>
        <p:spPr>
          <a:xfrm>
            <a:off x="566928" y="2980944"/>
            <a:ext cx="3514039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 tIns="109728" bIns="91440" wrap="square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成立公司</a:t>
            </a:r>
          </a:p>
          <a:p>
            <a:pPr algn="l">
              <a:lnSpc>
                <a:spcPct val="138000"/>
              </a:lnSpc>
              <a:spcAft>
                <a:spcPts val="200"/>
              </a:spcAft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· 打开市场积累技术经验</a:t>
            </a:r>
          </a:p>
          <a:p>
            <a:pPr algn="l">
              <a:lnSpc>
                <a:spcPct val="138000"/>
              </a:lnSpc>
              <a:spcAft>
                <a:spcPts val="200"/>
              </a:spcAft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· 将“萃取＋超声杀菌”落到实处进行中试运行</a:t>
            </a:r>
          </a:p>
        </p:txBody>
      </p:sp>
      <p:sp>
        <p:nvSpPr>
          <p:cNvPr id="14" name="Rectangle 12"/>
          <p:cNvSpPr/>
          <p:nvPr/>
        </p:nvSpPr>
        <p:spPr>
          <a:xfrm>
            <a:off x="566928" y="2980944"/>
            <a:ext cx="3514039" cy="50292"/>
          </a:xfrm>
          <a:prstGeom prst="rect">
            <a:avLst/>
          </a:prstGeom>
          <a:solidFill>
            <a:srgbClr val="2A7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5" name="Rounded Rectangle 13"/>
          <p:cNvSpPr/>
          <p:nvPr/>
        </p:nvSpPr>
        <p:spPr>
          <a:xfrm>
            <a:off x="1005840" y="5047488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4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天津</a:t>
            </a:r>
          </a:p>
        </p:txBody>
      </p:sp>
      <p:cxnSp>
        <p:nvCxnSpPr>
          <p:cNvPr id="16" name="Connector 14"/>
          <p:cNvCxnSpPr/>
          <p:nvPr/>
        </p:nvCxnSpPr>
        <p:spPr>
          <a:xfrm>
            <a:off x="1463040" y="5431536"/>
            <a:ext cx="0" cy="182880"/>
          </a:xfrm>
          <a:prstGeom prst="line">
            <a:avLst/>
          </a:prstGeom>
          <a:ln w="15875">
            <a:solidFill>
              <a:srgbClr val="1E59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5"/>
          <p:cNvSpPr txBox="1"/>
          <p:nvPr/>
        </p:nvSpPr>
        <p:spPr>
          <a:xfrm>
            <a:off x="365760" y="5687568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2026</a:t>
            </a: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年</a:t>
            </a:r>
          </a:p>
        </p:txBody>
      </p:sp>
      <p:sp>
        <p:nvSpPr>
          <p:cNvPr id="18" name="Rectangle 16"/>
          <p:cNvSpPr/>
          <p:nvPr/>
        </p:nvSpPr>
        <p:spPr>
          <a:xfrm>
            <a:off x="4336999" y="3895344"/>
            <a:ext cx="237744" cy="1024128"/>
          </a:xfrm>
          <a:prstGeom prst="rect">
            <a:avLst/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9" name="Rectangle 17"/>
          <p:cNvSpPr/>
          <p:nvPr/>
        </p:nvSpPr>
        <p:spPr>
          <a:xfrm>
            <a:off x="4336999" y="3895344"/>
            <a:ext cx="3770071" cy="256032"/>
          </a:xfrm>
          <a:prstGeom prst="rect">
            <a:avLst/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0" name="Rounded Rectangle 18"/>
          <p:cNvSpPr/>
          <p:nvPr/>
        </p:nvSpPr>
        <p:spPr>
          <a:xfrm>
            <a:off x="4336999" y="2212848"/>
            <a:ext cx="3514039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 tIns="109728" bIns="91440" wrap="square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一体化设备开发</a:t>
            </a:r>
          </a:p>
          <a:p>
            <a:pPr algn="l">
              <a:lnSpc>
                <a:spcPct val="138000"/>
              </a:lnSpc>
              <a:spcAft>
                <a:spcPts val="200"/>
              </a:spcAft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· 开发出萃取、超声低温杀菌一体化装备</a:t>
            </a:r>
          </a:p>
          <a:p>
            <a:pPr algn="l">
              <a:lnSpc>
                <a:spcPct val="138000"/>
              </a:lnSpc>
              <a:spcAft>
                <a:spcPts val="200"/>
              </a:spcAft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· 树立企业品牌　做行业先行者</a:t>
            </a:r>
          </a:p>
        </p:txBody>
      </p:sp>
      <p:sp>
        <p:nvSpPr>
          <p:cNvPr id="21" name="Rectangle 19"/>
          <p:cNvSpPr/>
          <p:nvPr/>
        </p:nvSpPr>
        <p:spPr>
          <a:xfrm>
            <a:off x="4336999" y="2212848"/>
            <a:ext cx="3514039" cy="50292"/>
          </a:xfrm>
          <a:prstGeom prst="rect">
            <a:avLst/>
          </a:prstGeom>
          <a:solidFill>
            <a:srgbClr val="1E5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2" name="Rounded Rectangle 20"/>
          <p:cNvSpPr/>
          <p:nvPr/>
        </p:nvSpPr>
        <p:spPr>
          <a:xfrm>
            <a:off x="4775911" y="427939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4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华北</a:t>
            </a:r>
          </a:p>
        </p:txBody>
      </p:sp>
      <p:cxnSp>
        <p:nvCxnSpPr>
          <p:cNvPr id="23" name="Connector 21"/>
          <p:cNvCxnSpPr/>
          <p:nvPr/>
        </p:nvCxnSpPr>
        <p:spPr>
          <a:xfrm>
            <a:off x="5233111" y="4663440"/>
            <a:ext cx="0" cy="950976"/>
          </a:xfrm>
          <a:prstGeom prst="line">
            <a:avLst/>
          </a:prstGeom>
          <a:ln w="15875">
            <a:solidFill>
              <a:srgbClr val="1E59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2"/>
          <p:cNvSpPr txBox="1"/>
          <p:nvPr/>
        </p:nvSpPr>
        <p:spPr>
          <a:xfrm>
            <a:off x="4135831" y="5687568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2027</a:t>
            </a: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年</a:t>
            </a:r>
          </a:p>
        </p:txBody>
      </p:sp>
      <p:sp>
        <p:nvSpPr>
          <p:cNvPr id="25" name="Rectangle 23"/>
          <p:cNvSpPr/>
          <p:nvPr/>
        </p:nvSpPr>
        <p:spPr>
          <a:xfrm>
            <a:off x="8107070" y="3127248"/>
            <a:ext cx="237744" cy="1024128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6" name="Rectangle 24"/>
          <p:cNvSpPr/>
          <p:nvPr/>
        </p:nvSpPr>
        <p:spPr>
          <a:xfrm>
            <a:off x="8107070" y="3127248"/>
            <a:ext cx="3770071" cy="256032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7" name="Rounded Rectangle 25"/>
          <p:cNvSpPr/>
          <p:nvPr/>
        </p:nvSpPr>
        <p:spPr>
          <a:xfrm>
            <a:off x="8107070" y="1444752"/>
            <a:ext cx="3514039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EEA"/>
            </a:solidFill>
          </a:ln>
          <a:effectLst>
            <a:outerShdw blurRad="114300" dist="31750" dir="5400000" rotWithShape="0">
              <a:srgbClr val="1B3A5C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82880" tIns="109728" bIns="91440" wrap="square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更新产品技术</a:t>
            </a:r>
          </a:p>
          <a:p>
            <a:pPr algn="l">
              <a:lnSpc>
                <a:spcPct val="138000"/>
              </a:lnSpc>
              <a:spcAft>
                <a:spcPts val="200"/>
              </a:spcAft>
              <a:buNone/>
            </a:pPr>
            <a:r>
              <a:rPr sz="1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· 完成咖啡萃取杀菌的“交钥匙”工程</a:t>
            </a:r>
          </a:p>
        </p:txBody>
      </p:sp>
      <p:sp>
        <p:nvSpPr>
          <p:cNvPr id="28" name="Rectangle 26"/>
          <p:cNvSpPr/>
          <p:nvPr/>
        </p:nvSpPr>
        <p:spPr>
          <a:xfrm>
            <a:off x="8107070" y="1444752"/>
            <a:ext cx="3514039" cy="50292"/>
          </a:xfrm>
          <a:prstGeom prst="rect">
            <a:avLst/>
          </a:prstGeom>
          <a:solidFill>
            <a:srgbClr val="164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29" name="Rounded Rectangle 27"/>
          <p:cNvSpPr/>
          <p:nvPr/>
        </p:nvSpPr>
        <p:spPr>
          <a:xfrm>
            <a:off x="8545982" y="3511296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41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square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全国</a:t>
            </a:r>
          </a:p>
        </p:txBody>
      </p:sp>
      <p:cxnSp>
        <p:nvCxnSpPr>
          <p:cNvPr id="30" name="Connector 28"/>
          <p:cNvCxnSpPr/>
          <p:nvPr/>
        </p:nvCxnSpPr>
        <p:spPr>
          <a:xfrm>
            <a:off x="9003182" y="3895344"/>
            <a:ext cx="0" cy="1719072"/>
          </a:xfrm>
          <a:prstGeom prst="line">
            <a:avLst/>
          </a:prstGeom>
          <a:ln w="15875">
            <a:solidFill>
              <a:srgbClr val="1E59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29"/>
          <p:cNvSpPr txBox="1"/>
          <p:nvPr/>
        </p:nvSpPr>
        <p:spPr>
          <a:xfrm>
            <a:off x="7905902" y="5687568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2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2028</a:t>
            </a:r>
            <a:r>
              <a:rPr sz="15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 年</a:t>
            </a:r>
          </a:p>
        </p:txBody>
      </p:sp>
      <p:sp>
        <p:nvSpPr>
          <p:cNvPr id="32" name="TextBox 30"/>
          <p:cNvSpPr txBox="1"/>
          <p:nvPr/>
        </p:nvSpPr>
        <p:spPr>
          <a:xfrm>
            <a:off x="566928" y="6336792"/>
            <a:ext cx="968651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 · 咖啡液萃取与超声杀菌工艺及装备设计研究</a:t>
            </a:r>
          </a:p>
        </p:txBody>
      </p:sp>
      <p:sp>
        <p:nvSpPr>
          <p:cNvPr id="33" name="TextBox 31"/>
          <p:cNvSpPr txBox="1"/>
          <p:nvPr/>
        </p:nvSpPr>
        <p:spPr>
          <a:xfrm>
            <a:off x="10436322" y="63367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buNone/>
            </a:pPr>
            <a:r>
              <a:rPr sz="1200" b="1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23</a:t>
            </a:r>
            <a:r>
              <a:rPr sz="9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  /  24</a:t>
            </a:r>
          </a:p>
        </p:txBody>
      </p:sp>
    </p:spTree>
    <p:extLst>
      <p:ext uri="{BB962C8B-B14F-4D97-AF65-F5344CB8AC3E}">
        <p14:creationId xmlns:p14="http://schemas.microsoft.com/office/powerpoint/2010/main" val="1980517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平行四边形 7"/>
          <p:cNvSpPr/>
          <p:nvPr/>
        </p:nvSpPr>
        <p:spPr>
          <a:xfrm>
            <a:off x="5760720" y="-12802"/>
            <a:ext cx="6428232" cy="6858000"/>
          </a:xfrm>
          <a:custGeom>
            <a:avLst/>
            <a:gdLst>
              <a:gd name="connsiteX0" fmla="*/ 0 w 6431042"/>
              <a:gd name="connsiteY0" fmla="*/ 6858001 h 6858001"/>
              <a:gd name="connsiteX1" fmla="*/ 2691520 w 6431042"/>
              <a:gd name="connsiteY1" fmla="*/ 0 h 6858001"/>
              <a:gd name="connsiteX2" fmla="*/ 6431042 w 6431042"/>
              <a:gd name="connsiteY2" fmla="*/ 0 h 6858001"/>
              <a:gd name="connsiteX3" fmla="*/ 3739522 w 6431042"/>
              <a:gd name="connsiteY3" fmla="*/ 6858001 h 6858001"/>
              <a:gd name="connsiteX4" fmla="*/ 0 w 6431042"/>
              <a:gd name="connsiteY4" fmla="*/ 6858001 h 6858001"/>
              <a:gd name="connsiteX0-1" fmla="*/ 0 w 6431042"/>
              <a:gd name="connsiteY0-2" fmla="*/ 6858001 h 6858001"/>
              <a:gd name="connsiteX1-3" fmla="*/ 1269120 w 6431042"/>
              <a:gd name="connsiteY1-4" fmla="*/ 0 h 6858001"/>
              <a:gd name="connsiteX2-5" fmla="*/ 6431042 w 6431042"/>
              <a:gd name="connsiteY2-6" fmla="*/ 0 h 6858001"/>
              <a:gd name="connsiteX3-7" fmla="*/ 3739522 w 6431042"/>
              <a:gd name="connsiteY3-8" fmla="*/ 6858001 h 6858001"/>
              <a:gd name="connsiteX4-9" fmla="*/ 0 w 6431042"/>
              <a:gd name="connsiteY4-10" fmla="*/ 6858001 h 68580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31042" h="6858001">
                <a:moveTo>
                  <a:pt x="0" y="6858001"/>
                </a:moveTo>
                <a:lnTo>
                  <a:pt x="1269120" y="0"/>
                </a:lnTo>
                <a:lnTo>
                  <a:pt x="6431042" y="0"/>
                </a:lnTo>
                <a:lnTo>
                  <a:pt x="3739522" y="6858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16416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矩形 8"/>
          <p:cNvSpPr/>
          <p:nvPr/>
        </p:nvSpPr>
        <p:spPr>
          <a:xfrm>
            <a:off x="5760720" y="-12802"/>
            <a:ext cx="2779776" cy="6867144"/>
          </a:xfrm>
          <a:custGeom>
            <a:avLst/>
            <a:gdLst>
              <a:gd name="connsiteX0" fmla="*/ 0 w 2783632"/>
              <a:gd name="connsiteY0" fmla="*/ 0 h 6858001"/>
              <a:gd name="connsiteX1" fmla="*/ 2783632 w 2783632"/>
              <a:gd name="connsiteY1" fmla="*/ 0 h 6858001"/>
              <a:gd name="connsiteX2" fmla="*/ 2783632 w 2783632"/>
              <a:gd name="connsiteY2" fmla="*/ 6858001 h 6858001"/>
              <a:gd name="connsiteX3" fmla="*/ 0 w 2783632"/>
              <a:gd name="connsiteY3" fmla="*/ 6858001 h 6858001"/>
              <a:gd name="connsiteX4" fmla="*/ 0 w 2783632"/>
              <a:gd name="connsiteY4" fmla="*/ 0 h 6858001"/>
              <a:gd name="connsiteX0-1" fmla="*/ 0 w 2783632"/>
              <a:gd name="connsiteY0-2" fmla="*/ 12700 h 6870701"/>
              <a:gd name="connsiteX1-3" fmla="*/ 1551732 w 2783632"/>
              <a:gd name="connsiteY1-4" fmla="*/ 0 h 6870701"/>
              <a:gd name="connsiteX2-5" fmla="*/ 2783632 w 2783632"/>
              <a:gd name="connsiteY2-6" fmla="*/ 6870701 h 6870701"/>
              <a:gd name="connsiteX3-7" fmla="*/ 0 w 2783632"/>
              <a:gd name="connsiteY3-8" fmla="*/ 6870701 h 6870701"/>
              <a:gd name="connsiteX4-9" fmla="*/ 0 w 2783632"/>
              <a:gd name="connsiteY4-10" fmla="*/ 12700 h 687070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783632" h="6870701">
                <a:moveTo>
                  <a:pt x="0" y="12700"/>
                </a:moveTo>
                <a:lnTo>
                  <a:pt x="1551732" y="0"/>
                </a:lnTo>
                <a:lnTo>
                  <a:pt x="2783632" y="6870701"/>
                </a:lnTo>
                <a:lnTo>
                  <a:pt x="0" y="6870701"/>
                </a:lnTo>
                <a:lnTo>
                  <a:pt x="0" y="12700"/>
                </a:lnTo>
                <a:close/>
              </a:path>
            </a:pathLst>
          </a:custGeom>
          <a:solidFill>
            <a:srgbClr val="1E59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tangle 9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6" name="Rectangle 10"/>
          <p:cNvSpPr/>
          <p:nvPr/>
        </p:nvSpPr>
        <p:spPr>
          <a:xfrm>
            <a:off x="731520" y="2468880"/>
            <a:ext cx="1188720" cy="54864"/>
          </a:xfrm>
          <a:prstGeom prst="rect">
            <a:avLst/>
          </a:prstGeom>
          <a:solidFill>
            <a:srgbClr val="B9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7" name="TextBox 11"/>
          <p:cNvSpPr txBox="1"/>
          <p:nvPr/>
        </p:nvSpPr>
        <p:spPr>
          <a:xfrm>
            <a:off x="731520" y="2670048"/>
            <a:ext cx="475488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4000" b="1" spc="160">
                <a:solidFill>
                  <a:srgbClr val="16416C"/>
                </a:solidFill>
                <a:latin typeface="微软雅黑"/>
                <a:ea typeface="微软雅黑"/>
                <a:cs typeface="微软雅黑"/>
              </a:rPr>
              <a:t>感谢各位专家聆听</a:t>
            </a:r>
          </a:p>
        </p:txBody>
      </p:sp>
      <p:sp>
        <p:nvSpPr>
          <p:cNvPr id="8" name="TextBox 12"/>
          <p:cNvSpPr txBox="1"/>
          <p:nvPr/>
        </p:nvSpPr>
        <p:spPr>
          <a:xfrm>
            <a:off x="731520" y="3493008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4000" b="1" spc="800">
                <a:solidFill>
                  <a:srgbClr val="2A7ABF"/>
                </a:solidFill>
                <a:latin typeface="微软雅黑"/>
                <a:ea typeface="微软雅黑"/>
                <a:cs typeface="微软雅黑"/>
              </a:rPr>
              <a:t>THANKS</a:t>
            </a:r>
          </a:p>
        </p:txBody>
      </p:sp>
      <p:sp>
        <p:nvSpPr>
          <p:cNvPr id="9" name="Rectangle 13"/>
          <p:cNvSpPr/>
          <p:nvPr/>
        </p:nvSpPr>
        <p:spPr>
          <a:xfrm>
            <a:off x="731520" y="4261104"/>
            <a:ext cx="4023360" cy="10973"/>
          </a:xfrm>
          <a:prstGeom prst="rect">
            <a:avLst/>
          </a:prstGeom>
          <a:solidFill>
            <a:srgbClr val="CF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>
            <a:noAutofit/>
          </a:bodyPr>
          <a:lstStyle/>
          <a:p>
            <a:pPr algn="ctr"/>
          </a:p>
        </p:txBody>
      </p:sp>
      <p:sp>
        <p:nvSpPr>
          <p:cNvPr id="10" name="TextBox 14"/>
          <p:cNvSpPr txBox="1"/>
          <p:nvPr/>
        </p:nvSpPr>
        <p:spPr>
          <a:xfrm>
            <a:off x="731520" y="440740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1">
                <a:solidFill>
                  <a:srgbClr val="1F2937"/>
                </a:solidFill>
                <a:latin typeface="微软雅黑"/>
                <a:ea typeface="微软雅黑"/>
                <a:cs typeface="微软雅黑"/>
              </a:rPr>
              <a:t>咖啡液萃取与超声杀菌工艺及装备设计研究设备</a:t>
            </a:r>
          </a:p>
          <a:p>
            <a:pPr algn="l">
              <a:buNone/>
            </a:pPr>
            <a:r>
              <a:rPr sz="1250" b="0">
                <a:solidFill>
                  <a:srgbClr val="8A94A2"/>
                </a:solidFill>
                <a:latin typeface="微软雅黑"/>
                <a:ea typeface="微软雅黑"/>
                <a:cs typeface="微软雅黑"/>
              </a:rPr>
              <a:t>天津科技大学　·　2026.09.14</a:t>
            </a:r>
          </a:p>
        </p:txBody>
      </p:sp>
      <p:pic>
        <p:nvPicPr>
          <p:cNvPr id="11" name="Picture 1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539850"/>
            <a:ext cx="2468880" cy="606333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8.85,&quot;left&quot;:474.05,&quot;top&quot;:194.65,&quot;width&quot;:419.7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579</TotalTime>
  <Words>1950</Words>
  <Application>Microsoft Office PowerPoint</Application>
  <PresentationFormat>宽屏</PresentationFormat>
  <Paragraphs>121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5" baseType="lpstr">
      <vt:lpstr>等线</vt:lpstr>
      <vt:lpstr>黑体</vt:lpstr>
      <vt:lpstr>华文行楷</vt:lpstr>
      <vt:lpstr>思源黑体 CN Bold</vt:lpstr>
      <vt:lpstr>微软雅黑</vt:lpstr>
      <vt:lpstr>Arial</vt:lpstr>
      <vt:lpstr>Calibri</vt:lpstr>
      <vt:lpstr>Calibri Light</vt:lpstr>
      <vt:lpstr>Times New Roman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市场前景</vt:lpstr>
      <vt:lpstr>PowerPoint 演示文稿</vt:lpstr>
      <vt:lpstr>应用场景  高峰期大流量人群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竞品分析</vt:lpstr>
      <vt:lpstr>竞品分析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杭 苏</cp:lastModifiedBy>
  <cp:revision>97</cp:revision>
  <dcterms:created xsi:type="dcterms:W3CDTF">2025-07-23T00:59:22Z</dcterms:created>
  <dcterms:modified xsi:type="dcterms:W3CDTF">2026-09-17T05:20:32Z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F1BD18E333F94AD18439EE8A7C1D7EF5_12</vt:lpwstr>
  </property>
</Properties>
</file>