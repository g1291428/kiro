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jpg"/><Relationship Id="rId4" Type="http://schemas.openxmlformats.org/officeDocument/2006/relationships/image" Target="../media/image2.jpg"/><Relationship Id="rId5" Type="http://schemas.openxmlformats.org/officeDocument/2006/relationships/image" Target="../media/image6.jpg"/><Relationship Id="rId6" Type="http://schemas.openxmlformats.org/officeDocument/2006/relationships/image" Target="../media/image7.jpg"/><Relationship Id="rId7" Type="http://schemas.openxmlformats.org/officeDocument/2006/relationships/image" Target="../media/image8.jpg"/><Relationship Id="rId8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jpg"/><Relationship Id="rId4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46520" y="0"/>
            <a:ext cx="5745449" cy="68580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9326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2E9BD6"/>
                </a:solidFill>
                <a:latin typeface="Arial"/>
                <a:ea typeface="微软雅黑"/>
                <a:cs typeface="微软雅黑"/>
              </a:rPr>
              <a:t>COMMERCIAL MILK SYSTEMS / CHINA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98448"/>
            <a:ext cx="5486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商用自动奶泡系统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93392"/>
            <a:ext cx="5486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竞品分析报告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8" y="2834640"/>
            <a:ext cx="1188720" cy="50292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054096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7 个型号　·　5 个品牌　·　9 条可核实价格记录　·　中国市场优先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39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2600–3400</a:t>
            </a:r>
            <a:r>
              <a:rPr sz="1050" b="1" i="0">
                <a:solidFill>
                  <a:srgbClr val="2E9BD6"/>
                </a:solidFill>
                <a:latin typeface="Arial"/>
                <a:ea typeface="微软雅黑"/>
                <a:cs typeface="微软雅黑"/>
              </a:rPr>
              <a:t>  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06240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样本额定功率区间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05456" y="3730752"/>
            <a:ext cx="0" cy="786384"/>
          </a:xfrm>
          <a:prstGeom prst="line">
            <a:avLst/>
          </a:prstGeom>
          <a:ln w="12700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624328" y="3749039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120–250</a:t>
            </a:r>
            <a:r>
              <a:rPr sz="1050" b="1" i="0">
                <a:solidFill>
                  <a:srgbClr val="2E9BD6"/>
                </a:solidFill>
                <a:latin typeface="Arial"/>
                <a:ea typeface="微软雅黑"/>
                <a:cs typeface="微软雅黑"/>
              </a:rPr>
              <a:t>  杯/h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328" y="4206240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标称出品能力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352544" y="3730752"/>
            <a:ext cx="0" cy="786384"/>
          </a:xfrm>
          <a:prstGeom prst="line">
            <a:avLst/>
          </a:prstGeom>
          <a:ln w="12700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471416" y="3749039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¥36.8k–60k</a:t>
            </a:r>
            <a:r>
              <a:rPr sz="1050" b="1" i="0">
                <a:solidFill>
                  <a:srgbClr val="2E9BD6"/>
                </a:solidFill>
                <a:latin typeface="Arial"/>
                <a:ea typeface="微软雅黑"/>
                <a:cs typeface="微软雅黑"/>
              </a:rPr>
              <a:t> 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416" y="4206240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跨市场价格带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956048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阿玛菲 AMF-N1 / N2 / N2T　·　Linkbar MilkPal / Single Touch Milk　·　Marco MilkPal　·　Übermilk ONE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7240" y="5559552"/>
            <a:ext cx="5394960" cy="0"/>
          </a:xfrm>
          <a:prstGeom prst="line">
            <a:avLst/>
          </a:prstGeom>
          <a:ln w="9525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77240" y="5687568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8A97A3"/>
                </a:solidFill>
                <a:latin typeface="Arial"/>
                <a:ea typeface="微软雅黑"/>
                <a:cs typeface="微软雅黑"/>
              </a:rPr>
              <a:t>产品开发与市场定位　|　统一检索日 2026-09-18
参数与图片取自各品牌官方产品页、规格表与说明书；价格按原币种与结算口径登记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56692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样本机型 / SPECIMEN PLATE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967728" y="841248"/>
            <a:ext cx="4681728" cy="0"/>
          </a:xfrm>
          <a:prstGeom prst="line">
            <a:avLst/>
          </a:prstGeom>
          <a:ln w="9525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967728" y="1078992"/>
            <a:ext cx="2249424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amalfi_n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047" y="1188720"/>
            <a:ext cx="1700784" cy="1700784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7095744" y="2953511"/>
            <a:ext cx="347472" cy="32004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95744" y="3054096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阿玛菲 AMF-N1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95744" y="327355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台上整机 · 2600W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00032" y="1078992"/>
            <a:ext cx="2249424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9" name="Picture 28" descr="amalfi_n2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352" y="1188720"/>
            <a:ext cx="1700784" cy="1700784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9528048" y="2953511"/>
            <a:ext cx="347472" cy="32004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28048" y="3054096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阿玛菲 AMF-N2T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8048" y="327355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台下系统 · 双拨杆龙头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67728" y="3749039"/>
            <a:ext cx="2249424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4" name="Picture 33" descr="marco_milkpa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2464" y="3858767"/>
            <a:ext cx="1639951" cy="1700784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7095744" y="5623559"/>
            <a:ext cx="347472" cy="32004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95744" y="5724144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Marco MilkPal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95744" y="594360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爱尔兰 · 3100W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00032" y="3749039"/>
            <a:ext cx="2249424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9" name="Picture 38" descr="ubermilk_fron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5072" y="3858767"/>
            <a:ext cx="1079343" cy="1700784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9528048" y="5623559"/>
            <a:ext cx="347472" cy="32004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28048" y="5724144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Übermilk 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28048" y="594360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德国 · 250 杯/h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66928" y="6391656"/>
            <a:ext cx="11058113" cy="0"/>
          </a:xfrm>
          <a:prstGeom prst="line">
            <a:avLst/>
          </a:prstGeom>
          <a:ln w="9525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3"/>
                </a:solidFill>
                <a:latin typeface="Arial"/>
                <a:ea typeface="微软雅黑"/>
                <a:cs typeface="微软雅黑"/>
              </a:rPr>
              <a:t>商用自动奶泡系统竞品分析　|　产品开发与市场定位　|　2026-09-18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10641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77724" cy="27432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44348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00">
                <a:solidFill>
                  <a:srgbClr val="2E9BD6"/>
                </a:solidFill>
                <a:latin typeface="Arial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5295" y="40233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竞品版图：7 个型号，两种形态，三条价格口径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国内 5 个型号定义主战场，海外 2 台提供运营与文档基准；MilkPal 按型号分列，Marco 与 Linkbar 共享同源平台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61872"/>
            <a:ext cx="11058113" cy="0"/>
          </a:xfrm>
          <a:prstGeom prst="line">
            <a:avLst/>
          </a:prstGeom>
          <a:ln w="12700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66928" y="1481328"/>
            <a:ext cx="2601468" cy="2212848"/>
          </a:xfrm>
          <a:prstGeom prst="rect">
            <a:avLst/>
          </a:prstGeom>
          <a:solidFill>
            <a:srgbClr val="F4F8FC"/>
          </a:solidFill>
          <a:ln w="9525">
            <a:solidFill>
              <a:srgbClr val="CB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481328"/>
            <a:ext cx="2601468" cy="12984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0" name="Picture 9" descr="amalfi_n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446" y="1545336"/>
            <a:ext cx="1170431" cy="1170431"/>
          </a:xfrm>
          <a:prstGeom prst="rect">
            <a:avLst/>
          </a:prstGeom>
        </p:spPr>
      </p:pic>
      <p:cxnSp>
        <p:nvCxnSpPr>
          <p:cNvPr id="11" name="Connector 10"/>
          <p:cNvCxnSpPr/>
          <p:nvPr/>
        </p:nvCxnSpPr>
        <p:spPr>
          <a:xfrm>
            <a:off x="566928" y="2779776"/>
            <a:ext cx="2601468" cy="0"/>
          </a:xfrm>
          <a:prstGeom prst="line">
            <a:avLst/>
          </a:prstGeom>
          <a:ln w="9525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2889504"/>
            <a:ext cx="23637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阿玛菲 AMF-N1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127248"/>
            <a:ext cx="23637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E9BD6"/>
                </a:solidFill>
                <a:latin typeface="Arial"/>
                <a:ea typeface="微软雅黑"/>
                <a:cs typeface="微软雅黑"/>
              </a:rPr>
              <a:t>台上整机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37560"/>
            <a:ext cx="23637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2600W · 10.5kg · 390×180×340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6023" y="1481328"/>
            <a:ext cx="2601468" cy="2212848"/>
          </a:xfrm>
          <a:prstGeom prst="rect">
            <a:avLst/>
          </a:prstGeom>
          <a:solidFill>
            <a:srgbClr val="F4F8FC"/>
          </a:solidFill>
          <a:ln w="9525">
            <a:solidFill>
              <a:srgbClr val="CB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6023" y="1481328"/>
            <a:ext cx="2601468" cy="12984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" name="Picture 16" descr="amalfi_n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1541" y="1545336"/>
            <a:ext cx="1170431" cy="1170431"/>
          </a:xfrm>
          <a:prstGeom prst="rect">
            <a:avLst/>
          </a:prstGeom>
        </p:spPr>
      </p:pic>
      <p:cxnSp>
        <p:nvCxnSpPr>
          <p:cNvPr id="18" name="Connector 17"/>
          <p:cNvCxnSpPr/>
          <p:nvPr/>
        </p:nvCxnSpPr>
        <p:spPr>
          <a:xfrm>
            <a:off x="3386023" y="2779776"/>
            <a:ext cx="2601468" cy="0"/>
          </a:xfrm>
          <a:prstGeom prst="line">
            <a:avLst/>
          </a:prstGeom>
          <a:ln w="9525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504895" y="2889504"/>
            <a:ext cx="23637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阿玛菲 AMF-N2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4895" y="3127248"/>
            <a:ext cx="23637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E9BD6"/>
                </a:solidFill>
                <a:latin typeface="Arial"/>
                <a:ea typeface="微软雅黑"/>
                <a:cs typeface="微软雅黑"/>
              </a:rPr>
              <a:t>台下系统 + 触屏龙头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4895" y="3337560"/>
            <a:ext cx="23637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2600W · 130×240×260（台上件）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5118" y="1481328"/>
            <a:ext cx="2601468" cy="2212848"/>
          </a:xfrm>
          <a:prstGeom prst="rect">
            <a:avLst/>
          </a:prstGeom>
          <a:solidFill>
            <a:srgbClr val="F4F8FC"/>
          </a:solidFill>
          <a:ln w="9525">
            <a:solidFill>
              <a:srgbClr val="CB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05118" y="1481328"/>
            <a:ext cx="2601468" cy="12984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amalfi_n2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0636" y="1545336"/>
            <a:ext cx="1170431" cy="1170431"/>
          </a:xfrm>
          <a:prstGeom prst="rect">
            <a:avLst/>
          </a:prstGeom>
        </p:spPr>
      </p:pic>
      <p:cxnSp>
        <p:nvCxnSpPr>
          <p:cNvPr id="25" name="Connector 24"/>
          <p:cNvCxnSpPr/>
          <p:nvPr/>
        </p:nvCxnSpPr>
        <p:spPr>
          <a:xfrm>
            <a:off x="6205118" y="2779776"/>
            <a:ext cx="2601468" cy="0"/>
          </a:xfrm>
          <a:prstGeom prst="line">
            <a:avLst/>
          </a:prstGeom>
          <a:ln w="9525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323990" y="2889504"/>
            <a:ext cx="23637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阿玛菲 AMF-N2T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3990" y="3127248"/>
            <a:ext cx="23637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E9BD6"/>
                </a:solidFill>
                <a:latin typeface="Arial"/>
                <a:ea typeface="微软雅黑"/>
                <a:cs typeface="微软雅黑"/>
              </a:rPr>
              <a:t>台下系统 + 双拨杆龙头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3990" y="3337560"/>
            <a:ext cx="23637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2600W · 100×220×280（台上件）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24213" y="1481328"/>
            <a:ext cx="2601468" cy="2212848"/>
          </a:xfrm>
          <a:prstGeom prst="rect">
            <a:avLst/>
          </a:prstGeom>
          <a:solidFill>
            <a:srgbClr val="F4F8FC"/>
          </a:solidFill>
          <a:ln w="9525">
            <a:solidFill>
              <a:srgbClr val="CB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24213" y="1481328"/>
            <a:ext cx="2601468" cy="12984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1" name="Picture 30" descr="milkpal_pro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9731" y="1545336"/>
            <a:ext cx="1170431" cy="1170431"/>
          </a:xfrm>
          <a:prstGeom prst="rect">
            <a:avLst/>
          </a:prstGeom>
        </p:spPr>
      </p:pic>
      <p:cxnSp>
        <p:nvCxnSpPr>
          <p:cNvPr id="32" name="Connector 31"/>
          <p:cNvCxnSpPr/>
          <p:nvPr/>
        </p:nvCxnSpPr>
        <p:spPr>
          <a:xfrm>
            <a:off x="9024213" y="2779776"/>
            <a:ext cx="2601468" cy="0"/>
          </a:xfrm>
          <a:prstGeom prst="line">
            <a:avLst/>
          </a:prstGeom>
          <a:ln w="9525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143085" y="2889504"/>
            <a:ext cx="23637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Linkbar MilkPal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3085" y="3127248"/>
            <a:ext cx="23637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E9BD6"/>
                </a:solidFill>
                <a:latin typeface="Arial"/>
                <a:ea typeface="微软雅黑"/>
                <a:cs typeface="微软雅黑"/>
              </a:rPr>
              <a:t>台上自动供奶/发泡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3085" y="3337560"/>
            <a:ext cx="23637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3000W · 30kg · 120 杯/h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3877056"/>
            <a:ext cx="2601468" cy="2212848"/>
          </a:xfrm>
          <a:prstGeom prst="rect">
            <a:avLst/>
          </a:prstGeom>
          <a:solidFill>
            <a:srgbClr val="F4F8FC"/>
          </a:solidFill>
          <a:ln w="9525">
            <a:solidFill>
              <a:srgbClr val="CB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7" name="Picture 36" descr="linkbar_st_crop_284x142_2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842" y="3877970"/>
            <a:ext cx="2599639" cy="1298448"/>
          </a:xfrm>
          <a:prstGeom prst="rect">
            <a:avLst/>
          </a:prstGeom>
        </p:spPr>
      </p:pic>
      <p:cxnSp>
        <p:nvCxnSpPr>
          <p:cNvPr id="38" name="Connector 37"/>
          <p:cNvCxnSpPr/>
          <p:nvPr/>
        </p:nvCxnSpPr>
        <p:spPr>
          <a:xfrm>
            <a:off x="566928" y="5175504"/>
            <a:ext cx="2601468" cy="0"/>
          </a:xfrm>
          <a:prstGeom prst="line">
            <a:avLst/>
          </a:prstGeom>
          <a:ln w="9525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85800" y="5285232"/>
            <a:ext cx="23637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Linkbar Single Touch Milk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522976"/>
            <a:ext cx="23637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E9BD6"/>
                </a:solidFill>
                <a:latin typeface="Arial"/>
                <a:ea typeface="微软雅黑"/>
                <a:cs typeface="微软雅黑"/>
              </a:rPr>
              <a:t>分体台下主机 + 台上龙头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5733288"/>
            <a:ext cx="23637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3400W · 19.4kg · 120 杯/h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86023" y="3877056"/>
            <a:ext cx="2601468" cy="2212848"/>
          </a:xfrm>
          <a:prstGeom prst="rect">
            <a:avLst/>
          </a:prstGeom>
          <a:solidFill>
            <a:srgbClr val="F4F8FC"/>
          </a:solidFill>
          <a:ln w="9525">
            <a:solidFill>
              <a:srgbClr val="CB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3" name="Picture 42" descr="marco_bar_284x142_5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6937" y="3877970"/>
            <a:ext cx="2599639" cy="1298448"/>
          </a:xfrm>
          <a:prstGeom prst="rect">
            <a:avLst/>
          </a:prstGeom>
        </p:spPr>
      </p:pic>
      <p:cxnSp>
        <p:nvCxnSpPr>
          <p:cNvPr id="44" name="Connector 43"/>
          <p:cNvCxnSpPr/>
          <p:nvPr/>
        </p:nvCxnSpPr>
        <p:spPr>
          <a:xfrm>
            <a:off x="3386023" y="5175504"/>
            <a:ext cx="2601468" cy="0"/>
          </a:xfrm>
          <a:prstGeom prst="line">
            <a:avLst/>
          </a:prstGeom>
          <a:ln w="9525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504895" y="5285232"/>
            <a:ext cx="23637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Marco MilkPal 1000090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04895" y="5522976"/>
            <a:ext cx="23637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E9BD6"/>
                </a:solidFill>
                <a:latin typeface="Arial"/>
                <a:ea typeface="微软雅黑"/>
                <a:cs typeface="微软雅黑"/>
              </a:rPr>
              <a:t>台上自动供奶/发泡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04895" y="5733288"/>
            <a:ext cx="23637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3100W · 30kg · 120 份/h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05118" y="3877056"/>
            <a:ext cx="2601468" cy="2212848"/>
          </a:xfrm>
          <a:prstGeom prst="rect">
            <a:avLst/>
          </a:prstGeom>
          <a:solidFill>
            <a:srgbClr val="F4F8FC"/>
          </a:solidFill>
          <a:ln w="9525">
            <a:solidFill>
              <a:srgbClr val="CB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05118" y="3877056"/>
            <a:ext cx="2601468" cy="12984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0" name="Picture 49" descr="ubermilk_front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4465" y="3941064"/>
            <a:ext cx="742774" cy="1170431"/>
          </a:xfrm>
          <a:prstGeom prst="rect">
            <a:avLst/>
          </a:prstGeom>
        </p:spPr>
      </p:pic>
      <p:cxnSp>
        <p:nvCxnSpPr>
          <p:cNvPr id="51" name="Connector 50"/>
          <p:cNvCxnSpPr/>
          <p:nvPr/>
        </p:nvCxnSpPr>
        <p:spPr>
          <a:xfrm>
            <a:off x="6205118" y="5175504"/>
            <a:ext cx="2601468" cy="0"/>
          </a:xfrm>
          <a:prstGeom prst="line">
            <a:avLst/>
          </a:prstGeom>
          <a:ln w="9525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323990" y="5285232"/>
            <a:ext cx="23637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Übermilk ONE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23990" y="5522976"/>
            <a:ext cx="23637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E9BD6"/>
                </a:solidFill>
                <a:latin typeface="Arial"/>
                <a:ea typeface="微软雅黑"/>
                <a:cs typeface="微软雅黑"/>
              </a:rPr>
              <a:t>台上自动微泡系统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23990" y="5733288"/>
            <a:ext cx="23637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3100W · 25kg · 峰值 250 杯/h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24213" y="3877056"/>
            <a:ext cx="2601468" cy="221284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07093" y="4059936"/>
            <a:ext cx="22357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版图怎么读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07093" y="4352544"/>
            <a:ext cx="329184" cy="32004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07093" y="4480560"/>
            <a:ext cx="2235708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880" b="0" i="0">
                <a:solidFill>
                  <a:srgbClr val="EAF2FA"/>
                </a:solidFill>
                <a:latin typeface="Arial"/>
                <a:ea typeface="微软雅黑"/>
                <a:cs typeface="微软雅黑"/>
              </a:rPr>
              <a:t>— 阿玛菲一次铺开台上与台下三种外观，走国产整机路线。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880" b="0" i="0">
                <a:solidFill>
                  <a:srgbClr val="EAF2FA"/>
                </a:solidFill>
                <a:latin typeface="Arial"/>
                <a:ea typeface="微软雅黑"/>
                <a:cs typeface="微软雅黑"/>
              </a:rPr>
              <a:t>— Linkbar 同时握住台上 MilkPal 与台下 ST-Milk，并与 Marco 共享 Double Favor 平台。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880" b="0" i="0">
                <a:solidFill>
                  <a:srgbClr val="EAF2FA"/>
                </a:solidFill>
                <a:latin typeface="Arial"/>
                <a:ea typeface="微软雅黑"/>
                <a:cs typeface="微软雅黑"/>
              </a:rPr>
              <a:t>— Übermilk 单独成一条海外基准，靠数据记录说话。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6108192"/>
            <a:ext cx="1105811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8A97A3"/>
                </a:solidFill>
                <a:latin typeface="Arial"/>
                <a:ea typeface="微软雅黑"/>
                <a:cs typeface="微软雅黑"/>
              </a:rPr>
              <a:t>图片：各品牌官方产品页原图（S01/S03/S04/S05/S07/S11/S12）　·　参数：官方规格图与说明书（S02/S06/S08/S09/S10/S12）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566928" y="6391656"/>
            <a:ext cx="11058113" cy="0"/>
          </a:xfrm>
          <a:prstGeom prst="line">
            <a:avLst/>
          </a:prstGeom>
          <a:ln w="9525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3"/>
                </a:solidFill>
                <a:latin typeface="Arial"/>
                <a:ea typeface="微软雅黑"/>
                <a:cs typeface="微软雅黑"/>
              </a:rPr>
              <a:t>商用自动奶泡系统竞品分析　|　产品开发与市场定位　|　2026-09-18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710641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77724" cy="27432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44348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00">
                <a:solidFill>
                  <a:srgbClr val="2E9BD6"/>
                </a:solidFill>
                <a:latin typeface="Arial"/>
                <a:ea typeface="微软雅黑"/>
                <a:cs typeface="微软雅黑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5295" y="40233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核心判断：打泡是入场券，运营性才是战场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四台样本已把冷热奶泡与参数预设做成标配，胜负手转到高峰稳定性、清洁人工、奶路维护与国内售后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61872"/>
            <a:ext cx="11058113" cy="0"/>
          </a:xfrm>
          <a:prstGeom prst="line">
            <a:avLst/>
          </a:prstGeom>
          <a:ln w="12700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66928" y="1536192"/>
            <a:ext cx="7360920" cy="1389888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36192"/>
            <a:ext cx="50292" cy="1389888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190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E9BD6"/>
                </a:solidFill>
                <a:latin typeface="Arial"/>
                <a:ea typeface="微软雅黑"/>
                <a:cs typeface="微软雅黑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709928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功能同质化已经发生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2048256"/>
            <a:ext cx="6355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N1、MilkPal、ST-Milk、Marco 同时提供热奶 / 热泡 / 冷奶 / 冷泡四种输出；Linkbar 与 Marco 再叠加 4 类型 + 16 组自定义参数。把研发资源压在“会不会打泡”上，收益递减。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99815"/>
            <a:ext cx="7360920" cy="1389888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3099815"/>
            <a:ext cx="50292" cy="1389888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28269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E9BD6"/>
                </a:solidFill>
                <a:latin typeface="Arial"/>
                <a:ea typeface="微软雅黑"/>
                <a:cs typeface="微软雅黑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8176" y="3273551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价格分成两层，国产握着成本空间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8176" y="3611879"/>
            <a:ext cx="6355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国内可核实锚点落在 ¥36,800；境外整机折算到人民币在 ¥47,900–60,300。同配置国产方案有 25%–40% 的定价余量，用来换装机量与服务密度。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663440"/>
            <a:ext cx="7360920" cy="1389888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663440"/>
            <a:ext cx="50292" cy="1389888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8463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E9BD6"/>
                </a:solidFill>
                <a:latin typeface="Arial"/>
                <a:ea typeface="微软雅黑"/>
                <a:cs typeface="微软雅黑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08176" y="4837176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清洁与停机决定复购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5175504"/>
            <a:ext cx="6355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ST-Milk 每日碱洗、每周酸性深洗；Marco 日终周期约 30 分钟。把日常人工动作压到 5 分钟以内并留下完成记录，就是一条能被门店验证的卖点。</a:t>
            </a:r>
          </a:p>
        </p:txBody>
      </p:sp>
      <p:pic>
        <p:nvPicPr>
          <p:cNvPr id="23" name="Picture 22" descr="linkbar_milkpal_hero_374x254_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2167" y="1536192"/>
            <a:ext cx="3419856" cy="23317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02167" y="3941063"/>
            <a:ext cx="34198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8A97A3"/>
                </a:solidFill>
                <a:latin typeface="Arial"/>
                <a:ea typeface="微软雅黑"/>
                <a:cs typeface="微软雅黑"/>
              </a:rPr>
              <a:t>门店实景：MilkPal 落在吧台工作面上（Linkbar 官方图）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02167" y="4261104"/>
            <a:ext cx="3419856" cy="18288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03336" y="442569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80">
                <a:solidFill>
                  <a:srgbClr val="2E9BD6"/>
                </a:solidFill>
                <a:latin typeface="Arial"/>
                <a:ea typeface="微软雅黑"/>
                <a:cs typeface="微软雅黑"/>
              </a:rPr>
              <a:t>需求侧背景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3336" y="4700016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36,310</a:t>
            </a:r>
            <a:r>
              <a:rPr sz="1100" b="1" i="0">
                <a:solidFill>
                  <a:srgbClr val="EAF2FA"/>
                </a:solidFill>
                <a:latin typeface="Arial"/>
                <a:ea typeface="微软雅黑"/>
                <a:cs typeface="微软雅黑"/>
              </a:rPr>
              <a:t> 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03336" y="5175504"/>
            <a:ext cx="305409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EAF2FA"/>
                </a:solidFill>
                <a:latin typeface="Arial"/>
                <a:ea typeface="微软雅黑"/>
                <a:cs typeface="微软雅黑"/>
              </a:rPr>
              <a:t>瑞幸 2026 年二季度末门店数，环比再增 8.1%。奶咖出杯量持续放大，把万元级奶泡系统推进单店预算。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108192"/>
            <a:ext cx="1105811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8A97A3"/>
                </a:solidFill>
                <a:latin typeface="Arial"/>
                <a:ea typeface="微软雅黑"/>
                <a:cs typeface="微软雅黑"/>
              </a:rPr>
              <a:t>结论依据：官方规格与说明书比对（S02/S06/S08/S09/S10）；价格记录见第 05 页；门店数据：Luckin Coffee 2026 年第二季度财报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8" y="6391656"/>
            <a:ext cx="11058113" cy="0"/>
          </a:xfrm>
          <a:prstGeom prst="line">
            <a:avLst/>
          </a:prstGeom>
          <a:ln w="9525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3"/>
                </a:solidFill>
                <a:latin typeface="Arial"/>
                <a:ea typeface="微软雅黑"/>
                <a:cs typeface="微软雅黑"/>
              </a:rPr>
              <a:t>商用自动奶泡系统竞品分析　|　产品开发与市场定位　|　2026-09-18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10641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77724" cy="27432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44348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00">
                <a:solidFill>
                  <a:srgbClr val="2E9BD6"/>
                </a:solidFill>
                <a:latin typeface="Arial"/>
                <a:ea typeface="微软雅黑"/>
                <a:cs typeface="微软雅黑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5295" y="40233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参数总览：统一口径后的七行对照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功率取各品牌自家口径，尺寸标注轴向，产能统一到 200mL/杯再比较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61872"/>
            <a:ext cx="11058113" cy="0"/>
          </a:xfrm>
          <a:prstGeom prst="line">
            <a:avLst/>
          </a:prstGeom>
          <a:ln w="12700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444752"/>
          <a:ext cx="11055095" cy="305409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017520"/>
                <a:gridCol w="1097280"/>
                <a:gridCol w="1024128"/>
                <a:gridCol w="4023360"/>
                <a:gridCol w="1892807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 i="0" spc="4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型号 / 形态</a:t>
                      </a:r>
                    </a:p>
                  </a:txBody>
                  <a:tcPr marL="91440" marR="73152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 spc="4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额定功率</a:t>
                      </a:r>
                    </a:p>
                  </a:txBody>
                  <a:tcPr marL="91440" marR="73152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 spc="4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重量</a:t>
                      </a:r>
                    </a:p>
                  </a:txBody>
                  <a:tcPr marL="91440" marR="73152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 spc="4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外形尺寸 mm</a:t>
                      </a:r>
                    </a:p>
                  </a:txBody>
                  <a:tcPr marL="91440" marR="73152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 spc="4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标称出品能力</a:t>
                      </a:r>
                    </a:p>
                  </a:txBody>
                  <a:tcPr marL="91440" marR="73152" anchor="ctr">
                    <a:solidFill>
                      <a:srgbClr val="0B2E4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1" i="0">
                          <a:solidFill>
                            <a:srgbClr val="0B2E4F"/>
                          </a:solidFill>
                          <a:latin typeface="Arial"/>
                          <a:ea typeface="微软雅黑"/>
                          <a:cs typeface="微软雅黑"/>
                        </a:rPr>
                        <a:t>阿玛菲 AMF-N1　台上整机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8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2600W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8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10.5kg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390×180×340（官网 W×D×H）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实测口径补齐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1" i="0">
                          <a:solidFill>
                            <a:srgbClr val="0B2E4F"/>
                          </a:solidFill>
                          <a:latin typeface="Arial"/>
                          <a:ea typeface="微软雅黑"/>
                          <a:cs typeface="微软雅黑"/>
                        </a:rPr>
                        <a:t>阿玛菲 AMF-N2　台下+触屏龙头</a:t>
                      </a:r>
                    </a:p>
                  </a:txBody>
                  <a:tcPr marL="91440" marR="73152" marT="27432" marB="27432" anchor="ctr">
                    <a:solidFill>
                      <a:srgbClr val="F4F8FC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8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2600W</a:t>
                      </a:r>
                    </a:p>
                  </a:txBody>
                  <a:tcPr marL="91440" marR="73152" marT="27432" marB="27432" anchor="ctr">
                    <a:solidFill>
                      <a:srgbClr val="F4F8FC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8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以铭牌为准</a:t>
                      </a:r>
                    </a:p>
                  </a:txBody>
                  <a:tcPr marL="91440" marR="73152" marT="27432" marB="27432" anchor="ctr">
                    <a:solidFill>
                      <a:srgbClr val="F4F8FC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130×240×260（台上部件）</a:t>
                      </a:r>
                    </a:p>
                  </a:txBody>
                  <a:tcPr marL="91440" marR="73152" marT="27432" marB="27432" anchor="ctr">
                    <a:solidFill>
                      <a:srgbClr val="F4F8FC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实测口径补齐</a:t>
                      </a:r>
                    </a:p>
                  </a:txBody>
                  <a:tcPr marL="91440" marR="73152" marT="27432" marB="27432" anchor="ctr">
                    <a:solidFill>
                      <a:srgbClr val="F4F8FC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1" i="0">
                          <a:solidFill>
                            <a:srgbClr val="0B2E4F"/>
                          </a:solidFill>
                          <a:latin typeface="Arial"/>
                          <a:ea typeface="微软雅黑"/>
                          <a:cs typeface="微软雅黑"/>
                        </a:rPr>
                        <a:t>阿玛菲 AMF-N2T　台下+双拨杆龙头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8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2600W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8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以铭牌为准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100×220×280（台上部件）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实测口径补齐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1" i="0">
                          <a:solidFill>
                            <a:srgbClr val="0B2E4F"/>
                          </a:solidFill>
                          <a:latin typeface="Arial"/>
                          <a:ea typeface="微软雅黑"/>
                          <a:cs typeface="微软雅黑"/>
                        </a:rPr>
                        <a:t>Linkbar MilkPal　台上整机</a:t>
                      </a:r>
                    </a:p>
                  </a:txBody>
                  <a:tcPr marL="91440" marR="73152" marT="27432" marB="27432" anchor="ctr">
                    <a:solidFill>
                      <a:srgbClr val="F4F8FC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8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3000W</a:t>
                      </a:r>
                    </a:p>
                  </a:txBody>
                  <a:tcPr marL="91440" marR="73152" marT="27432" marB="27432" anchor="ctr">
                    <a:solidFill>
                      <a:srgbClr val="F4F8FC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8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30kg</a:t>
                      </a:r>
                    </a:p>
                  </a:txBody>
                  <a:tcPr marL="91440" marR="73152" marT="27432" marB="27432" anchor="ctr">
                    <a:solidFill>
                      <a:srgbClr val="F4F8FC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534×195×388（官方规格图）</a:t>
                      </a:r>
                    </a:p>
                  </a:txBody>
                  <a:tcPr marL="91440" marR="73152" marT="27432" marB="27432" anchor="ctr">
                    <a:solidFill>
                      <a:srgbClr val="F4F8FC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120 杯/h @200mL</a:t>
                      </a:r>
                    </a:p>
                  </a:txBody>
                  <a:tcPr marL="91440" marR="73152" marT="27432" marB="27432" anchor="ctr">
                    <a:solidFill>
                      <a:srgbClr val="F4F8FC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1" i="0">
                          <a:solidFill>
                            <a:srgbClr val="0B2E4F"/>
                          </a:solidFill>
                          <a:latin typeface="Arial"/>
                          <a:ea typeface="微软雅黑"/>
                          <a:cs typeface="微软雅黑"/>
                        </a:rPr>
                        <a:t>Linkbar Single Touch Milk　分体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8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3400W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8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19.4kg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龙头 116×137×250　主机 320×500×147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120 杯/h @200mL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1" i="0">
                          <a:solidFill>
                            <a:srgbClr val="0B2E4F"/>
                          </a:solidFill>
                          <a:latin typeface="Arial"/>
                          <a:ea typeface="微软雅黑"/>
                          <a:cs typeface="微软雅黑"/>
                        </a:rPr>
                        <a:t>Marco MilkPal 1000090　台上整机</a:t>
                      </a:r>
                    </a:p>
                  </a:txBody>
                  <a:tcPr marL="91440" marR="73152" marT="27432" marB="27432" anchor="ctr">
                    <a:solidFill>
                      <a:srgbClr val="F4F8FC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8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3100W</a:t>
                      </a:r>
                    </a:p>
                  </a:txBody>
                  <a:tcPr marL="91440" marR="73152" marT="27432" marB="27432" anchor="ctr">
                    <a:solidFill>
                      <a:srgbClr val="F4F8FC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8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30kg</a:t>
                      </a:r>
                    </a:p>
                  </a:txBody>
                  <a:tcPr marL="91440" marR="73152" marT="27432" marB="27432" anchor="ctr">
                    <a:solidFill>
                      <a:srgbClr val="F4F8FC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195×535×388（W×D×H）出水口至托盘 180</a:t>
                      </a:r>
                    </a:p>
                  </a:txBody>
                  <a:tcPr marL="91440" marR="73152" marT="27432" marB="27432" anchor="ctr">
                    <a:solidFill>
                      <a:srgbClr val="F4F8FC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120 份/h @200mL</a:t>
                      </a:r>
                    </a:p>
                  </a:txBody>
                  <a:tcPr marL="91440" marR="73152" marT="27432" marB="27432" anchor="ctr">
                    <a:solidFill>
                      <a:srgbClr val="F4F8FC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1" i="0">
                          <a:solidFill>
                            <a:srgbClr val="0B2E4F"/>
                          </a:solidFill>
                          <a:latin typeface="Arial"/>
                          <a:ea typeface="微软雅黑"/>
                          <a:cs typeface="微软雅黑"/>
                        </a:rPr>
                        <a:t>Übermilk ONE　台上整机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8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3100W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8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25kg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180×485×540（W×D×H）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峰值 250 杯/h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047488"/>
            <a:ext cx="26517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0" name="Picture 9" descr="milkpal_prod_128x109_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5052060"/>
            <a:ext cx="1170432" cy="9966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47088" y="5138928"/>
            <a:ext cx="13167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Linkbar MilkPal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5358384"/>
            <a:ext cx="133502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3000W　30kg　534×195×388
120 杯/h @200mL　4 类型 + 16 自定义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38144" y="5047488"/>
            <a:ext cx="26517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4" name="Picture 13" descr="linkbar_st_crop_128x109_5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2716" y="5052060"/>
            <a:ext cx="1170432" cy="9966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18304" y="5138928"/>
            <a:ext cx="13167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Linkbar ST-Milk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8304" y="5358384"/>
            <a:ext cx="133502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3400W　龙头 1.4kg + 主机 18kg
120 杯/h @200mL　台面仅留龙头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5084064"/>
            <a:ext cx="5312664" cy="969264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52120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80">
                <a:solidFill>
                  <a:srgbClr val="2E9BD6"/>
                </a:solidFill>
                <a:latin typeface="Arial"/>
                <a:ea typeface="微软雅黑"/>
                <a:cs typeface="微软雅黑"/>
              </a:rPr>
              <a:t>读表规则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5449824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EAF2FA"/>
                </a:solidFill>
                <a:latin typeface="Arial"/>
                <a:ea typeface="微软雅黑"/>
                <a:cs typeface="微软雅黑"/>
              </a:rPr>
              <a:t>功率取各品牌自家口径：Linkbar 用官方规格图 3000W，Marco 用 220V 规格表 3100W，ST-Milk 用交付版本 V0.7.3 的 3400W。台上尺寸对应台面部件，整套占地按“台上件 + 台下主机 + 冷藏柜 + 检修空间”四项求和。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6928" y="6391656"/>
            <a:ext cx="11058113" cy="0"/>
          </a:xfrm>
          <a:prstGeom prst="line">
            <a:avLst/>
          </a:prstGeom>
          <a:ln w="9525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3"/>
                </a:solidFill>
                <a:latin typeface="Arial"/>
                <a:ea typeface="微软雅黑"/>
                <a:cs typeface="微软雅黑"/>
              </a:rPr>
              <a:t>商用自动奶泡系统竞品分析　|　产品开发与市场定位　|　2026-09-18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0641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77724" cy="27432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44348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00">
                <a:solidFill>
                  <a:srgbClr val="2E9BD6"/>
                </a:solidFill>
                <a:latin typeface="Arial"/>
                <a:ea typeface="微软雅黑"/>
                <a:cs typeface="微软雅黑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5295" y="40233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功率、产能、占地：三组数字各自成立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把同一台机器的三个指标分开画，才能看出加热负载、净产能与吧台代价之间的关系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61872"/>
            <a:ext cx="11058113" cy="0"/>
          </a:xfrm>
          <a:prstGeom prst="line">
            <a:avLst/>
          </a:prstGeom>
          <a:ln w="12700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66928" y="1463040"/>
            <a:ext cx="3529584" cy="3986784"/>
          </a:xfrm>
          <a:prstGeom prst="rect">
            <a:avLst/>
          </a:prstGeom>
          <a:solidFill>
            <a:srgbClr val="F4F8FC"/>
          </a:solidFill>
          <a:ln w="9525">
            <a:solidFill>
              <a:srgbClr val="CB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463040"/>
            <a:ext cx="3529584" cy="38404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554480"/>
            <a:ext cx="32369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额定功率</a:t>
            </a:r>
            <a:r>
              <a:rPr sz="850" b="0" i="0">
                <a:solidFill>
                  <a:srgbClr val="EAF2FA"/>
                </a:solidFill>
                <a:latin typeface="Arial"/>
                <a:ea typeface="微软雅黑"/>
                <a:cs typeface="微软雅黑"/>
              </a:rPr>
              <a:t>　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1997964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阿玛菲 N1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2080260"/>
            <a:ext cx="1700784" cy="59436"/>
          </a:xfrm>
          <a:prstGeom prst="rect">
            <a:avLst/>
          </a:prstGeom>
          <a:solidFill>
            <a:srgbClr val="E2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37360" y="2002536"/>
            <a:ext cx="1228344" cy="201168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29711" y="2007108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2600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41127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阿玛菲 N2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2493568"/>
            <a:ext cx="1700784" cy="59436"/>
          </a:xfrm>
          <a:prstGeom prst="rect">
            <a:avLst/>
          </a:prstGeom>
          <a:solidFill>
            <a:srgbClr val="E2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37360" y="2415844"/>
            <a:ext cx="1228344" cy="201168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29711" y="2420416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2600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2824581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阿玛菲 N2T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2906877"/>
            <a:ext cx="1700784" cy="59436"/>
          </a:xfrm>
          <a:prstGeom prst="rect">
            <a:avLst/>
          </a:prstGeom>
          <a:solidFill>
            <a:srgbClr val="E2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37360" y="2829153"/>
            <a:ext cx="1228344" cy="201168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29711" y="2833725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2600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3237890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Linkbar MilkPal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37360" y="3320186"/>
            <a:ext cx="1700784" cy="59436"/>
          </a:xfrm>
          <a:prstGeom prst="rect">
            <a:avLst/>
          </a:prstGeom>
          <a:solidFill>
            <a:srgbClr val="E2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37360" y="3242462"/>
            <a:ext cx="1417320" cy="20116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18688" y="3247034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3000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3651199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Linkbar ST-Milk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37360" y="3733495"/>
            <a:ext cx="1700784" cy="59436"/>
          </a:xfrm>
          <a:prstGeom prst="rect">
            <a:avLst/>
          </a:prstGeom>
          <a:solidFill>
            <a:srgbClr val="E2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37360" y="3655771"/>
            <a:ext cx="1606296" cy="20116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07663" y="3660343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3400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4064508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Marco MilkPal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37360" y="4146804"/>
            <a:ext cx="1700784" cy="59436"/>
          </a:xfrm>
          <a:prstGeom prst="rect">
            <a:avLst/>
          </a:prstGeom>
          <a:solidFill>
            <a:srgbClr val="E2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737360" y="4069080"/>
            <a:ext cx="1464564" cy="20116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65931" y="4073652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3100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" y="4477816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Übermilk ONE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37360" y="4560112"/>
            <a:ext cx="1700784" cy="59436"/>
          </a:xfrm>
          <a:prstGeom prst="rect">
            <a:avLst/>
          </a:prstGeom>
          <a:solidFill>
            <a:srgbClr val="E2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737360" y="4482388"/>
            <a:ext cx="1464564" cy="20116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65931" y="4486960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3100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13232" y="4736592"/>
            <a:ext cx="3236976" cy="0"/>
          </a:xfrm>
          <a:prstGeom prst="line">
            <a:avLst/>
          </a:prstGeom>
          <a:ln w="9525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13232" y="4864608"/>
            <a:ext cx="3236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3400W 的 ST-Milk 与 2600W 的 N1 之间是峰值加热与制冷配置差，实际电费按连续出杯工况计量。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20540" y="1463040"/>
            <a:ext cx="3529584" cy="3986784"/>
          </a:xfrm>
          <a:prstGeom prst="rect">
            <a:avLst/>
          </a:prstGeom>
          <a:solidFill>
            <a:srgbClr val="F4F8FC"/>
          </a:solidFill>
          <a:ln w="9525">
            <a:solidFill>
              <a:srgbClr val="CB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20540" y="1463040"/>
            <a:ext cx="3529584" cy="38404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66844" y="1554480"/>
            <a:ext cx="32369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标称出品</a:t>
            </a:r>
            <a:r>
              <a:rPr sz="850" b="0" i="0">
                <a:solidFill>
                  <a:srgbClr val="EAF2FA"/>
                </a:solidFill>
                <a:latin typeface="Arial"/>
                <a:ea typeface="微软雅黑"/>
                <a:cs typeface="微软雅黑"/>
              </a:rPr>
              <a:t>　杯/h @200mL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48555" y="1997964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阿玛菲 N1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90972" y="2080260"/>
            <a:ext cx="1700784" cy="59436"/>
          </a:xfrm>
          <a:prstGeom prst="rect">
            <a:avLst/>
          </a:prstGeom>
          <a:solidFill>
            <a:srgbClr val="E2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90972" y="2002536"/>
            <a:ext cx="256032" cy="201168"/>
          </a:xfrm>
          <a:prstGeom prst="rect">
            <a:avLst/>
          </a:prstGeom>
          <a:solidFill>
            <a:srgbClr val="D6E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11012" y="2007108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7A3"/>
                </a:solidFill>
                <a:latin typeface="Arial"/>
                <a:ea typeface="微软雅黑"/>
                <a:cs typeface="微软雅黑"/>
              </a:rPr>
              <a:t>实测补齐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48555" y="241127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阿玛菲 N2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90972" y="2493568"/>
            <a:ext cx="1700784" cy="59436"/>
          </a:xfrm>
          <a:prstGeom prst="rect">
            <a:avLst/>
          </a:prstGeom>
          <a:solidFill>
            <a:srgbClr val="E2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490972" y="2415844"/>
            <a:ext cx="256032" cy="201168"/>
          </a:xfrm>
          <a:prstGeom prst="rect">
            <a:avLst/>
          </a:prstGeom>
          <a:solidFill>
            <a:srgbClr val="D6E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11012" y="2420416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7A3"/>
                </a:solidFill>
                <a:latin typeface="Arial"/>
                <a:ea typeface="微软雅黑"/>
                <a:cs typeface="微软雅黑"/>
              </a:rPr>
              <a:t>实测补齐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48555" y="2824581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阿玛菲 N2T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90972" y="2906877"/>
            <a:ext cx="1700784" cy="59436"/>
          </a:xfrm>
          <a:prstGeom prst="rect">
            <a:avLst/>
          </a:prstGeom>
          <a:solidFill>
            <a:srgbClr val="E2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90972" y="2829153"/>
            <a:ext cx="256032" cy="201168"/>
          </a:xfrm>
          <a:prstGeom prst="rect">
            <a:avLst/>
          </a:prstGeom>
          <a:solidFill>
            <a:srgbClr val="D6E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811012" y="2833725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7A3"/>
                </a:solidFill>
                <a:latin typeface="Arial"/>
                <a:ea typeface="微软雅黑"/>
                <a:cs typeface="微软雅黑"/>
              </a:rPr>
              <a:t>实测补齐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48555" y="3237890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Linkbar MilkPal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90972" y="3320186"/>
            <a:ext cx="1700784" cy="59436"/>
          </a:xfrm>
          <a:prstGeom prst="rect">
            <a:avLst/>
          </a:prstGeom>
          <a:solidFill>
            <a:srgbClr val="E2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90972" y="3242462"/>
            <a:ext cx="728907" cy="20116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83887" y="3247034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120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48555" y="3651199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Linkbar ST-Milk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90972" y="3733495"/>
            <a:ext cx="1700784" cy="59436"/>
          </a:xfrm>
          <a:prstGeom prst="rect">
            <a:avLst/>
          </a:prstGeom>
          <a:solidFill>
            <a:srgbClr val="E2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90972" y="3655771"/>
            <a:ext cx="728907" cy="20116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83887" y="3660343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120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48555" y="4064508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Marco MilkPal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90972" y="4146804"/>
            <a:ext cx="1700784" cy="59436"/>
          </a:xfrm>
          <a:prstGeom prst="rect">
            <a:avLst/>
          </a:prstGeom>
          <a:solidFill>
            <a:srgbClr val="E2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490972" y="4069080"/>
            <a:ext cx="728907" cy="20116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83887" y="4073652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120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48555" y="4477816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Übermilk ONE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90972" y="4560112"/>
            <a:ext cx="1700784" cy="59436"/>
          </a:xfrm>
          <a:prstGeom prst="rect">
            <a:avLst/>
          </a:prstGeom>
          <a:solidFill>
            <a:srgbClr val="E2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490972" y="4482388"/>
            <a:ext cx="1518557" cy="20116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073537" y="4486960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250*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4466844" y="4736592"/>
            <a:ext cx="3236976" cy="0"/>
          </a:xfrm>
          <a:prstGeom prst="line">
            <a:avLst/>
          </a:prstGeom>
          <a:ln w="9525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4466844" y="4864608"/>
            <a:ext cx="3236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三台国产/爱尔兰机型统一在 200mL/杯的 120 杯；Übermilk 的 250 杯按其自有口径记录（*单杯量另计）。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74151" y="1463040"/>
            <a:ext cx="3529584" cy="3986784"/>
          </a:xfrm>
          <a:prstGeom prst="rect">
            <a:avLst/>
          </a:prstGeom>
          <a:solidFill>
            <a:srgbClr val="F4F8FC"/>
          </a:solidFill>
          <a:ln w="9525">
            <a:solidFill>
              <a:srgbClr val="CB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074151" y="1463040"/>
            <a:ext cx="3529584" cy="38404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220455" y="1554480"/>
            <a:ext cx="32369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台面占地</a:t>
            </a:r>
            <a:r>
              <a:rPr sz="850" b="0" i="0">
                <a:solidFill>
                  <a:srgbClr val="EAF2FA"/>
                </a:solidFill>
                <a:latin typeface="Arial"/>
                <a:ea typeface="微软雅黑"/>
                <a:cs typeface="微软雅黑"/>
              </a:rPr>
              <a:t>　cm²（W×D）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02167" y="1997964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阿玛菲 N1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244583" y="2080260"/>
            <a:ext cx="1700784" cy="59436"/>
          </a:xfrm>
          <a:prstGeom prst="rect">
            <a:avLst/>
          </a:prstGeom>
          <a:solidFill>
            <a:srgbClr val="E2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244583" y="2002536"/>
            <a:ext cx="1038217" cy="201168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346809" y="2007108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702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02167" y="241127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阿玛菲 N2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244583" y="2493568"/>
            <a:ext cx="1700784" cy="59436"/>
          </a:xfrm>
          <a:prstGeom prst="rect">
            <a:avLst/>
          </a:prstGeom>
          <a:solidFill>
            <a:srgbClr val="E2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244583" y="2415844"/>
            <a:ext cx="461430" cy="201168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770022" y="2420416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312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02167" y="2824581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阿玛菲 N2T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244583" y="2906877"/>
            <a:ext cx="1700784" cy="59436"/>
          </a:xfrm>
          <a:prstGeom prst="rect">
            <a:avLst/>
          </a:prstGeom>
          <a:solidFill>
            <a:srgbClr val="E2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244583" y="2829153"/>
            <a:ext cx="325367" cy="201168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633959" y="2833725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220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202167" y="3237890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Linkbar MilkPal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244583" y="3320186"/>
            <a:ext cx="1700784" cy="59436"/>
          </a:xfrm>
          <a:prstGeom prst="rect">
            <a:avLst/>
          </a:prstGeom>
          <a:solidFill>
            <a:srgbClr val="E2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244583" y="3242462"/>
            <a:ext cx="1539579" cy="20116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848171" y="3247034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1041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202167" y="3651199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Linkbar ST-Milk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244583" y="3733495"/>
            <a:ext cx="1700784" cy="59436"/>
          </a:xfrm>
          <a:prstGeom prst="rect">
            <a:avLst/>
          </a:prstGeom>
          <a:solidFill>
            <a:srgbClr val="E2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244583" y="3655771"/>
            <a:ext cx="235151" cy="20116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543743" y="3660343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159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202167" y="4064508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Marco MilkPal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244583" y="4146804"/>
            <a:ext cx="1700784" cy="59436"/>
          </a:xfrm>
          <a:prstGeom prst="rect">
            <a:avLst/>
          </a:prstGeom>
          <a:solidFill>
            <a:srgbClr val="E2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244583" y="4069080"/>
            <a:ext cx="1542537" cy="20116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851129" y="4073652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1043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202167" y="4477816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Übermilk ONE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244583" y="4560112"/>
            <a:ext cx="1700784" cy="59436"/>
          </a:xfrm>
          <a:prstGeom prst="rect">
            <a:avLst/>
          </a:prstGeom>
          <a:solidFill>
            <a:srgbClr val="E2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244583" y="4482388"/>
            <a:ext cx="1291116" cy="20116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599708" y="4486960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873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8220455" y="4736592"/>
            <a:ext cx="3236976" cy="0"/>
          </a:xfrm>
          <a:prstGeom prst="line">
            <a:avLst/>
          </a:prstGeom>
          <a:ln w="9525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8220455" y="4864608"/>
            <a:ext cx="3236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ST-Milk 台面只留 159cm² 的龙头，主机入柜；台上整机把 700–1040cm² 直接压在吧台上。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66928" y="5596128"/>
            <a:ext cx="11058113" cy="420624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31520" y="5687568"/>
            <a:ext cx="1072892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落到测试表：连续 30 杯的 P95 耗时与合格率替代瞬时流量；整套占地按“台上件 + 台下主机 + 冷藏柜 + 检修空间”四项求和；耗电按 60 分钟混合订单实测。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66928" y="6108192"/>
            <a:ext cx="1105811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8A97A3"/>
                </a:solidFill>
                <a:latin typeface="Arial"/>
                <a:ea typeface="微软雅黑"/>
                <a:cs typeface="微软雅黑"/>
              </a:rPr>
              <a:t>数值来源：各品牌官方规格图 / 规格表 / 说明书（S02/S06/S08/S09/S12）；占地按官网标注 W×D 计算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566928" y="6391656"/>
            <a:ext cx="11058113" cy="0"/>
          </a:xfrm>
          <a:prstGeom prst="line">
            <a:avLst/>
          </a:prstGeom>
          <a:ln w="9525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3"/>
                </a:solidFill>
                <a:latin typeface="Arial"/>
                <a:ea typeface="微软雅黑"/>
                <a:cs typeface="微软雅黑"/>
              </a:rPr>
              <a:t>商用自动奶泡系统竞品分析　|　产品开发与市场定位　|　2026-09-18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710641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77724" cy="27432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44348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00">
                <a:solidFill>
                  <a:srgbClr val="2E9BD6"/>
                </a:solidFill>
                <a:latin typeface="Arial"/>
                <a:ea typeface="微软雅黑"/>
                <a:cs typeface="微软雅黑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5295" y="40233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价格全景：9 条可核实记录与一个定价窗口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境外标价保留原币与税运口径，人民币等值仅用于画价带；国内定价以同配置询价落地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61872"/>
            <a:ext cx="11058113" cy="0"/>
          </a:xfrm>
          <a:prstGeom prst="line">
            <a:avLst/>
          </a:prstGeom>
          <a:ln w="12700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463040"/>
          <a:ext cx="6766560" cy="34335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1783080"/>
                <a:gridCol w="260604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50" b="1" i="0" spc="4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对象 / 市场</a:t>
                      </a:r>
                    </a:p>
                  </a:txBody>
                  <a:tcPr marL="91440" marR="73152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 spc="4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可核实金额</a:t>
                      </a:r>
                    </a:p>
                  </a:txBody>
                  <a:tcPr marL="91440" marR="73152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 spc="4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口径与日期</a:t>
                      </a:r>
                    </a:p>
                  </a:txBody>
                  <a:tcPr marL="91440" marR="73152" anchor="ctr">
                    <a:solidFill>
                      <a:srgbClr val="0B2E4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1" i="0">
                          <a:solidFill>
                            <a:srgbClr val="0B2E4F"/>
                          </a:solidFill>
                          <a:latin typeface="Arial"/>
                          <a:ea typeface="微软雅黑"/>
                          <a:cs typeface="微软雅黑"/>
                        </a:rPr>
                        <a:t>Marco MilkPal　美国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$7,500 / $6,750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标价 / 三家经销商同价，2026-09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1" i="0">
                          <a:solidFill>
                            <a:srgbClr val="0B2E4F"/>
                          </a:solidFill>
                          <a:latin typeface="Arial"/>
                          <a:ea typeface="微软雅黑"/>
                          <a:cs typeface="微软雅黑"/>
                        </a:rPr>
                        <a:t>Marco MilkPal　爱尔兰</a:t>
                      </a:r>
                    </a:p>
                  </a:txBody>
                  <a:tcPr marL="91440" marR="73152" marT="27432" marB="27432" anchor="ctr">
                    <a:solidFill>
                      <a:srgbClr val="F4F8FC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€6,068</a:t>
                      </a:r>
                    </a:p>
                  </a:txBody>
                  <a:tcPr marL="91440" marR="73152" marT="27432" marB="27432" anchor="ctr">
                    <a:solidFill>
                      <a:srgbClr val="F4F8FC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未含 VAT（Blue Butterfly）</a:t>
                      </a:r>
                    </a:p>
                  </a:txBody>
                  <a:tcPr marL="91440" marR="73152" marT="27432" marB="27432" anchor="ctr">
                    <a:solidFill>
                      <a:srgbClr val="F4F8FC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1" i="0">
                          <a:solidFill>
                            <a:srgbClr val="0B2E4F"/>
                          </a:solidFill>
                          <a:latin typeface="Arial"/>
                          <a:ea typeface="微软雅黑"/>
                          <a:cs typeface="微软雅黑"/>
                        </a:rPr>
                        <a:t>Marco MilkPal　新加坡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S$9,950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税运另计（Stellar M）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1" i="0">
                          <a:solidFill>
                            <a:srgbClr val="0B2E4F"/>
                          </a:solidFill>
                          <a:latin typeface="Arial"/>
                          <a:ea typeface="微软雅黑"/>
                          <a:cs typeface="微软雅黑"/>
                        </a:rPr>
                        <a:t>Übermilk ONE　法国</a:t>
                      </a:r>
                    </a:p>
                  </a:txBody>
                  <a:tcPr marL="91440" marR="73152" marT="27432" marB="27432" anchor="ctr">
                    <a:solidFill>
                      <a:srgbClr val="F4F8FC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€7,260 起</a:t>
                      </a:r>
                    </a:p>
                  </a:txBody>
                  <a:tcPr marL="91440" marR="73152" marT="27432" marB="27432" anchor="ctr">
                    <a:solidFill>
                      <a:srgbClr val="F4F8FC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未税；安装 €350、160 天耗材 €390</a:t>
                      </a:r>
                    </a:p>
                  </a:txBody>
                  <a:tcPr marL="91440" marR="73152" marT="27432" marB="27432" anchor="ctr">
                    <a:solidFill>
                      <a:srgbClr val="F4F8FC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1" i="0">
                          <a:solidFill>
                            <a:srgbClr val="0B2E4F"/>
                          </a:solidFill>
                          <a:latin typeface="Arial"/>
                          <a:ea typeface="微软雅黑"/>
                          <a:cs typeface="微软雅黑"/>
                        </a:rPr>
                        <a:t>Linkbar ST-Milk　新加坡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S$9,500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奶模块无配件（Stellar M）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1" i="0">
                          <a:solidFill>
                            <a:srgbClr val="0B2E4F"/>
                          </a:solidFill>
                          <a:latin typeface="Arial"/>
                          <a:ea typeface="微软雅黑"/>
                          <a:cs typeface="微软雅黑"/>
                        </a:rPr>
                        <a:t>ST-Milk + 1 冷藏柜</a:t>
                      </a:r>
                    </a:p>
                  </a:txBody>
                  <a:tcPr marL="91440" marR="73152" marT="27432" marB="27432" anchor="ctr">
                    <a:solidFill>
                      <a:srgbClr val="F4F8FC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S$10,600</a:t>
                      </a:r>
                    </a:p>
                  </a:txBody>
                  <a:tcPr marL="91440" marR="73152" marT="27432" marB="27432" anchor="ctr">
                    <a:solidFill>
                      <a:srgbClr val="F4F8FC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同页配置，非中国交付</a:t>
                      </a:r>
                    </a:p>
                  </a:txBody>
                  <a:tcPr marL="91440" marR="73152" marT="27432" marB="27432" anchor="ctr">
                    <a:solidFill>
                      <a:srgbClr val="F4F8FC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1" i="0">
                          <a:solidFill>
                            <a:srgbClr val="0B2E4F"/>
                          </a:solidFill>
                          <a:latin typeface="Arial"/>
                          <a:ea typeface="微软雅黑"/>
                          <a:cs typeface="微软雅黑"/>
                        </a:rPr>
                        <a:t>Linkbar Double Favor　中国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¥36,800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2024-08 中国零售价（前代）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1" i="0">
                          <a:solidFill>
                            <a:srgbClr val="0B2E4F"/>
                          </a:solidFill>
                          <a:latin typeface="Arial"/>
                          <a:ea typeface="微软雅黑"/>
                          <a:cs typeface="微软雅黑"/>
                        </a:rPr>
                        <a:t>Linkbar ST-Milk　报道价</a:t>
                      </a:r>
                    </a:p>
                  </a:txBody>
                  <a:tcPr marL="91440" marR="73152" marT="27432" marB="27432" anchor="ctr">
                    <a:solidFill>
                      <a:srgbClr val="F4F8FC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¥43,000</a:t>
                      </a:r>
                    </a:p>
                  </a:txBody>
                  <a:tcPr marL="91440" marR="73152" marT="27432" marB="27432" anchor="ctr">
                    <a:solidFill>
                      <a:srgbClr val="F4F8FC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2024-08，地区表述为 overseas</a:t>
                      </a:r>
                    </a:p>
                  </a:txBody>
                  <a:tcPr marL="91440" marR="73152" marT="27432" marB="27432" anchor="ctr">
                    <a:solidFill>
                      <a:srgbClr val="F4F8FC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1" i="0">
                          <a:solidFill>
                            <a:srgbClr val="0B2E4F"/>
                          </a:solidFill>
                          <a:latin typeface="Arial"/>
                          <a:ea typeface="微软雅黑"/>
                          <a:cs typeface="微软雅黑"/>
                        </a:rPr>
                        <a:t>阿玛菲 N1 / N2 / N2T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项目询价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江苏主体直供，同配置报价落地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26096" y="1481328"/>
            <a:ext cx="40050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人民币等值价带（$1≈7.1　€1≈8.3　S$1≈5.5）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626096" y="1755648"/>
            <a:ext cx="4005071" cy="0"/>
          </a:xfrm>
          <a:prstGeom prst="line">
            <a:avLst/>
          </a:prstGeom>
          <a:ln w="9525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626096" y="1933956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Linkbar 中国历史锚点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07424" y="1988820"/>
            <a:ext cx="1572768" cy="50292"/>
          </a:xfrm>
          <a:prstGeom prst="rect">
            <a:avLst/>
          </a:prstGeom>
          <a:solidFill>
            <a:srgbClr val="E2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07424" y="1920240"/>
            <a:ext cx="876937" cy="187452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7513" y="192481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¥36,800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6096" y="2295144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Marco 美国成交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07424" y="2350008"/>
            <a:ext cx="1572768" cy="50292"/>
          </a:xfrm>
          <a:prstGeom prst="rect">
            <a:avLst/>
          </a:prstGeom>
          <a:solidFill>
            <a:srgbClr val="E2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07424" y="2281428"/>
            <a:ext cx="1141448" cy="187452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22024" y="228600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≈¥47,900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6096" y="265633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Marco 爱尔兰未税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07424" y="2711196"/>
            <a:ext cx="1572768" cy="50292"/>
          </a:xfrm>
          <a:prstGeom prst="rect">
            <a:avLst/>
          </a:prstGeom>
          <a:solidFill>
            <a:srgbClr val="E2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07424" y="2642616"/>
            <a:ext cx="1201022" cy="187452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81598" y="26471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≈¥50,400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6096" y="301752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Linkbar ST 新加坡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07424" y="3072384"/>
            <a:ext cx="1572768" cy="50292"/>
          </a:xfrm>
          <a:prstGeom prst="rect">
            <a:avLst/>
          </a:prstGeom>
          <a:solidFill>
            <a:srgbClr val="E2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07424" y="3003804"/>
            <a:ext cx="1246299" cy="187452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26875" y="3008376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≈¥52,300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6096" y="3378708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Marco 新加坡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07424" y="3433572"/>
            <a:ext cx="1572768" cy="50292"/>
          </a:xfrm>
          <a:prstGeom prst="rect">
            <a:avLst/>
          </a:prstGeom>
          <a:solidFill>
            <a:srgbClr val="E2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07424" y="3364992"/>
            <a:ext cx="1303491" cy="187452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84067" y="336956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≈¥54,700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6096" y="3739896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ST-Milk + 冷藏柜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07424" y="3794760"/>
            <a:ext cx="1572768" cy="50292"/>
          </a:xfrm>
          <a:prstGeom prst="rect">
            <a:avLst/>
          </a:prstGeom>
          <a:solidFill>
            <a:srgbClr val="E2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07424" y="3726180"/>
            <a:ext cx="1389278" cy="187452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69854" y="373075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≈¥58,300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26096" y="4101084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Übermilk 法国未税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07424" y="4155948"/>
            <a:ext cx="1572768" cy="50292"/>
          </a:xfrm>
          <a:prstGeom prst="rect">
            <a:avLst/>
          </a:prstGeom>
          <a:solidFill>
            <a:srgbClr val="E2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07424" y="4087368"/>
            <a:ext cx="1436938" cy="187452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17514" y="409194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≈¥60,300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26096" y="4535424"/>
            <a:ext cx="4005072" cy="1517904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27264" y="468172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80">
                <a:solidFill>
                  <a:srgbClr val="2E9BD6"/>
                </a:solidFill>
                <a:latin typeface="Arial"/>
                <a:ea typeface="微软雅黑"/>
                <a:cs typeface="微软雅黑"/>
              </a:rPr>
              <a:t>目标价带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27264" y="4919472"/>
            <a:ext cx="35661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¥30,000 – ¥37,000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27264" y="5394960"/>
            <a:ext cx="36210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EAF2FA"/>
                </a:solidFill>
                <a:latin typeface="Arial"/>
                <a:ea typeface="微软雅黑"/>
                <a:cs typeface="微软雅黑"/>
              </a:rPr>
              <a:t>下沿取 24 个月回收倒推的可承受投入 ¥30,760，上沿贴国内历史锚点 ¥36,800。这条带子把境外等值价让出 20% 以上，换装机量与服务密度。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108192"/>
            <a:ext cx="1105811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8A97A3"/>
                </a:solidFill>
                <a:latin typeface="Arial"/>
                <a:ea typeface="微软雅黑"/>
                <a:cs typeface="微软雅黑"/>
              </a:rPr>
              <a:t>价格来源：Pro Coffee Gear / Coffee Machine Depot / Voltage Restaurant Supply（$，2026-09）、Blue Butterfly（€）、Stellar M（S$）、Lomi（€）、Daily Coffee News 2024-08（¥）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66928" y="6391656"/>
            <a:ext cx="11058113" cy="0"/>
          </a:xfrm>
          <a:prstGeom prst="line">
            <a:avLst/>
          </a:prstGeom>
          <a:ln w="9525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3"/>
                </a:solidFill>
                <a:latin typeface="Arial"/>
                <a:ea typeface="微软雅黑"/>
                <a:cs typeface="微软雅黑"/>
              </a:rPr>
              <a:t>商用自动奶泡系统竞品分析　|　产品开发与市场定位　|　2026-09-18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10641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77724" cy="27432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44348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00">
                <a:solidFill>
                  <a:srgbClr val="2E9BD6"/>
                </a:solidFill>
                <a:latin typeface="Arial"/>
                <a:ea typeface="微软雅黑"/>
                <a:cs typeface="微软雅黑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5295" y="40233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阿玛菲 AMF-N1 / N2 / N2T：国产台上台下同时铺开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同一套厚膜加热 + 齿轮泵平台做出三种吧台形态，4.3 英寸屏统一控制泡厚、温度与出奶速度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61872"/>
            <a:ext cx="11058113" cy="0"/>
          </a:xfrm>
          <a:prstGeom prst="line">
            <a:avLst/>
          </a:prstGeom>
          <a:ln w="12700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66928" y="1463040"/>
            <a:ext cx="3529584" cy="4553712"/>
          </a:xfrm>
          <a:prstGeom prst="rect">
            <a:avLst/>
          </a:prstGeom>
          <a:solidFill>
            <a:srgbClr val="F4F8FC"/>
          </a:solidFill>
          <a:ln w="9525">
            <a:solidFill>
              <a:srgbClr val="CB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7842" y="1463954"/>
            <a:ext cx="3527755" cy="14447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0" name="Picture 9" descr="amalfi_n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783" y="1554480"/>
            <a:ext cx="1261872" cy="1261872"/>
          </a:xfrm>
          <a:prstGeom prst="rect">
            <a:avLst/>
          </a:prstGeom>
        </p:spPr>
      </p:pic>
      <p:cxnSp>
        <p:nvCxnSpPr>
          <p:cNvPr id="11" name="Connector 10"/>
          <p:cNvCxnSpPr/>
          <p:nvPr/>
        </p:nvCxnSpPr>
        <p:spPr>
          <a:xfrm>
            <a:off x="566928" y="2907792"/>
            <a:ext cx="3529583" cy="0"/>
          </a:xfrm>
          <a:prstGeom prst="line">
            <a:avLst/>
          </a:prstGeom>
          <a:ln w="9525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301752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阿玛菲 </a:t>
            </a:r>
            <a:r>
              <a:rPr sz="135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AMF-N1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10128"/>
            <a:ext cx="3200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9BD6"/>
                </a:solidFill>
                <a:latin typeface="Arial"/>
                <a:ea typeface="微软雅黑"/>
                <a:cs typeface="微软雅黑"/>
              </a:rPr>
              <a:t>台上整机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02736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额定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3584" y="3602736"/>
            <a:ext cx="2670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5222E"/>
                </a:solidFill>
                <a:latin typeface="Arial"/>
                <a:ea typeface="微软雅黑"/>
                <a:cs typeface="微软雅黑"/>
              </a:rPr>
              <a:t>2600W　220V / 50–60Hz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945635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尺寸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3945635"/>
            <a:ext cx="2670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5222E"/>
                </a:solidFill>
                <a:latin typeface="Arial"/>
                <a:ea typeface="微软雅黑"/>
                <a:cs typeface="微软雅黑"/>
              </a:rPr>
              <a:t>390×180×340mm　10.5kg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88536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菜单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3584" y="4288536"/>
            <a:ext cx="2670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5222E"/>
                </a:solidFill>
                <a:latin typeface="Arial"/>
                <a:ea typeface="微软雅黑"/>
                <a:cs typeface="微软雅黑"/>
              </a:rPr>
              <a:t>热奶 / 热泡 / 冷奶 / 冷泡，可新增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631436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技术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4631436"/>
            <a:ext cx="2670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5222E"/>
                </a:solidFill>
                <a:latin typeface="Arial"/>
                <a:ea typeface="微软雅黑"/>
                <a:cs typeface="微软雅黑"/>
              </a:rPr>
              <a:t>厚膜加热 + 齿轮泵，官方称无水奶泡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974336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接口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43584" y="4974336"/>
            <a:ext cx="2670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5222E"/>
                </a:solidFill>
                <a:latin typeface="Arial"/>
                <a:ea typeface="微软雅黑"/>
                <a:cs typeface="微软雅黑"/>
              </a:rPr>
              <a:t>进水 / 奶管 / 排水，随机 2 根奶管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317236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清洁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43584" y="5317236"/>
            <a:ext cx="2670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5222E"/>
                </a:solidFill>
                <a:latin typeface="Arial"/>
                <a:ea typeface="微软雅黑"/>
                <a:cs typeface="微软雅黑"/>
              </a:rPr>
              <a:t>放置奶管与药液容器，配缺奶检测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31520" y="5650992"/>
            <a:ext cx="3200400" cy="0"/>
          </a:xfrm>
          <a:prstGeom prst="line">
            <a:avLst/>
          </a:prstGeom>
          <a:ln w="9525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31520" y="5733288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说明书与清洁流程公开可取，作为国产台上基准优先借样。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0540" y="1463040"/>
            <a:ext cx="3529584" cy="4553712"/>
          </a:xfrm>
          <a:prstGeom prst="rect">
            <a:avLst/>
          </a:prstGeom>
          <a:solidFill>
            <a:srgbClr val="F4F8FC"/>
          </a:solidFill>
          <a:ln w="9525">
            <a:solidFill>
              <a:srgbClr val="CB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21454" y="1463954"/>
            <a:ext cx="3527755" cy="14447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0" name="Picture 29" descr="amalfi_n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4395" y="1554480"/>
            <a:ext cx="1261872" cy="1261872"/>
          </a:xfrm>
          <a:prstGeom prst="rect">
            <a:avLst/>
          </a:prstGeom>
        </p:spPr>
      </p:pic>
      <p:cxnSp>
        <p:nvCxnSpPr>
          <p:cNvPr id="31" name="Connector 30"/>
          <p:cNvCxnSpPr/>
          <p:nvPr/>
        </p:nvCxnSpPr>
        <p:spPr>
          <a:xfrm>
            <a:off x="4320540" y="2907792"/>
            <a:ext cx="3529583" cy="0"/>
          </a:xfrm>
          <a:prstGeom prst="line">
            <a:avLst/>
          </a:prstGeom>
          <a:ln w="9525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485131" y="301752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阿玛菲 </a:t>
            </a:r>
            <a:r>
              <a:rPr sz="135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AMF-N2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5131" y="3310128"/>
            <a:ext cx="3200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9BD6"/>
                </a:solidFill>
                <a:latin typeface="Arial"/>
                <a:ea typeface="微软雅黑"/>
                <a:cs typeface="微软雅黑"/>
              </a:rPr>
              <a:t>台下系统 + 触屏龙头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5131" y="3602736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额定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97196" y="3602736"/>
            <a:ext cx="2670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5222E"/>
                </a:solidFill>
                <a:latin typeface="Arial"/>
                <a:ea typeface="微软雅黑"/>
                <a:cs typeface="微软雅黑"/>
              </a:rPr>
              <a:t>2600W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5131" y="3945635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尺寸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97196" y="3945635"/>
            <a:ext cx="2670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5222E"/>
                </a:solidFill>
                <a:latin typeface="Arial"/>
                <a:ea typeface="微软雅黑"/>
                <a:cs typeface="微软雅黑"/>
              </a:rPr>
              <a:t>130×240×260mm（台上部件）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5131" y="4288536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菜单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97196" y="4288536"/>
            <a:ext cx="2670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5222E"/>
                </a:solidFill>
                <a:latin typeface="Arial"/>
                <a:ea typeface="微软雅黑"/>
                <a:cs typeface="微软雅黑"/>
              </a:rPr>
              <a:t>热泡 / 冷泡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5131" y="4631436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技术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97196" y="4631436"/>
            <a:ext cx="2670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5222E"/>
                </a:solidFill>
                <a:latin typeface="Arial"/>
                <a:ea typeface="微软雅黑"/>
                <a:cs typeface="微软雅黑"/>
              </a:rPr>
              <a:t>厚膜加热 + 齿轮泵 + 全铝机身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5131" y="4974336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控制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97196" y="4974336"/>
            <a:ext cx="2670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5222E"/>
                </a:solidFill>
                <a:latin typeface="Arial"/>
                <a:ea typeface="微软雅黑"/>
                <a:cs typeface="微软雅黑"/>
              </a:rPr>
              <a:t>4.3″ 屏，泡厚 / 温度 / 出奶速度可调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5131" y="5317236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采购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97196" y="5317236"/>
            <a:ext cx="2670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5222E"/>
                </a:solidFill>
                <a:latin typeface="Arial"/>
                <a:ea typeface="微软雅黑"/>
                <a:cs typeface="微软雅黑"/>
              </a:rPr>
              <a:t>按龙头+主机+冰箱+管路+安装整套报价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485131" y="5650992"/>
            <a:ext cx="3200400" cy="0"/>
          </a:xfrm>
          <a:prstGeom prst="line">
            <a:avLst/>
          </a:prstGeom>
          <a:ln w="9525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485131" y="5733288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释放台面的方案，和 ST-Milk 正面比吧台集成与检修空间。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74151" y="1463040"/>
            <a:ext cx="3529584" cy="4553712"/>
          </a:xfrm>
          <a:prstGeom prst="rect">
            <a:avLst/>
          </a:prstGeom>
          <a:solidFill>
            <a:srgbClr val="F4F8FC"/>
          </a:solidFill>
          <a:ln w="9525">
            <a:solidFill>
              <a:srgbClr val="CB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075066" y="1463954"/>
            <a:ext cx="3527755" cy="14447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0" name="Picture 49" descr="amalfi_n2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8007" y="1554480"/>
            <a:ext cx="1261872" cy="1261872"/>
          </a:xfrm>
          <a:prstGeom prst="rect">
            <a:avLst/>
          </a:prstGeom>
        </p:spPr>
      </p:pic>
      <p:cxnSp>
        <p:nvCxnSpPr>
          <p:cNvPr id="51" name="Connector 50"/>
          <p:cNvCxnSpPr/>
          <p:nvPr/>
        </p:nvCxnSpPr>
        <p:spPr>
          <a:xfrm>
            <a:off x="8074151" y="2907792"/>
            <a:ext cx="3529584" cy="0"/>
          </a:xfrm>
          <a:prstGeom prst="line">
            <a:avLst/>
          </a:prstGeom>
          <a:ln w="9525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238743" y="301752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阿玛菲 </a:t>
            </a:r>
            <a:r>
              <a:rPr sz="135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AMF-N2T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38743" y="3310128"/>
            <a:ext cx="3200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9BD6"/>
                </a:solidFill>
                <a:latin typeface="Arial"/>
                <a:ea typeface="微软雅黑"/>
                <a:cs typeface="微软雅黑"/>
              </a:rPr>
              <a:t>台下系统 + 双拨杆龙头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38743" y="3602736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额定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50807" y="3602736"/>
            <a:ext cx="2670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5222E"/>
                </a:solidFill>
                <a:latin typeface="Arial"/>
                <a:ea typeface="微软雅黑"/>
                <a:cs typeface="微软雅黑"/>
              </a:rPr>
              <a:t>2600W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38743" y="3945635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尺寸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50807" y="3945635"/>
            <a:ext cx="2670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5222E"/>
                </a:solidFill>
                <a:latin typeface="Arial"/>
                <a:ea typeface="微软雅黑"/>
                <a:cs typeface="微软雅黑"/>
              </a:rPr>
              <a:t>100×220×280mm（台上部件）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38743" y="4288536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菜单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50807" y="4288536"/>
            <a:ext cx="2670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5222E"/>
                </a:solidFill>
                <a:latin typeface="Arial"/>
                <a:ea typeface="微软雅黑"/>
                <a:cs typeface="微软雅黑"/>
              </a:rPr>
              <a:t>热泡 / 冷泡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38743" y="4631436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技术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50807" y="4631436"/>
            <a:ext cx="2670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5222E"/>
                </a:solidFill>
                <a:latin typeface="Arial"/>
                <a:ea typeface="微软雅黑"/>
                <a:cs typeface="微软雅黑"/>
              </a:rPr>
              <a:t>厚膜加热 + 齿轮泵 + 全铝机身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38743" y="4974336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交互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50807" y="4974336"/>
            <a:ext cx="2670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5222E"/>
                </a:solidFill>
                <a:latin typeface="Arial"/>
                <a:ea typeface="微软雅黑"/>
                <a:cs typeface="微软雅黑"/>
              </a:rPr>
              <a:t>双拨杆台面操作，厚度/温度/速度可调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38743" y="5317236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核对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50807" y="5317236"/>
            <a:ext cx="2670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5222E"/>
                </a:solidFill>
                <a:latin typeface="Arial"/>
                <a:ea typeface="微软雅黑"/>
                <a:cs typeface="微软雅黑"/>
              </a:rPr>
              <a:t>页面标题 N2T、参数字段 N2，以铭牌定版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8238743" y="5650992"/>
            <a:ext cx="3200400" cy="0"/>
          </a:xfrm>
          <a:prstGeom prst="line">
            <a:avLst/>
          </a:prstGeom>
          <a:ln w="9525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8238743" y="5733288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双拨杆把高峰操作压成一个动作，交互差异的候选方向。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6928" y="6108192"/>
            <a:ext cx="1105811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8A97A3"/>
                </a:solidFill>
                <a:latin typeface="Arial"/>
                <a:ea typeface="微软雅黑"/>
                <a:cs typeface="微软雅黑"/>
              </a:rPr>
              <a:t>参数与图片：阿玛菲官方产品页 S01 / S03 / S04，N1 英文说明书 S02（规格、菜单、缺奶检测、清洁）；N1 手册限定乳制品，植物奶适配取厂家书面确认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566928" y="6391656"/>
            <a:ext cx="11058113" cy="0"/>
          </a:xfrm>
          <a:prstGeom prst="line">
            <a:avLst/>
          </a:prstGeom>
          <a:ln w="9525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3"/>
                </a:solidFill>
                <a:latin typeface="Arial"/>
                <a:ea typeface="微软雅黑"/>
                <a:cs typeface="微软雅黑"/>
              </a:rPr>
              <a:t>商用自动奶泡系统竞品分析　|　产品开发与市场定位　|　2026-09-18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710641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77724" cy="27432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44348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00">
                <a:solidFill>
                  <a:srgbClr val="2E9BD6"/>
                </a:solidFill>
                <a:latin typeface="Arial"/>
                <a:ea typeface="微软雅黑"/>
                <a:cs typeface="微软雅黑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5295" y="40233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Linkbar：台上 MilkPal 与台下 ST-Milk 各守一条形态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两台都做冷热奶泡、支持植物奶、标 120 杯/h @200mL；差别落在吧台改造量与检修可达性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61872"/>
            <a:ext cx="11058113" cy="0"/>
          </a:xfrm>
          <a:prstGeom prst="line">
            <a:avLst/>
          </a:prstGeom>
          <a:ln w="12700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66928" y="1463040"/>
            <a:ext cx="5477256" cy="3931920"/>
          </a:xfrm>
          <a:prstGeom prst="rect">
            <a:avLst/>
          </a:prstGeom>
          <a:solidFill>
            <a:srgbClr val="F4F8FC"/>
          </a:solidFill>
          <a:ln w="9525">
            <a:solidFill>
              <a:srgbClr val="CB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linkbar_milkpal_scene2_254x429_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842" y="1463954"/>
            <a:ext cx="2331720" cy="39300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054096" y="1664208"/>
            <a:ext cx="2852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100">
                <a:solidFill>
                  <a:srgbClr val="2E9BD6"/>
                </a:solidFill>
                <a:latin typeface="Arial"/>
                <a:ea typeface="微软雅黑"/>
                <a:cs typeface="微软雅黑"/>
              </a:rPr>
              <a:t>LINKBAR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54096" y="1883664"/>
            <a:ext cx="28895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MilkPal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4096" y="2212848"/>
            <a:ext cx="2889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台上自动供奶 / 发泡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54096" y="2468880"/>
            <a:ext cx="2834640" cy="0"/>
          </a:xfrm>
          <a:prstGeom prst="line">
            <a:avLst/>
          </a:prstGeom>
          <a:ln w="9525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054096" y="257860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额定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578608"/>
            <a:ext cx="23408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5222E"/>
                </a:solidFill>
                <a:latin typeface="Arial"/>
                <a:ea typeface="微软雅黑"/>
                <a:cs typeface="微软雅黑"/>
              </a:rPr>
              <a:t>3000W　220–230V / 50Hz　30kg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4096" y="295808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尺寸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958084"/>
            <a:ext cx="23408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5222E"/>
                </a:solidFill>
                <a:latin typeface="Arial"/>
                <a:ea typeface="微软雅黑"/>
                <a:cs typeface="微软雅黑"/>
              </a:rPr>
              <a:t>534×195×388mm（官方规格图）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33756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菜单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337560"/>
            <a:ext cx="23408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5222E"/>
                </a:solidFill>
                <a:latin typeface="Arial"/>
                <a:ea typeface="微软雅黑"/>
                <a:cs typeface="微软雅黑"/>
              </a:rPr>
              <a:t>热奶 / 热泡 / 冷奶 / 冷泡，官网明确支持植物奶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4096" y="3717035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预设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717035"/>
            <a:ext cx="23408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5222E"/>
                </a:solidFill>
                <a:latin typeface="Arial"/>
                <a:ea typeface="微软雅黑"/>
                <a:cs typeface="微软雅黑"/>
              </a:rPr>
              <a:t>4 种类型 + 16 组自定义参数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54096" y="4096511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产能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096511"/>
            <a:ext cx="23408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5222E"/>
                </a:solidFill>
                <a:latin typeface="Arial"/>
                <a:ea typeface="微软雅黑"/>
                <a:cs typeface="微软雅黑"/>
              </a:rPr>
              <a:t>120 杯/h @200mL（官方标称）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54096" y="447598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价格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475988"/>
            <a:ext cx="23408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5222E"/>
                </a:solidFill>
                <a:latin typeface="Arial"/>
                <a:ea typeface="微软雅黑"/>
                <a:cs typeface="微软雅黑"/>
              </a:rPr>
              <a:t>前代 Double Favor 中国零售 ¥36,800（2024-08）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54096" y="4901184"/>
            <a:ext cx="2834640" cy="38404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82112" y="4974336"/>
            <a:ext cx="26151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免开孔落台，装机最快；多菜单适配奶咖+茶饮混合菜单。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44768" y="1463040"/>
            <a:ext cx="5477256" cy="3931920"/>
          </a:xfrm>
          <a:prstGeom prst="rect">
            <a:avLst/>
          </a:prstGeom>
          <a:solidFill>
            <a:srgbClr val="F4F8FC"/>
          </a:solidFill>
          <a:ln w="9525">
            <a:solidFill>
              <a:srgbClr val="CB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9" name="Picture 28" descr="st_prod_254x429_5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5682" y="1463954"/>
            <a:ext cx="2331720" cy="393009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631936" y="1664208"/>
            <a:ext cx="2852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100">
                <a:solidFill>
                  <a:srgbClr val="2E9BD6"/>
                </a:solidFill>
                <a:latin typeface="Arial"/>
                <a:ea typeface="微软雅黑"/>
                <a:cs typeface="微软雅黑"/>
              </a:rPr>
              <a:t>LINKBAR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31936" y="1883664"/>
            <a:ext cx="28895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Single Touch Milk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31936" y="2212848"/>
            <a:ext cx="2889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分体台下主机 + 台上龙头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631936" y="2468880"/>
            <a:ext cx="2834640" cy="0"/>
          </a:xfrm>
          <a:prstGeom prst="line">
            <a:avLst/>
          </a:prstGeom>
          <a:ln w="9525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631936" y="257860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额定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2578608"/>
            <a:ext cx="23408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5222E"/>
                </a:solidFill>
                <a:latin typeface="Arial"/>
                <a:ea typeface="微软雅黑"/>
                <a:cs typeface="微软雅黑"/>
              </a:rPr>
              <a:t>3400W　220V / 16A（V0.7.3）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31936" y="295808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尺寸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2958084"/>
            <a:ext cx="23408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5222E"/>
                </a:solidFill>
                <a:latin typeface="Arial"/>
                <a:ea typeface="微软雅黑"/>
                <a:cs typeface="微软雅黑"/>
              </a:rPr>
              <a:t>龙头 116×137×250　主机 320×500×147mm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31936" y="333756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重量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337560"/>
            <a:ext cx="23408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5222E"/>
                </a:solidFill>
                <a:latin typeface="Arial"/>
                <a:ea typeface="微软雅黑"/>
                <a:cs typeface="微软雅黑"/>
              </a:rPr>
              <a:t>龙头 1.4kg + 主机 18kg = 19.4kg（不含冷藏柜）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31936" y="3717035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预设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3717035"/>
            <a:ext cx="23408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5222E"/>
                </a:solidFill>
                <a:latin typeface="Arial"/>
                <a:ea typeface="微软雅黑"/>
                <a:cs typeface="微软雅黑"/>
              </a:rPr>
              <a:t>4 种类型 + 16 组自定义参数，支持植物奶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31936" y="4096511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清洗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4096511"/>
            <a:ext cx="23408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5222E"/>
                </a:solidFill>
                <a:latin typeface="Arial"/>
                <a:ea typeface="微软雅黑"/>
                <a:cs typeface="微软雅黑"/>
              </a:rPr>
              <a:t>每日碱性清洗 + 每周酸性深洗，24h 触发强制清洁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31936" y="447598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价格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4475988"/>
            <a:ext cx="23408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5222E"/>
                </a:solidFill>
                <a:latin typeface="Arial"/>
                <a:ea typeface="微软雅黑"/>
                <a:cs typeface="微软雅黑"/>
              </a:rPr>
              <a:t>新加坡奶模块 S$9,500；+1 冷藏柜 S$10,600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31936" y="4901184"/>
            <a:ext cx="2834640" cy="38404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59952" y="4974336"/>
            <a:ext cx="26151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台面只留龙头，适合新店与吧台改造；交付要带开孔图与管线图。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5541264"/>
            <a:ext cx="11058113" cy="475488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66928" y="5541264"/>
            <a:ext cx="50292" cy="475488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8096" y="5632704"/>
            <a:ext cx="1065577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同源关系：2024 年 8 月行业媒体披露 Linkbar 与 Marco 就 Double Favor 版本达成全球市场合作。两者共享核心平台，因此把比较落点放在版本号、区域配置、渠道覆盖与服务包这四项上。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6126480"/>
            <a:ext cx="1105811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8A97A3"/>
                </a:solidFill>
                <a:latin typeface="Arial"/>
                <a:ea typeface="微软雅黑"/>
                <a:cs typeface="微软雅黑"/>
              </a:rPr>
              <a:t>参数与图片：Linkbar 官方产品页 S05 / S07、官方规格图 S06、ST-Milk V0.7.3 说明书 S08；价格：Stellar M 新加坡页 S15、Daily Coffee News 2024-08 S13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66928" y="6391656"/>
            <a:ext cx="11058113" cy="0"/>
          </a:xfrm>
          <a:prstGeom prst="line">
            <a:avLst/>
          </a:prstGeom>
          <a:ln w="9525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3"/>
                </a:solidFill>
                <a:latin typeface="Arial"/>
                <a:ea typeface="微软雅黑"/>
                <a:cs typeface="微软雅黑"/>
              </a:rPr>
              <a:t>商用自动奶泡系统竞品分析　|　产品开发与市场定位　|　2026-09-18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10641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77724" cy="27432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44348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00">
                <a:solidFill>
                  <a:srgbClr val="2E9BD6"/>
                </a:solidFill>
                <a:latin typeface="Arial"/>
                <a:ea typeface="微软雅黑"/>
                <a:cs typeface="微软雅黑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5295" y="40233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海外基准：Marco 交文档，Übermilk 交运行数据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两台机器提供两种可借鉴能力——完整到 15A 与管径的交付口径，以及把出量、运行与清洁周期留成记录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61872"/>
            <a:ext cx="11058113" cy="0"/>
          </a:xfrm>
          <a:prstGeom prst="line">
            <a:avLst/>
          </a:prstGeom>
          <a:ln w="12700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66928" y="1463040"/>
            <a:ext cx="5477256" cy="4517136"/>
          </a:xfrm>
          <a:prstGeom prst="rect">
            <a:avLst/>
          </a:prstGeom>
          <a:solidFill>
            <a:srgbClr val="F4F8FC"/>
          </a:solidFill>
          <a:ln w="9525">
            <a:solidFill>
              <a:srgbClr val="CB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marco_bar_250x210_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842" y="1463954"/>
            <a:ext cx="2286000" cy="1920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017520" y="162763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Marco MilkPal 1000090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938528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2E9BD6"/>
                </a:solidFill>
                <a:latin typeface="Arial"/>
                <a:ea typeface="微软雅黑"/>
                <a:cs typeface="微软雅黑"/>
              </a:rPr>
              <a:t>爱尔兰 · 同源合作参照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212848"/>
            <a:ext cx="2871216" cy="18288"/>
          </a:xfrm>
          <a:prstGeom prst="rect">
            <a:avLst/>
          </a:prstGeom>
          <a:solidFill>
            <a:srgbClr val="CBD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2340864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可核实标价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560320"/>
            <a:ext cx="294436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$7,500 标价　|　$6,750 成交价
€6,068 未含 VAT　|　S$9,950 税运另计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5844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额定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584448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15222E"/>
                </a:solidFill>
                <a:latin typeface="Arial"/>
                <a:ea typeface="微软雅黑"/>
                <a:cs typeface="微软雅黑"/>
              </a:rPr>
              <a:t>3100W　220V / 50Hz / 15A　30kg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9273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尺寸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3927348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15222E"/>
                </a:solidFill>
                <a:latin typeface="Arial"/>
                <a:ea typeface="微软雅黑"/>
                <a:cs typeface="微软雅黑"/>
              </a:rPr>
              <a:t>195×535×388mm，出水口至托盘 180mm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2702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管路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4270248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15222E"/>
                </a:solidFill>
                <a:latin typeface="Arial"/>
                <a:ea typeface="微软雅黑"/>
                <a:cs typeface="微软雅黑"/>
              </a:rPr>
              <a:t>1⁄4″ 快接进水，1½″ 排水；冰箱与滤芯单列计价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6131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菜单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1872" y="4613148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15222E"/>
                </a:solidFill>
                <a:latin typeface="Arial"/>
                <a:ea typeface="微软雅黑"/>
                <a:cs typeface="微软雅黑"/>
              </a:rPr>
              <a:t>热奶 / 热泡 / 冷奶 / 冷泡，支持乳奶与替代奶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9560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配方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4956048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15222E"/>
                </a:solidFill>
                <a:latin typeface="Arial"/>
                <a:ea typeface="微软雅黑"/>
                <a:cs typeface="微软雅黑"/>
              </a:rPr>
              <a:t>官方宣传 25 配方，V7 手册记 16 类，按版本核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2989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清洁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1872" y="5298948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15222E"/>
                </a:solidFill>
                <a:latin typeface="Arial"/>
                <a:ea typeface="微软雅黑"/>
                <a:cs typeface="微软雅黑"/>
              </a:rPr>
              <a:t>日终机器周期约 30 分钟，闲置 3/6 分钟自动冲洗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7842" y="5577840"/>
            <a:ext cx="5475427" cy="40233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5660136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把规格表做到可直接施工的程度，是国内交付包可以照搬的动作。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44768" y="1463040"/>
            <a:ext cx="5477256" cy="4517136"/>
          </a:xfrm>
          <a:prstGeom prst="rect">
            <a:avLst/>
          </a:prstGeom>
          <a:solidFill>
            <a:srgbClr val="F4F8FC"/>
          </a:solidFill>
          <a:ln w="9525">
            <a:solidFill>
              <a:srgbClr val="CB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45682" y="1463954"/>
            <a:ext cx="228600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1" name="Picture 30" descr="ubermilk_fro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6490" y="1554480"/>
            <a:ext cx="1102555" cy="173736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595360" y="162763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Übermilk 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1938528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2E9BD6"/>
                </a:solidFill>
                <a:latin typeface="Arial"/>
                <a:ea typeface="微软雅黑"/>
                <a:cs typeface="微软雅黑"/>
              </a:rPr>
              <a:t>德国 · 海外运营基准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95360" y="2212848"/>
            <a:ext cx="2871216" cy="18288"/>
          </a:xfrm>
          <a:prstGeom prst="rect">
            <a:avLst/>
          </a:prstGeom>
          <a:solidFill>
            <a:srgbClr val="CBD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0" y="2340864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可核实标价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2560320"/>
            <a:ext cx="294436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€7,260 起（未税）
安装 €350　|　160 天耗材包 €390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35844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额定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9712" y="3584448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15222E"/>
                </a:solidFill>
                <a:latin typeface="Arial"/>
                <a:ea typeface="微软雅黑"/>
                <a:cs typeface="微软雅黑"/>
              </a:rPr>
              <a:t>3100W　230V　25kg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39273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尺寸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9712" y="3927348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15222E"/>
                </a:solidFill>
                <a:latin typeface="Arial"/>
                <a:ea typeface="微软雅黑"/>
                <a:cs typeface="微软雅黑"/>
              </a:rPr>
              <a:t>180×485×540mm（台高 540）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27648" y="42702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奶源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39712" y="4270248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15222E"/>
                </a:solidFill>
                <a:latin typeface="Arial"/>
                <a:ea typeface="微软雅黑"/>
                <a:cs typeface="微软雅黑"/>
              </a:rPr>
              <a:t>外接冷藏奶源，官网建议距离不超过 2m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7648" y="46131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菜单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9712" y="4613148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15222E"/>
                </a:solidFill>
                <a:latin typeface="Arial"/>
                <a:ea typeface="微软雅黑"/>
                <a:cs typeface="微软雅黑"/>
              </a:rPr>
              <a:t>热微泡 / 拉花用途明确，份量·温度·稠度可调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27648" y="49560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产能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39712" y="4956048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15222E"/>
                </a:solidFill>
                <a:latin typeface="Arial"/>
                <a:ea typeface="微软雅黑"/>
                <a:cs typeface="微软雅黑"/>
              </a:rPr>
              <a:t>峰值 250 杯/h（单杯量按其自有口径）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27648" y="52989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数据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39712" y="5298948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15222E"/>
                </a:solidFill>
                <a:latin typeface="Arial"/>
                <a:ea typeface="微软雅黑"/>
                <a:cs typeface="微软雅黑"/>
              </a:rPr>
              <a:t>Übermilk Analytics 记录出量、运行与清洁周期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45682" y="5577840"/>
            <a:ext cx="5475427" cy="40233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27648" y="5660136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运行与清洁数据留痕，为连锁提供可审计的出品与保养证据。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6089904"/>
            <a:ext cx="1105811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8A97A3"/>
                </a:solidFill>
                <a:latin typeface="Arial"/>
                <a:ea typeface="微软雅黑"/>
                <a:cs typeface="微软雅黑"/>
              </a:rPr>
              <a:t>参数与图片：Marco 1000090 规格表 S09、说明书 V7 S10、美国产品页 S11；Übermilk 官方站 S12；价格：美国三家经销商（2026-09）、Blue Butterfly S17、Stellar M S16、Lomi S18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66928" y="6391656"/>
            <a:ext cx="11058113" cy="0"/>
          </a:xfrm>
          <a:prstGeom prst="line">
            <a:avLst/>
          </a:prstGeom>
          <a:ln w="9525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3"/>
                </a:solidFill>
                <a:latin typeface="Arial"/>
                <a:ea typeface="微软雅黑"/>
                <a:cs typeface="微软雅黑"/>
              </a:rPr>
              <a:t>商用自动奶泡系统竞品分析　|　产品开发与市场定位　|　2026-09-18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10641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77724" cy="27432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44348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00">
                <a:solidFill>
                  <a:srgbClr val="2E9BD6"/>
                </a:solidFill>
                <a:latin typeface="Arial"/>
                <a:ea typeface="微软雅黑"/>
                <a:cs typeface="微软雅黑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5295" y="40233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运营节奏：清洗周期与停机成本决定门店口碑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两份官方说明书写清了闲置冲洗与日终周期，把机器占用时间和员工人工时间分开计，就能算出真实停机成本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61872"/>
            <a:ext cx="11058113" cy="0"/>
          </a:xfrm>
          <a:prstGeom prst="line">
            <a:avLst/>
          </a:prstGeom>
          <a:ln w="12700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1481328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官方清洗节奏对照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8" y="1755648"/>
            <a:ext cx="6949439" cy="0"/>
          </a:xfrm>
          <a:prstGeom prst="line">
            <a:avLst/>
          </a:prstGeom>
          <a:ln w="9525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66928" y="1883664"/>
            <a:ext cx="6949440" cy="1408176"/>
          </a:xfrm>
          <a:prstGeom prst="rect">
            <a:avLst/>
          </a:prstGeom>
          <a:solidFill>
            <a:srgbClr val="F4F8FC"/>
          </a:solidFill>
          <a:ln w="9525">
            <a:solidFill>
              <a:srgbClr val="CB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883664"/>
            <a:ext cx="45720" cy="1408176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029968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Linkbar ST-Milk　V0.7.3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2359152"/>
            <a:ext cx="1225296" cy="27432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241858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闲置 3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706624"/>
            <a:ext cx="12618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快洗 约 10 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30552" y="2359152"/>
            <a:ext cx="1225296" cy="27432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03704" y="241858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闲置 6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30552" y="2706624"/>
            <a:ext cx="12618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30 s 倒数 + 标准清洗 约 25 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93008" y="2359152"/>
            <a:ext cx="1225296" cy="27432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241858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每日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3008" y="2706624"/>
            <a:ext cx="12618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碱性清洗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55464" y="2359152"/>
            <a:ext cx="1225296" cy="27432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28616" y="241858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每周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55464" y="2706624"/>
            <a:ext cx="12618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酸性深洗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359152"/>
            <a:ext cx="1225296" cy="27432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241858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满 24 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706624"/>
            <a:ext cx="12618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触发强制清洁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3456432"/>
            <a:ext cx="6949440" cy="1408176"/>
          </a:xfrm>
          <a:prstGeom prst="rect">
            <a:avLst/>
          </a:prstGeom>
          <a:solidFill>
            <a:srgbClr val="F4F8FC"/>
          </a:solidFill>
          <a:ln w="9525">
            <a:solidFill>
              <a:srgbClr val="CB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3456432"/>
            <a:ext cx="45720" cy="1408176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3602736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Marco MilkPal　V7 手册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" y="3931920"/>
            <a:ext cx="1225296" cy="274320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7" y="399135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闲置 3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" y="4279392"/>
            <a:ext cx="12618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冲洗 约 15 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30552" y="3931920"/>
            <a:ext cx="1225296" cy="274320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03704" y="399135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闲置 6 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30552" y="4279392"/>
            <a:ext cx="12618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冲洗 约 25 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93008" y="3931920"/>
            <a:ext cx="1225296" cy="274320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66160" y="399135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日终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93008" y="4279392"/>
            <a:ext cx="12618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机器完整周期 约 30 min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55464" y="3931920"/>
            <a:ext cx="1225296" cy="274320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28616" y="399135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计时口径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55464" y="4279392"/>
            <a:ext cx="12618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机器占用与人工分别计</a:t>
            </a:r>
          </a:p>
        </p:txBody>
      </p:sp>
      <p:pic>
        <p:nvPicPr>
          <p:cNvPr id="43" name="Picture 42" descr="marco_inuse_416x234_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264" y="1481328"/>
            <a:ext cx="3803904" cy="213969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827264" y="3675887"/>
            <a:ext cx="38039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8A97A3"/>
                </a:solidFill>
                <a:latin typeface="Arial"/>
                <a:ea typeface="微软雅黑"/>
                <a:cs typeface="微软雅黑"/>
              </a:rPr>
              <a:t>日常操作：奶缸直接取奶，员工动作从蒸汽棒切成一次按压（Marco 官方图）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27264" y="4133087"/>
            <a:ext cx="3803904" cy="184708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28431" y="42976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80">
                <a:solidFill>
                  <a:srgbClr val="2E9BD6"/>
                </a:solidFill>
                <a:latin typeface="Arial"/>
                <a:ea typeface="微软雅黑"/>
                <a:cs typeface="微软雅黑"/>
              </a:rPr>
              <a:t>开发目标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28431" y="4535424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≤ 5 min / 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28431" y="4974336"/>
            <a:ext cx="34198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EAF2FA"/>
                </a:solidFill>
                <a:latin typeface="Arial"/>
                <a:ea typeface="微软雅黑"/>
                <a:cs typeface="微软雅黑"/>
              </a:rPr>
              <a:t>员工人工清洁时间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028431" y="5248656"/>
            <a:ext cx="3401569" cy="0"/>
          </a:xfrm>
          <a:prstGeom prst="line">
            <a:avLst/>
          </a:prstGeom>
          <a:ln w="9525">
            <a:solidFill>
              <a:srgbClr val="2A4C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028431" y="5358384"/>
            <a:ext cx="343814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EAF2FA"/>
                </a:solidFill>
                <a:latin typeface="Arial"/>
                <a:ea typeface="微软雅黑"/>
                <a:cs typeface="微软雅黑"/>
              </a:rPr>
              <a:t>自动清洁引导员工按顺序完成并留下记录；可拆部件伸手可及；异常直接报到具体位置。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5047488"/>
            <a:ext cx="6949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统一测试要抓的四个时刻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66928" y="5303520"/>
            <a:ext cx="6949439" cy="0"/>
          </a:xfrm>
          <a:prstGeom prst="line">
            <a:avLst/>
          </a:prstGeom>
          <a:ln w="9525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66928" y="5413248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开店准备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5650992"/>
            <a:ext cx="166420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预热与首杯等待、昨夜残留、奶源温度、开机冲洗耗水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22576" y="5413248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高峰连续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22576" y="5650992"/>
            <a:ext cx="166420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连续 30 杯、冷热交替、换奶后首杯质量与最慢一杯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78224" y="5413248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闲置恢复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78224" y="5650992"/>
            <a:ext cx="166420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清洗中来单能否接、首杯温度与稠度、残奶回流规则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33872" y="5413248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故障维修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33872" y="5650992"/>
            <a:ext cx="166420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到场时效、备机、常换件价格、平均修复时间进合同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928" y="6181344"/>
            <a:ext cx="1105811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8A97A3"/>
                </a:solidFill>
                <a:latin typeface="Arial"/>
                <a:ea typeface="微软雅黑"/>
                <a:cs typeface="微软雅黑"/>
              </a:rPr>
              <a:t>清洗数据：Linkbar ST-Milk V0.7.3 说明书第 18–20 页（S08）；Marco MilkPal V7 说明书第 23 页（S10）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566928" y="6391656"/>
            <a:ext cx="11058113" cy="0"/>
          </a:xfrm>
          <a:prstGeom prst="line">
            <a:avLst/>
          </a:prstGeom>
          <a:ln w="9525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3"/>
                </a:solidFill>
                <a:latin typeface="Arial"/>
                <a:ea typeface="微软雅黑"/>
                <a:cs typeface="微软雅黑"/>
              </a:rPr>
              <a:t>商用自动奶泡系统竞品分析　|　产品开发与市场定位　|　2026-09-18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710641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77724" cy="27432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44348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00">
                <a:solidFill>
                  <a:srgbClr val="2E9BD6"/>
                </a:solidFill>
                <a:latin typeface="Arial"/>
                <a:ea typeface="微软雅黑"/>
                <a:cs typeface="微软雅黑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5295" y="40233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投入回收与开发路线：用门店数据接管假设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情景模型按整套投入 ¥35,000、26 天/月、人工 ¥30/小时、牛奶 ¥12/L 计算，输入全部可替换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61872"/>
            <a:ext cx="11058113" cy="0"/>
          </a:xfrm>
          <a:prstGeom prst="line">
            <a:avLst/>
          </a:prstGeom>
          <a:ln w="12700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1481328"/>
            <a:ext cx="5897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投入回收情景模型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773936"/>
          <a:ext cx="5897880" cy="149961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17320"/>
                <a:gridCol w="1554480"/>
                <a:gridCol w="1463040"/>
                <a:gridCol w="146304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50" b="1" i="0" spc="4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情景</a:t>
                      </a:r>
                    </a:p>
                  </a:txBody>
                  <a:tcPr marL="91440" marR="73152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 spc="4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奶类饮品/日</a:t>
                      </a:r>
                    </a:p>
                  </a:txBody>
                  <a:tcPr marL="91440" marR="73152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 spc="4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净收益/月</a:t>
                      </a:r>
                    </a:p>
                  </a:txBody>
                  <a:tcPr marL="91440" marR="73152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 spc="4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静态回收期</a:t>
                      </a:r>
                    </a:p>
                  </a:txBody>
                  <a:tcPr marL="91440" marR="73152" anchor="ctr">
                    <a:solidFill>
                      <a:srgbClr val="0B2E4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950" b="1" i="0">
                          <a:solidFill>
                            <a:srgbClr val="0B2E4F"/>
                          </a:solidFill>
                          <a:latin typeface="Arial"/>
                          <a:ea typeface="微软雅黑"/>
                          <a:cs typeface="微软雅黑"/>
                        </a:rPr>
                        <a:t>低使用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95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100 杯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95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−¥66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95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950" b="1" i="0">
                          <a:solidFill>
                            <a:srgbClr val="0B2E4F"/>
                          </a:solidFill>
                          <a:latin typeface="Arial"/>
                          <a:ea typeface="微软雅黑"/>
                          <a:cs typeface="微软雅黑"/>
                        </a:rPr>
                        <a:t>基准</a:t>
                      </a:r>
                    </a:p>
                  </a:txBody>
                  <a:tcPr marL="91440" marR="73152" marT="27432" marB="27432" anchor="ctr">
                    <a:solidFill>
                      <a:srgbClr val="F4F8FC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95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250 杯</a:t>
                      </a:r>
                    </a:p>
                  </a:txBody>
                  <a:tcPr marL="91440" marR="73152" marT="27432" marB="27432" anchor="ctr">
                    <a:solidFill>
                      <a:srgbClr val="F4F8FC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95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¥1,282</a:t>
                      </a:r>
                    </a:p>
                  </a:txBody>
                  <a:tcPr marL="91440" marR="73152" marT="27432" marB="27432" anchor="ctr">
                    <a:solidFill>
                      <a:srgbClr val="F4F8FC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95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约 27.3 个月</a:t>
                      </a:r>
                    </a:p>
                  </a:txBody>
                  <a:tcPr marL="91440" marR="73152" marT="27432" marB="27432" anchor="ctr">
                    <a:solidFill>
                      <a:srgbClr val="F4F8FC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950" b="1" i="0">
                          <a:solidFill>
                            <a:srgbClr val="0B2E4F"/>
                          </a:solidFill>
                          <a:latin typeface="Arial"/>
                          <a:ea typeface="微软雅黑"/>
                          <a:cs typeface="微软雅黑"/>
                        </a:rPr>
                        <a:t>高使用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95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400 杯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95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¥3,686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950" b="0" i="0">
                          <a:solidFill>
                            <a:srgbClr val="15222E"/>
                          </a:solidFill>
                          <a:latin typeface="Arial"/>
                          <a:ea typeface="微软雅黑"/>
                          <a:cs typeface="微软雅黑"/>
                        </a:rPr>
                        <a:t>约 9.5 个月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CBDAE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3310128"/>
            <a:ext cx="5897880" cy="932688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3401568"/>
            <a:ext cx="562356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月净收益 =日杯数 × 营业天数 × ( 每杯净节省秒数 ÷ 3600 × 时薪 × 兑现比例 + 每杯净节奶 L × 奶价 ) − 额外清洁人工 − 清洁耗材与维护。人工兑现比例设 0 时，基准场景月净收益 ¥740、回收期约 47.3 个月。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443984"/>
            <a:ext cx="5897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先验证的主场景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6928" y="4718304"/>
            <a:ext cx="5897880" cy="0"/>
          </a:xfrm>
          <a:prstGeom prst="line">
            <a:avLst/>
          </a:prstGeom>
          <a:ln w="9525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66928" y="4846320"/>
            <a:ext cx="8412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2E9BD6"/>
                </a:solidFill>
                <a:latin typeface="Arial"/>
                <a:ea typeface="微软雅黑"/>
                <a:cs typeface="微软雅黑"/>
              </a:rPr>
              <a:t>客群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4846320"/>
            <a:ext cx="31272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5222E"/>
                </a:solidFill>
                <a:latin typeface="Arial"/>
                <a:ea typeface="微软雅黑"/>
                <a:cs typeface="微软雅黑"/>
              </a:rPr>
              <a:t>独立咖啡店与区域连锁中，每天 200–400 杯奶类饮品的门店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266944"/>
            <a:ext cx="8412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2E9BD6"/>
                </a:solidFill>
                <a:latin typeface="Arial"/>
                <a:ea typeface="微软雅黑"/>
                <a:cs typeface="微软雅黑"/>
              </a:rPr>
              <a:t>痛点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5266944"/>
            <a:ext cx="31272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5222E"/>
                </a:solidFill>
                <a:latin typeface="Arial"/>
                <a:ea typeface="微软雅黑"/>
                <a:cs typeface="微软雅黑"/>
              </a:rPr>
              <a:t>员工轮换频繁、高峰出品波动、清洁步骤靠人盯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87568"/>
            <a:ext cx="8412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2E9BD6"/>
                </a:solidFill>
                <a:latin typeface="Arial"/>
                <a:ea typeface="微软雅黑"/>
                <a:cs typeface="微软雅黑"/>
              </a:rPr>
              <a:t>价值主张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5687568"/>
            <a:ext cx="31272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5222E"/>
                </a:solidFill>
                <a:latin typeface="Arial"/>
                <a:ea typeface="微软雅黑"/>
                <a:cs typeface="微软雅黑"/>
              </a:rPr>
              <a:t>让不同熟练度的员工稳定出奶，把清洁与停机成本摊到明面上</a:t>
            </a:r>
          </a:p>
        </p:txBody>
      </p:sp>
      <p:pic>
        <p:nvPicPr>
          <p:cNvPr id="20" name="Picture 19" descr="st_bar_183x140_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4809744"/>
            <a:ext cx="1673352" cy="12801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791456" y="6126480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8A97A3"/>
                </a:solidFill>
                <a:latin typeface="Arial"/>
                <a:ea typeface="微软雅黑"/>
                <a:cs typeface="微软雅黑"/>
              </a:rPr>
              <a:t>一次按压完成出奶（Linkbar 官方图）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1481328"/>
            <a:ext cx="48646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开发优先级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766560" y="1755648"/>
            <a:ext cx="4864608" cy="0"/>
          </a:xfrm>
          <a:prstGeom prst="line">
            <a:avLst/>
          </a:prstGeom>
          <a:ln w="9525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766560" y="1883664"/>
            <a:ext cx="566928" cy="56692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2039112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P0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1901952"/>
            <a:ext cx="413308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5222E"/>
                </a:solidFill>
                <a:latin typeface="Arial"/>
                <a:ea typeface="微软雅黑"/>
                <a:cs typeface="微软雅黑"/>
              </a:rPr>
              <a:t>冷热奶泡重复性 · 定量校准 · 缺奶与堵塞提示 · 清洁引导 · 可维护奶路 · 冷藏整合 · 国内备件与售后流程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2670048"/>
            <a:ext cx="566928" cy="56692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2825496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P1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9792" y="2688336"/>
            <a:ext cx="413308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5222E"/>
                </a:solidFill>
                <a:latin typeface="Arial"/>
                <a:ea typeface="微软雅黑"/>
                <a:cs typeface="微软雅黑"/>
              </a:rPr>
              <a:t>奶种配方管理 · 权限与使用记录 · 台下安装套件；双奶路依访谈结论决定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6560" y="3456432"/>
            <a:ext cx="566928" cy="566928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611880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P2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474720"/>
            <a:ext cx="413308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5222E"/>
                </a:solidFill>
                <a:latin typeface="Arial"/>
                <a:ea typeface="微软雅黑"/>
                <a:cs typeface="微软雅黑"/>
              </a:rPr>
              <a:t>联网远程下发配方与故障诊断，配合连锁付费意愿推进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315968"/>
            <a:ext cx="48646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5FA8"/>
                </a:solidFill>
                <a:latin typeface="Arial"/>
                <a:ea typeface="微软雅黑"/>
                <a:cs typeface="微软雅黑"/>
              </a:rPr>
              <a:t>决策顺序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766560" y="4590288"/>
            <a:ext cx="4864608" cy="0"/>
          </a:xfrm>
          <a:prstGeom prst="line">
            <a:avLst/>
          </a:prstGeom>
          <a:ln w="9525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6766560" y="4713731"/>
            <a:ext cx="182880" cy="18288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0" y="4732020"/>
            <a:ext cx="182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4700016"/>
            <a:ext cx="15361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拿同配置含税整套报价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13648" y="4709159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主机 / 龙头 · 冰箱 · 净水减压 · 安装耗材 · 运输 · 培训 · 税率 · 保修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66560" y="5125212"/>
            <a:ext cx="182880" cy="18288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60" y="5143500"/>
            <a:ext cx="182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5111496"/>
            <a:ext cx="15361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借样做统一工况测试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13648" y="5120640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定量与温控误差 · 连续 30 杯 P95 · 泡质盲评 · 净损耗 · 人工清洁计时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66560" y="5536692"/>
            <a:ext cx="182880" cy="18288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66560" y="5554980"/>
            <a:ext cx="182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0" y="5522976"/>
            <a:ext cx="15361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访谈 10–15 家门店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13648" y="5532120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覆盖不同规模与奶咖占比，验证支付意愿与回收期门槛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66560" y="5948172"/>
            <a:ext cx="182880" cy="18288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66560" y="5966460"/>
            <a:ext cx="182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0880" y="5934456"/>
            <a:ext cx="15361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定台上/台下主产品与售价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13648" y="5943600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875"/>
                </a:solidFill>
                <a:latin typeface="Arial"/>
                <a:ea typeface="微软雅黑"/>
                <a:cs typeface="微软雅黑"/>
              </a:rPr>
              <a:t>用实测与报价替换模型输入，锁定 ¥30,000–37,000 价带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66928" y="6391656"/>
            <a:ext cx="11058113" cy="0"/>
          </a:xfrm>
          <a:prstGeom prst="line">
            <a:avLst/>
          </a:prstGeom>
          <a:ln w="9525">
            <a:solidFill>
              <a:srgbClr val="CB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3"/>
                </a:solidFill>
                <a:latin typeface="Arial"/>
                <a:ea typeface="微软雅黑"/>
                <a:cs typeface="微软雅黑"/>
              </a:rPr>
              <a:t>商用自动奶泡系统竞品分析　|　产品开发与市场定位　|　2026-09-18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10641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E4F"/>
                </a:solidFill>
                <a:latin typeface="Arial"/>
                <a:ea typeface="微软雅黑"/>
                <a:cs typeface="微软雅黑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