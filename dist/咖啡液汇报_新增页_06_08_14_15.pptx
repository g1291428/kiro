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7"/>
  </p:notesMasterIdLst>
  <p:sldIdLst>
    <p:sldId id="301" r:id="rId8"/>
    <p:sldId id="300" r:id="rId10"/>
    <p:sldId id="298" r:id="rId16"/>
    <p:sldId id="299" r:id="rId17"/>
  </p:sldIdLst>
  <p:sldSz cx="12192000" cy="6858000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16C"/>
    <a:srgbClr val="1E5996"/>
    <a:srgbClr val="B9282C"/>
    <a:srgbClr val="A2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77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6.xml"/><Relationship Id="rId10" Type="http://schemas.openxmlformats.org/officeDocument/2006/relationships/slide" Target="slides/slide8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927915-AFB6-469B-9C17-020B5C66077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2026/9/17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8750"/>
          </a:xfrm>
          <a:prstGeom prst="rect">
            <a:avLst/>
          </a:prstGeom>
          <a:solidFill>
            <a:srgbClr val="1E599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786563"/>
            <a:ext cx="12192000" cy="71438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ea typeface="等线" panose="02010600030101010101" pitchFamily="2" charset="-122"/>
              </a:rPr>
              <a:t>‹#›</a:t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8750"/>
          </a:xfrm>
          <a:prstGeom prst="rect">
            <a:avLst/>
          </a:prstGeom>
          <a:solidFill>
            <a:srgbClr val="1E599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786563"/>
            <a:ext cx="12192000" cy="71438"/>
          </a:xfrm>
          <a:prstGeom prst="rect">
            <a:avLst/>
          </a:prstGeom>
          <a:solidFill>
            <a:srgbClr val="B9282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ea typeface="等线" panose="02010600030101010101" pitchFamily="2" charset="-122"/>
              </a:rPr>
              <a:t>‹#›</a:t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01 / 项目背景 · 市场前景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现制咖啡规模化 ＋ 冷杀菌装备扩容，</a:t>
            </a:r>
            <a:r>
              <a:rPr sz="2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构成确定的市场窗口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353973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3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万家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瑞幸单一品牌国内门店数（2026.02）</a:t>
            </a:r>
          </a:p>
        </p:txBody>
      </p:sp>
      <p:sp>
        <p:nvSpPr>
          <p:cNvPr id="10" name="Rectangle 8"/>
          <p:cNvSpPr/>
          <p:nvPr/>
        </p:nvSpPr>
        <p:spPr>
          <a:xfrm>
            <a:off x="566928" y="1316736"/>
            <a:ext cx="50292" cy="621792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4326118" y="1188720"/>
            <a:ext cx="353973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77.2</a:t>
            </a:r>
            <a:r>
              <a:rPr sz="130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 亿美元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中国咖啡市场 2031 年预测规模</a:t>
            </a:r>
          </a:p>
        </p:txBody>
      </p:sp>
      <p:sp>
        <p:nvSpPr>
          <p:cNvPr id="12" name="Rectangle 10"/>
          <p:cNvSpPr/>
          <p:nvPr/>
        </p:nvSpPr>
        <p:spPr>
          <a:xfrm>
            <a:off x="4326118" y="1316736"/>
            <a:ext cx="50292" cy="621792"/>
          </a:xfrm>
          <a:prstGeom prst="rect">
            <a:avLst/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Rounded Rectangle 11"/>
          <p:cNvSpPr/>
          <p:nvPr/>
        </p:nvSpPr>
        <p:spPr>
          <a:xfrm>
            <a:off x="8085308" y="1188720"/>
            <a:ext cx="3539734" cy="877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54864" bIns="54864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2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12.81</a:t>
            </a: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 %</a:t>
            </a:r>
          </a:p>
          <a:p>
            <a:pPr algn="l">
              <a:lnSpc>
                <a:spcPct val="115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全球 HPP 冷杀菌装备 CAGR（2023—2030）</a:t>
            </a:r>
          </a:p>
        </p:txBody>
      </p:sp>
      <p:sp>
        <p:nvSpPr>
          <p:cNvPr id="14" name="Rectangle 12"/>
          <p:cNvSpPr/>
          <p:nvPr/>
        </p:nvSpPr>
        <p:spPr>
          <a:xfrm>
            <a:off x="8085308" y="1316736"/>
            <a:ext cx="50292" cy="62179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Rounded Rectangle 13"/>
          <p:cNvSpPr/>
          <p:nvPr/>
        </p:nvSpPr>
        <p:spPr>
          <a:xfrm>
            <a:off x="566928" y="2231136"/>
            <a:ext cx="3527542" cy="31455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6" name="Round Same Side Corner Rectangle 14"/>
          <p:cNvSpPr/>
          <p:nvPr/>
        </p:nvSpPr>
        <p:spPr>
          <a:xfrm>
            <a:off x="566928" y="2231136"/>
            <a:ext cx="3527542" cy="512064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需求端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768096" y="2889504"/>
            <a:ext cx="312520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 万家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68096" y="3456432"/>
            <a:ext cx="312520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终端网络已规模化</a:t>
            </a:r>
          </a:p>
        </p:txBody>
      </p:sp>
      <p:sp>
        <p:nvSpPr>
          <p:cNvPr id="19" name="Rectangle 17"/>
          <p:cNvSpPr/>
          <p:nvPr/>
        </p:nvSpPr>
        <p:spPr>
          <a:xfrm>
            <a:off x="768096" y="3785616"/>
            <a:ext cx="3125206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768096" y="3895344"/>
            <a:ext cx="3125206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6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瑞幸 2026 年 2 月开出国内第 3 万家门店，覆盖 32 个省级行政区、300 余个城市；2026 年二季度净收入 158.86 亿元，同比增长 28.5%，月均交易客户数创历史新高。</a:t>
            </a:r>
          </a:p>
        </p:txBody>
      </p:sp>
      <p:sp>
        <p:nvSpPr>
          <p:cNvPr id="21" name="Rounded Rectangle 19"/>
          <p:cNvSpPr/>
          <p:nvPr/>
        </p:nvSpPr>
        <p:spPr>
          <a:xfrm>
            <a:off x="713232" y="4663440"/>
            <a:ext cx="3234934" cy="566928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8288" bIns="18288" wrap="square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sz="11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门店密度与客流规模同步抬升，标准化咖啡液原料需求随之放大</a:t>
            </a:r>
          </a:p>
        </p:txBody>
      </p:sp>
      <p:sp>
        <p:nvSpPr>
          <p:cNvPr id="22" name="Rounded Rectangle 20"/>
          <p:cNvSpPr/>
          <p:nvPr/>
        </p:nvSpPr>
        <p:spPr>
          <a:xfrm>
            <a:off x="4332214" y="2231136"/>
            <a:ext cx="3527542" cy="31455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3" name="Round Same Side Corner Rectangle 21"/>
          <p:cNvSpPr/>
          <p:nvPr/>
        </p:nvSpPr>
        <p:spPr>
          <a:xfrm>
            <a:off x="4332214" y="2231136"/>
            <a:ext cx="3527542" cy="512064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品类端</a:t>
            </a:r>
          </a:p>
        </p:txBody>
      </p:sp>
      <p:sp>
        <p:nvSpPr>
          <p:cNvPr id="24" name="TextBox 22"/>
          <p:cNvSpPr txBox="1"/>
          <p:nvPr/>
        </p:nvSpPr>
        <p:spPr>
          <a:xfrm>
            <a:off x="4533382" y="2889504"/>
            <a:ext cx="312520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621.74</a:t>
            </a:r>
            <a:r>
              <a:rPr sz="140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4533382" y="3456432"/>
            <a:ext cx="312520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咖啡液增速领先</a:t>
            </a:r>
          </a:p>
        </p:txBody>
      </p:sp>
      <p:sp>
        <p:nvSpPr>
          <p:cNvPr id="26" name="Rectangle 24"/>
          <p:cNvSpPr/>
          <p:nvPr/>
        </p:nvSpPr>
        <p:spPr>
          <a:xfrm>
            <a:off x="4533382" y="3785616"/>
            <a:ext cx="3125206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7" name="TextBox 25"/>
          <p:cNvSpPr txBox="1"/>
          <p:nvPr/>
        </p:nvSpPr>
        <p:spPr>
          <a:xfrm>
            <a:off x="4533382" y="3895344"/>
            <a:ext cx="3125206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6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本项目调研显示，咖啡液 2021—2025 年增长 621.74%，2025 年年度消费产值 94.8 亿元；中国咖啡市场预计由 2026 年 57.95 亿美元增至 2031 年 77.2 亿美元，年复合增长率 5.89%。</a:t>
            </a:r>
          </a:p>
        </p:txBody>
      </p:sp>
      <p:sp>
        <p:nvSpPr>
          <p:cNvPr id="28" name="Rounded Rectangle 26"/>
          <p:cNvSpPr/>
          <p:nvPr/>
        </p:nvSpPr>
        <p:spPr>
          <a:xfrm>
            <a:off x="4478518" y="4663440"/>
            <a:ext cx="3234934" cy="566928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8288" bIns="18288" wrap="square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sz="11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品类高增已被市场验证，不再停留于概念阶段</a:t>
            </a:r>
          </a:p>
        </p:txBody>
      </p:sp>
      <p:sp>
        <p:nvSpPr>
          <p:cNvPr id="29" name="Rounded Rectangle 27"/>
          <p:cNvSpPr/>
          <p:nvPr/>
        </p:nvSpPr>
        <p:spPr>
          <a:xfrm>
            <a:off x="8097500" y="2231136"/>
            <a:ext cx="3527542" cy="31455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0" name="Round Same Side Corner Rectangle 28"/>
          <p:cNvSpPr/>
          <p:nvPr/>
        </p:nvSpPr>
        <p:spPr>
          <a:xfrm>
            <a:off x="8097500" y="2231136"/>
            <a:ext cx="3527542" cy="512064"/>
          </a:xfrm>
          <a:prstGeom prst="round2SameRect">
            <a:avLst>
              <a:gd name="adj1" fmla="val 10000"/>
              <a:gd name="adj2" fmla="val 0"/>
            </a:avLst>
          </a:prstGeom>
          <a:solidFill>
            <a:srgbClr val="2A7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 wrap="square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装备端</a:t>
            </a:r>
          </a:p>
        </p:txBody>
      </p:sp>
      <p:sp>
        <p:nvSpPr>
          <p:cNvPr id="31" name="TextBox 29"/>
          <p:cNvSpPr txBox="1"/>
          <p:nvPr/>
        </p:nvSpPr>
        <p:spPr>
          <a:xfrm>
            <a:off x="8298668" y="2889504"/>
            <a:ext cx="312520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>
                <a:solidFill>
                  <a:srgbClr val="2A7ABF"/>
                </a:solidFill>
                <a:latin typeface="微软雅黑"/>
                <a:ea typeface="微软雅黑"/>
                <a:cs typeface="微软雅黑"/>
              </a:rPr>
              <a:t>22.52</a:t>
            </a:r>
            <a:r>
              <a:rPr sz="1400" b="1">
                <a:solidFill>
                  <a:srgbClr val="2A7ABF"/>
                </a:solidFill>
                <a:latin typeface="微软雅黑"/>
                <a:ea typeface="微软雅黑"/>
                <a:cs typeface="微软雅黑"/>
              </a:rPr>
              <a:t> 亿美元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8298668" y="3456432"/>
            <a:ext cx="312520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冷杀菌装备扩容</a:t>
            </a:r>
          </a:p>
        </p:txBody>
      </p:sp>
      <p:sp>
        <p:nvSpPr>
          <p:cNvPr id="33" name="Rectangle 31"/>
          <p:cNvSpPr/>
          <p:nvPr/>
        </p:nvSpPr>
        <p:spPr>
          <a:xfrm>
            <a:off x="8298668" y="3785616"/>
            <a:ext cx="3125206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4" name="TextBox 32"/>
          <p:cNvSpPr txBox="1"/>
          <p:nvPr/>
        </p:nvSpPr>
        <p:spPr>
          <a:xfrm>
            <a:off x="8298668" y="3895344"/>
            <a:ext cx="3125206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6000"/>
              </a:lnSpc>
              <a:buNone/>
            </a:pPr>
            <a:r>
              <a:rPr sz="115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全球超高压（HPP）冷杀菌装备市场预计由 2023 年 9.67 亿美元增至 2030 年 22.52 亿美元；全球已装机 350 台以上，其中约 19% 用于果汁与饮料，冷杀菌需求明确。</a:t>
            </a:r>
          </a:p>
        </p:txBody>
      </p:sp>
      <p:sp>
        <p:nvSpPr>
          <p:cNvPr id="35" name="Rounded Rectangle 33"/>
          <p:cNvSpPr/>
          <p:nvPr/>
        </p:nvSpPr>
        <p:spPr>
          <a:xfrm>
            <a:off x="8243804" y="4663440"/>
            <a:ext cx="3234934" cy="566928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8288" bIns="18288" wrap="square">
            <a:noAutofit/>
          </a:bodyPr>
          <a:lstStyle/>
          <a:p>
            <a:pPr algn="l">
              <a:lnSpc>
                <a:spcPct val="132000"/>
              </a:lnSpc>
              <a:buNone/>
            </a:pPr>
            <a:r>
              <a:rPr sz="11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装备增速显著高于饮料整体，连续式低温杀菌仍有空位</a:t>
            </a:r>
          </a:p>
        </p:txBody>
      </p:sp>
      <p:sp>
        <p:nvSpPr>
          <p:cNvPr id="36" name="Rounded Rectangle 34"/>
          <p:cNvSpPr/>
          <p:nvPr/>
        </p:nvSpPr>
        <p:spPr>
          <a:xfrm>
            <a:off x="566928" y="5522976"/>
            <a:ext cx="11058114" cy="640080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需求、品类、装备三端趋势叠加，</a:t>
            </a:r>
            <a:r>
              <a:rPr sz="16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萃取与超声杀菌一体化装备正处在市场窗口的交汇点</a:t>
            </a:r>
          </a:p>
        </p:txBody>
      </p:sp>
      <p:sp>
        <p:nvSpPr>
          <p:cNvPr id="37" name="Rectangle 35"/>
          <p:cNvSpPr/>
          <p:nvPr/>
        </p:nvSpPr>
        <p:spPr>
          <a:xfrm>
            <a:off x="749808" y="5650992"/>
            <a:ext cx="59436" cy="384048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8" name="TextBox 36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　|　来源：CGTN 2026-02；瑞幸 2026Q2 业绩；Mordor Intelligence China Coffee Market；360iResearch HPP 装备报告；Hiperbaric 官方资料</a:t>
            </a:r>
          </a:p>
        </p:txBody>
      </p:sp>
      <p:sp>
        <p:nvSpPr>
          <p:cNvPr id="39" name="TextBox 37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06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91732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02 / 行业现状 · 应用场景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高峰期大流量场景：</a:t>
            </a:r>
            <a:r>
              <a:rPr sz="2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出杯速度、风味一致性与人力成本三重挤压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11058114" cy="676656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19456" tIns="36576" bIns="36576" wrap="square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4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高峰期矛盾　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现磨模式受研磨、萃取、清洗节拍限制，而订单集中在早高峰与午后释放，门店同时承受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出杯排队、风味漂移、峰值人力</a:t>
            </a: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 三重压力。</a:t>
            </a:r>
          </a:p>
        </p:txBody>
      </p:sp>
      <p:sp>
        <p:nvSpPr>
          <p:cNvPr id="10" name="Rectangle 8"/>
          <p:cNvSpPr/>
          <p:nvPr/>
        </p:nvSpPr>
        <p:spPr>
          <a:xfrm>
            <a:off x="566928" y="1188720"/>
            <a:ext cx="54864" cy="676656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ounded Rectangle 9"/>
          <p:cNvSpPr/>
          <p:nvPr/>
        </p:nvSpPr>
        <p:spPr>
          <a:xfrm>
            <a:off x="566928" y="2011680"/>
            <a:ext cx="359359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2" name="Rectangle 10"/>
          <p:cNvSpPr/>
          <p:nvPr/>
        </p:nvSpPr>
        <p:spPr>
          <a:xfrm>
            <a:off x="566928" y="2011680"/>
            <a:ext cx="50292" cy="160020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3" name="TextBox 11"/>
          <p:cNvSpPr txBox="1"/>
          <p:nvPr/>
        </p:nvSpPr>
        <p:spPr>
          <a:xfrm>
            <a:off x="786384" y="217627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D6E2EE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1353312" y="2212848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连锁咖啡门店 · 早午高峰</a:t>
            </a:r>
          </a:p>
        </p:txBody>
      </p:sp>
      <p:sp>
        <p:nvSpPr>
          <p:cNvPr id="15" name="Rectangle 13"/>
          <p:cNvSpPr/>
          <p:nvPr/>
        </p:nvSpPr>
        <p:spPr>
          <a:xfrm>
            <a:off x="786384" y="2578608"/>
            <a:ext cx="3154680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6" name="TextBox 14"/>
          <p:cNvSpPr txBox="1"/>
          <p:nvPr/>
        </p:nvSpPr>
        <p:spPr>
          <a:xfrm>
            <a:off x="786384" y="2670048"/>
            <a:ext cx="31546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2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咖啡液即调即出，省去单杯研磨与萃取节拍；瑞幸国内门店已超 3 万家（2026.02），高峰出杯能力直接决定单店产出。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79976" y="2011680"/>
            <a:ext cx="359359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8" name="Rectangle 16"/>
          <p:cNvSpPr/>
          <p:nvPr/>
        </p:nvSpPr>
        <p:spPr>
          <a:xfrm>
            <a:off x="4379976" y="2011680"/>
            <a:ext cx="50292" cy="160020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9" name="TextBox 17"/>
          <p:cNvSpPr txBox="1"/>
          <p:nvPr/>
        </p:nvSpPr>
        <p:spPr>
          <a:xfrm>
            <a:off x="4599432" y="2176272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D6E2E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5166360" y="2212848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新茶饮 / 复合饮品店</a:t>
            </a:r>
          </a:p>
        </p:txBody>
      </p:sp>
      <p:sp>
        <p:nvSpPr>
          <p:cNvPr id="21" name="Rectangle 19"/>
          <p:cNvSpPr/>
          <p:nvPr/>
        </p:nvSpPr>
        <p:spPr>
          <a:xfrm>
            <a:off x="4599432" y="2578608"/>
            <a:ext cx="3154680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2" name="TextBox 20"/>
          <p:cNvSpPr txBox="1"/>
          <p:nvPr/>
        </p:nvSpPr>
        <p:spPr>
          <a:xfrm>
            <a:off x="4599432" y="2670048"/>
            <a:ext cx="31546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2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以咖啡液作标准化基底，门店无需配置专业磨豆与意式机，降低设备投入与咖啡师培训门槛。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566928" y="3813048"/>
            <a:ext cx="359359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4" name="Rectangle 22"/>
          <p:cNvSpPr/>
          <p:nvPr/>
        </p:nvSpPr>
        <p:spPr>
          <a:xfrm>
            <a:off x="566928" y="3813048"/>
            <a:ext cx="50292" cy="160020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5" name="TextBox 23"/>
          <p:cNvSpPr txBox="1"/>
          <p:nvPr/>
        </p:nvSpPr>
        <p:spPr>
          <a:xfrm>
            <a:off x="786384" y="397764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D6E2E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6" name="TextBox 24"/>
          <p:cNvSpPr txBox="1"/>
          <p:nvPr/>
        </p:nvSpPr>
        <p:spPr>
          <a:xfrm>
            <a:off x="1353312" y="4014216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便利店 · 自助咖啡机</a:t>
            </a:r>
          </a:p>
        </p:txBody>
      </p:sp>
      <p:sp>
        <p:nvSpPr>
          <p:cNvPr id="27" name="Rectangle 25"/>
          <p:cNvSpPr/>
          <p:nvPr/>
        </p:nvSpPr>
        <p:spPr>
          <a:xfrm>
            <a:off x="786384" y="4379976"/>
            <a:ext cx="3154680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8" name="TextBox 26"/>
          <p:cNvSpPr txBox="1"/>
          <p:nvPr/>
        </p:nvSpPr>
        <p:spPr>
          <a:xfrm>
            <a:off x="786384" y="4471416"/>
            <a:ext cx="31546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2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无人值守场景需要常温可存、开封即用的标准化原料，对货架期与批次一致性要求高于门店现制。</a:t>
            </a:r>
          </a:p>
        </p:txBody>
      </p:sp>
      <p:sp>
        <p:nvSpPr>
          <p:cNvPr id="29" name="Rounded Rectangle 27"/>
          <p:cNvSpPr/>
          <p:nvPr/>
        </p:nvSpPr>
        <p:spPr>
          <a:xfrm>
            <a:off x="4379976" y="3813048"/>
            <a:ext cx="359359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0" name="Rectangle 28"/>
          <p:cNvSpPr/>
          <p:nvPr/>
        </p:nvSpPr>
        <p:spPr>
          <a:xfrm>
            <a:off x="4379976" y="3813048"/>
            <a:ext cx="50292" cy="160020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1" name="TextBox 29"/>
          <p:cNvSpPr txBox="1"/>
          <p:nvPr/>
        </p:nvSpPr>
        <p:spPr>
          <a:xfrm>
            <a:off x="4599432" y="397764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D6E2E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2" name="TextBox 30"/>
          <p:cNvSpPr txBox="1"/>
          <p:nvPr/>
        </p:nvSpPr>
        <p:spPr>
          <a:xfrm>
            <a:off x="5166360" y="4014216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校园 · 写字楼 · 机场高铁</a:t>
            </a:r>
          </a:p>
        </p:txBody>
      </p:sp>
      <p:sp>
        <p:nvSpPr>
          <p:cNvPr id="33" name="Rectangle 31"/>
          <p:cNvSpPr/>
          <p:nvPr/>
        </p:nvSpPr>
        <p:spPr>
          <a:xfrm>
            <a:off x="4599432" y="4379976"/>
            <a:ext cx="3154680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4" name="TextBox 32"/>
          <p:cNvSpPr txBox="1"/>
          <p:nvPr/>
        </p:nvSpPr>
        <p:spPr>
          <a:xfrm>
            <a:off x="4599432" y="4471416"/>
            <a:ext cx="3154680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buNone/>
            </a:pPr>
            <a:r>
              <a:rPr sz="112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短时高并发人流，要求批量稳定供应与一致口感，供应中断或口感漂移会直接损失峰值销量。</a:t>
            </a:r>
          </a:p>
        </p:txBody>
      </p:sp>
      <p:sp>
        <p:nvSpPr>
          <p:cNvPr id="35" name="Rounded Rectangle 33"/>
          <p:cNvSpPr/>
          <p:nvPr/>
        </p:nvSpPr>
        <p:spPr>
          <a:xfrm>
            <a:off x="8211312" y="2011680"/>
            <a:ext cx="3413730" cy="402336"/>
          </a:xfrm>
          <a:prstGeom prst="roundRect">
            <a:avLst>
              <a:gd name="adj" fmla="val 12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 wrap="square">
            <a:no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对上游装备的要求</a:t>
            </a:r>
          </a:p>
        </p:txBody>
      </p:sp>
      <p:sp>
        <p:nvSpPr>
          <p:cNvPr id="36" name="Rounded Rectangle 34"/>
          <p:cNvSpPr/>
          <p:nvPr/>
        </p:nvSpPr>
        <p:spPr>
          <a:xfrm>
            <a:off x="8211312" y="2542032"/>
            <a:ext cx="3413730" cy="871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7" name="Rectangle 35"/>
          <p:cNvSpPr/>
          <p:nvPr/>
        </p:nvSpPr>
        <p:spPr>
          <a:xfrm>
            <a:off x="8357616" y="2670048"/>
            <a:ext cx="45720" cy="615696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8" name="TextBox 36"/>
          <p:cNvSpPr txBox="1"/>
          <p:nvPr/>
        </p:nvSpPr>
        <p:spPr>
          <a:xfrm>
            <a:off x="8503920" y="2670048"/>
            <a:ext cx="295653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常温货架期</a:t>
            </a:r>
          </a:p>
        </p:txBody>
      </p:sp>
      <p:sp>
        <p:nvSpPr>
          <p:cNvPr id="39" name="TextBox 37"/>
          <p:cNvSpPr txBox="1"/>
          <p:nvPr/>
        </p:nvSpPr>
        <p:spPr>
          <a:xfrm>
            <a:off x="8503920" y="2980944"/>
            <a:ext cx="2974818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  <a:buNone/>
            </a:pPr>
            <a:r>
              <a:rPr sz="11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无需冷链即可全国流通</a:t>
            </a:r>
          </a:p>
        </p:txBody>
      </p:sp>
      <p:sp>
        <p:nvSpPr>
          <p:cNvPr id="40" name="Rounded Rectangle 38"/>
          <p:cNvSpPr/>
          <p:nvPr/>
        </p:nvSpPr>
        <p:spPr>
          <a:xfrm>
            <a:off x="8211312" y="3541776"/>
            <a:ext cx="3413730" cy="871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1" name="Rectangle 39"/>
          <p:cNvSpPr/>
          <p:nvPr/>
        </p:nvSpPr>
        <p:spPr>
          <a:xfrm>
            <a:off x="8357616" y="3669792"/>
            <a:ext cx="45720" cy="615696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2" name="TextBox 40"/>
          <p:cNvSpPr txBox="1"/>
          <p:nvPr/>
        </p:nvSpPr>
        <p:spPr>
          <a:xfrm>
            <a:off x="8503920" y="3669792"/>
            <a:ext cx="295653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风味一致性</a:t>
            </a:r>
          </a:p>
        </p:txBody>
      </p:sp>
      <p:sp>
        <p:nvSpPr>
          <p:cNvPr id="43" name="TextBox 41"/>
          <p:cNvSpPr txBox="1"/>
          <p:nvPr/>
        </p:nvSpPr>
        <p:spPr>
          <a:xfrm>
            <a:off x="8503920" y="3980688"/>
            <a:ext cx="2974818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  <a:buNone/>
            </a:pPr>
            <a:r>
              <a:rPr sz="11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批次香气与口感稳定，支撑连锁标准化出品</a:t>
            </a:r>
          </a:p>
        </p:txBody>
      </p:sp>
      <p:sp>
        <p:nvSpPr>
          <p:cNvPr id="44" name="Rounded Rectangle 42"/>
          <p:cNvSpPr/>
          <p:nvPr/>
        </p:nvSpPr>
        <p:spPr>
          <a:xfrm>
            <a:off x="8211312" y="4541520"/>
            <a:ext cx="3413730" cy="871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5" name="Rectangle 43"/>
          <p:cNvSpPr/>
          <p:nvPr/>
        </p:nvSpPr>
        <p:spPr>
          <a:xfrm>
            <a:off x="8357616" y="4669536"/>
            <a:ext cx="45720" cy="615696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6" name="TextBox 44"/>
          <p:cNvSpPr txBox="1"/>
          <p:nvPr/>
        </p:nvSpPr>
        <p:spPr>
          <a:xfrm>
            <a:off x="8503920" y="4669536"/>
            <a:ext cx="295653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连续化产能</a:t>
            </a:r>
          </a:p>
        </p:txBody>
      </p:sp>
      <p:sp>
        <p:nvSpPr>
          <p:cNvPr id="47" name="TextBox 45"/>
          <p:cNvSpPr txBox="1"/>
          <p:nvPr/>
        </p:nvSpPr>
        <p:spPr>
          <a:xfrm>
            <a:off x="8503920" y="4980432"/>
            <a:ext cx="2974818" cy="323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8000"/>
              </a:lnSpc>
              <a:buNone/>
            </a:pPr>
            <a:r>
              <a:rPr sz="110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连续作业替代间歇批次，支撑规模化供货</a:t>
            </a:r>
          </a:p>
        </p:txBody>
      </p:sp>
      <p:sp>
        <p:nvSpPr>
          <p:cNvPr id="48" name="Rounded Rectangle 46"/>
          <p:cNvSpPr/>
          <p:nvPr/>
        </p:nvSpPr>
        <p:spPr>
          <a:xfrm>
            <a:off x="566928" y="5522976"/>
            <a:ext cx="11058114" cy="640080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高峰期大流量把标准化咖啡液变成刚需，而其</a:t>
            </a:r>
            <a:r>
              <a:rPr sz="16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风味与货架期由上游灭菌工艺决定</a:t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—— 即本项目切入点</a:t>
            </a:r>
          </a:p>
        </p:txBody>
      </p:sp>
      <p:sp>
        <p:nvSpPr>
          <p:cNvPr id="49" name="Rectangle 47"/>
          <p:cNvSpPr/>
          <p:nvPr/>
        </p:nvSpPr>
        <p:spPr>
          <a:xfrm>
            <a:off x="749808" y="5650992"/>
            <a:ext cx="59436" cy="384048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0" name="TextBox 48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　|　场景归纳基于行业公开信息与本项目调研；门店数据来源 CGTN 2026-02</a:t>
            </a:r>
          </a:p>
        </p:txBody>
      </p:sp>
      <p:sp>
        <p:nvSpPr>
          <p:cNvPr id="51" name="TextBox 49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08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157523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竞品分析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竞品格局：三条杀菌路线，</a:t>
            </a:r>
            <a:r>
              <a:rPr sz="2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尚无面向咖啡液的一体化整机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9" name="Rounded Rectangle 7"/>
          <p:cNvSpPr/>
          <p:nvPr/>
        </p:nvSpPr>
        <p:spPr>
          <a:xfrm>
            <a:off x="566928" y="1188720"/>
            <a:ext cx="352754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0" name="Round Same Side Corner Rectangle 8"/>
          <p:cNvSpPr/>
          <p:nvPr/>
        </p:nvSpPr>
        <p:spPr>
          <a:xfrm>
            <a:off x="566928" y="1188720"/>
            <a:ext cx="3527542" cy="73152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热杀菌 UHT</a:t>
            </a:r>
          </a:p>
          <a:p>
            <a:pPr algn="l">
              <a:lnSpc>
                <a:spcPct val="100000"/>
              </a:lnSpc>
              <a:buNone/>
            </a:pPr>
            <a:r>
              <a:rPr sz="950" b="1" spc="140">
                <a:solidFill>
                  <a:srgbClr val="C9DAEA"/>
                </a:solidFill>
                <a:latin typeface="微软雅黑"/>
                <a:ea typeface="微软雅黑"/>
                <a:cs typeface="微软雅黑"/>
              </a:rPr>
              <a:t>ULTRA-HIGH TEMPERATURE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796022" y="2048256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41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行业主流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68096" y="2048256"/>
            <a:ext cx="200963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050" b="1" spc="10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代表厂商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68096" y="2340864"/>
            <a:ext cx="312520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利乐 Tetra Pak、GEA</a:t>
            </a:r>
          </a:p>
          <a:p>
            <a:pPr algn="l">
              <a:lnSpc>
                <a:spcPct val="126000"/>
              </a:lnSpc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SPX FLOW 等</a:t>
            </a:r>
          </a:p>
        </p:txBody>
      </p:sp>
      <p:sp>
        <p:nvSpPr>
          <p:cNvPr id="14" name="Rectangle 12"/>
          <p:cNvSpPr/>
          <p:nvPr/>
        </p:nvSpPr>
        <p:spPr>
          <a:xfrm>
            <a:off x="768096" y="2871216"/>
            <a:ext cx="3125206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TextBox 13"/>
          <p:cNvSpPr txBox="1"/>
          <p:nvPr/>
        </p:nvSpPr>
        <p:spPr>
          <a:xfrm>
            <a:off x="768096" y="2980944"/>
            <a:ext cx="3125206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加热至 135℃ 以上杀灭全部微生物，产品可常温流通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需灭菌机与无菌灌装单元配套，用管式或板式换热器间接加热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头部咖啡液品牌（如永璞）即以 UHT 工艺主打锁鲜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13232" y="4517136"/>
            <a:ext cx="3234934" cy="7315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8288" bIns="18288" wrap="square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sz="1100" b="1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主要局限　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高温引发梅纳反应，改变风味与色泽；工序能耗高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32214" y="1188720"/>
            <a:ext cx="352754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8" name="Round Same Side Corner Rectangle 16"/>
          <p:cNvSpPr/>
          <p:nvPr/>
        </p:nvSpPr>
        <p:spPr>
          <a:xfrm>
            <a:off x="4332214" y="1188720"/>
            <a:ext cx="3527542" cy="73152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超高压 HPP</a:t>
            </a:r>
          </a:p>
          <a:p>
            <a:pPr algn="l">
              <a:lnSpc>
                <a:spcPct val="100000"/>
              </a:lnSpc>
              <a:buNone/>
            </a:pPr>
            <a:r>
              <a:rPr sz="950" b="1" spc="140">
                <a:solidFill>
                  <a:srgbClr val="C9DAEA"/>
                </a:solidFill>
                <a:latin typeface="微软雅黑"/>
                <a:ea typeface="微软雅黑"/>
                <a:cs typeface="微软雅黑"/>
              </a:rPr>
              <a:t>HIGH PRESSURE PROCESSING</a:t>
            </a:r>
          </a:p>
        </p:txBody>
      </p:sp>
      <p:sp>
        <p:nvSpPr>
          <p:cNvPr id="19" name="Rounded Rectangle 17"/>
          <p:cNvSpPr/>
          <p:nvPr/>
        </p:nvSpPr>
        <p:spPr>
          <a:xfrm>
            <a:off x="6561308" y="2048256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5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高端冷杀菌</a:t>
            </a:r>
          </a:p>
        </p:txBody>
      </p:sp>
      <p:sp>
        <p:nvSpPr>
          <p:cNvPr id="20" name="TextBox 18"/>
          <p:cNvSpPr txBox="1"/>
          <p:nvPr/>
        </p:nvSpPr>
        <p:spPr>
          <a:xfrm>
            <a:off x="4533382" y="2048256"/>
            <a:ext cx="200963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050" b="1" spc="10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代表厂商</a:t>
            </a:r>
          </a:p>
        </p:txBody>
      </p:sp>
      <p:sp>
        <p:nvSpPr>
          <p:cNvPr id="21" name="TextBox 19"/>
          <p:cNvSpPr txBox="1"/>
          <p:nvPr/>
        </p:nvSpPr>
        <p:spPr>
          <a:xfrm>
            <a:off x="4533382" y="2340864"/>
            <a:ext cx="312520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Hiperbaric（西班牙）</a:t>
            </a:r>
          </a:p>
          <a:p>
            <a:pPr algn="l">
              <a:lnSpc>
                <a:spcPct val="126000"/>
              </a:lnSpc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JBT Avure（美国）</a:t>
            </a:r>
          </a:p>
        </p:txBody>
      </p:sp>
      <p:sp>
        <p:nvSpPr>
          <p:cNvPr id="22" name="Rectangle 20"/>
          <p:cNvSpPr/>
          <p:nvPr/>
        </p:nvSpPr>
        <p:spPr>
          <a:xfrm>
            <a:off x="4533382" y="2871216"/>
            <a:ext cx="3125206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3" name="TextBox 21"/>
          <p:cNvSpPr txBox="1"/>
          <p:nvPr/>
        </p:nvSpPr>
        <p:spPr>
          <a:xfrm>
            <a:off x="4533382" y="2980944"/>
            <a:ext cx="3125206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5—20℃ 非热处理，压力最高 600 MPa，保压 1—3 分钟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全球装机 350 台以上，其中约 19% 用于果汁与饮料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冷加工可较好保留风味、质地与营养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4478518" y="4517136"/>
            <a:ext cx="3234934" cy="7315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8288" bIns="18288" wrap="square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sz="1100" b="1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主要局限　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间歇式在包处理难以连续化；承压腔体投资高；包内滞留气体带来能效损失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8097500" y="1188720"/>
            <a:ext cx="352754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6" name="Round Same Side Corner Rectangle 24"/>
          <p:cNvSpPr/>
          <p:nvPr/>
        </p:nvSpPr>
        <p:spPr>
          <a:xfrm>
            <a:off x="8097500" y="1188720"/>
            <a:ext cx="3527542" cy="73152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超声非热</a:t>
            </a:r>
          </a:p>
          <a:p>
            <a:pPr algn="l">
              <a:lnSpc>
                <a:spcPct val="100000"/>
              </a:lnSpc>
              <a:buNone/>
            </a:pPr>
            <a:r>
              <a:rPr sz="950" b="1" spc="140">
                <a:solidFill>
                  <a:srgbClr val="C9DAEA"/>
                </a:solidFill>
                <a:latin typeface="微软雅黑"/>
                <a:ea typeface="微软雅黑"/>
                <a:cs typeface="微软雅黑"/>
              </a:rPr>
              <a:t>POWER ULTRASOUND</a:t>
            </a:r>
          </a:p>
        </p:txBody>
      </p:sp>
      <p:sp>
        <p:nvSpPr>
          <p:cNvPr id="27" name="Rounded Rectangle 25"/>
          <p:cNvSpPr/>
          <p:nvPr/>
        </p:nvSpPr>
        <p:spPr>
          <a:xfrm>
            <a:off x="10326594" y="2048256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92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>
            <a:noAutofit/>
          </a:bodyPr>
          <a:lstStyle/>
          <a:p>
            <a:pPr algn="ctr">
              <a:buNone/>
            </a:pPr>
            <a:r>
              <a:rPr sz="1050" b="1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本项目路线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8298668" y="2048256"/>
            <a:ext cx="200963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050" b="1" spc="10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代表厂商</a:t>
            </a:r>
          </a:p>
        </p:txBody>
      </p:sp>
      <p:sp>
        <p:nvSpPr>
          <p:cNvPr id="29" name="TextBox 27"/>
          <p:cNvSpPr txBox="1"/>
          <p:nvPr/>
        </p:nvSpPr>
        <p:spPr>
          <a:xfrm>
            <a:off x="8298668" y="2340864"/>
            <a:ext cx="312520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Hielscher（德国）</a:t>
            </a:r>
          </a:p>
          <a:p>
            <a:pPr algn="l">
              <a:lnSpc>
                <a:spcPct val="126000"/>
              </a:lnSpc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Sonics &amp; Materials 等</a:t>
            </a:r>
          </a:p>
        </p:txBody>
      </p:sp>
      <p:sp>
        <p:nvSpPr>
          <p:cNvPr id="30" name="Rectangle 28"/>
          <p:cNvSpPr/>
          <p:nvPr/>
        </p:nvSpPr>
        <p:spPr>
          <a:xfrm>
            <a:off x="8298668" y="2871216"/>
            <a:ext cx="3125206" cy="10973"/>
          </a:xfrm>
          <a:prstGeom prst="rect">
            <a:avLst/>
          </a:prstGeom>
          <a:solidFill>
            <a:srgbClr val="CF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1" name="TextBox 29"/>
          <p:cNvSpPr txBox="1"/>
          <p:nvPr/>
        </p:nvSpPr>
        <p:spPr>
          <a:xfrm>
            <a:off x="8298668" y="2980944"/>
            <a:ext cx="3125206" cy="148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空化效应破坏微生物细胞结构，可用于液态食品超声杀菌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工业机型单机功率可达 16 kW，可多机并联放大产能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buNone/>
            </a:pPr>
            <a:r>
              <a:rPr sz="1080" b="1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同一能场兼具萃取与杀菌潜力，属非热加工路线</a:t>
            </a:r>
          </a:p>
        </p:txBody>
      </p:sp>
      <p:sp>
        <p:nvSpPr>
          <p:cNvPr id="32" name="Rounded Rectangle 30"/>
          <p:cNvSpPr/>
          <p:nvPr/>
        </p:nvSpPr>
        <p:spPr>
          <a:xfrm>
            <a:off x="8243804" y="4517136"/>
            <a:ext cx="3234934" cy="731520"/>
          </a:xfrm>
          <a:prstGeom prst="roundRect">
            <a:avLst>
              <a:gd name="adj" fmla="val 9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28016" tIns="18288" bIns="18288" wrap="square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sz="1100" b="1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主要局限　</a:t>
            </a: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现有产品为通用超声处理单元，需自行串联萃取与灌装，缺少面向咖啡液的一体化整机</a:t>
            </a:r>
          </a:p>
        </p:txBody>
      </p:sp>
      <p:sp>
        <p:nvSpPr>
          <p:cNvPr id="33" name="Rounded Rectangle 31"/>
          <p:cNvSpPr/>
          <p:nvPr/>
        </p:nvSpPr>
        <p:spPr>
          <a:xfrm>
            <a:off x="566928" y="5468112"/>
            <a:ext cx="11058114" cy="640080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三条路线均为</a:t>
            </a:r>
            <a:r>
              <a:rPr sz="155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单工序装备</a:t>
            </a: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；本项目以 </a:t>
            </a:r>
            <a:r>
              <a:rPr sz="155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“萃取＋超声低温杀菌”连续一体化整机</a:t>
            </a: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切入尚未被占据的位置</a:t>
            </a:r>
          </a:p>
        </p:txBody>
      </p:sp>
      <p:sp>
        <p:nvSpPr>
          <p:cNvPr id="34" name="Rectangle 32"/>
          <p:cNvSpPr/>
          <p:nvPr/>
        </p:nvSpPr>
        <p:spPr>
          <a:xfrm>
            <a:off x="749808" y="5596128"/>
            <a:ext cx="59436" cy="384048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35" name="TextBox 33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　|　来源：利乐官网 UHT 技术页；Hiperbaric 官网；JBT Avure 官网；Hielscher 官网（超声杀菌 / UIP16000）；永璞浓缩咖啡液商品页</a:t>
            </a:r>
          </a:p>
        </p:txBody>
      </p:sp>
      <p:sp>
        <p:nvSpPr>
          <p:cNvPr id="36" name="TextBox 34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14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3917608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F280AF2-1592-FE35-0784-A356241A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970" cy="159106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4" name="Rectangle 2"/>
          <p:cNvSpPr/>
          <p:nvPr/>
        </p:nvSpPr>
        <p:spPr>
          <a:xfrm>
            <a:off x="0" y="6786677"/>
            <a:ext cx="12191970" cy="71323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566928" y="274320"/>
            <a:ext cx="7740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1150" b="1" spc="16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03 / 核心优势 · 竞品分析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566928" y="493776"/>
            <a:ext cx="1105811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5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参数对标：</a:t>
            </a:r>
            <a:r>
              <a:rPr sz="2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56℃ 低温、连续一体化、综合能耗降低 20%~30%</a:t>
            </a:r>
          </a:p>
        </p:txBody>
      </p:sp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rcRect t="56522" b="8696"/>
          <a:stretch>
            <a:fillRect/>
          </a:stretch>
        </p:blipFill>
        <p:spPr>
          <a:xfrm>
            <a:off x="566928" y="969264"/>
            <a:ext cx="9509978" cy="32004"/>
          </a:xfrm>
          <a:prstGeom prst="rect">
            <a:avLst/>
          </a:prstGeom>
          <a:effectLst/>
        </p:spPr>
      </p:pic>
      <p:sp>
        <p:nvSpPr>
          <p:cNvPr id="8" name="Rectangle 6"/>
          <p:cNvSpPr/>
          <p:nvPr/>
        </p:nvSpPr>
        <p:spPr>
          <a:xfrm>
            <a:off x="566928" y="969264"/>
            <a:ext cx="841248" cy="32004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566928" y="1188720"/>
          <a:ext cx="11055096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2212848"/>
                <a:gridCol w="2048256"/>
                <a:gridCol w="2048256"/>
                <a:gridCol w="3145536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对比维度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6416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热杀菌 UHT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6416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超高压 HPP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6416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通用超声设备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6416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 SK-Ⅱ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L>
                    <a:lnR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6416C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处理温度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＞135℃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5—20℃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近常温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56℃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L>
                    <a:lnR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作用机理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热致死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等静压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空化效应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空化 ＋ 低温协同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L>
                    <a:lnR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生产形态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连续管式 ＋ 无菌灌装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间歇 · 在包处理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通用处理单元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萃取—杀菌连续一体化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L>
                    <a:lnR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风味保留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梅纳反应改变风味色泽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 · 第三方检测报告支撑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L>
                    <a:lnR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常温货架期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6—9 个月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较未处理延长 2—3 倍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需工艺验证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待中试验证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L>
                    <a:lnR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综合能耗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· 为发达国家 1.9 倍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高压泵功耗大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取决于配套工序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L>
                    <a:lnR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22000"/>
                        </a:lnSpc>
                        <a:buNone/>
                      </a:pPr>
                      <a:r>
                        <a:rPr sz="1120" b="1">
                          <a:solidFill>
                            <a:srgbClr val="16416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 20%~30%</a:t>
                      </a: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L>
                    <a:lnR w="19050" cap="flat" cmpd="sng" algn="ctr">
                      <a:solidFill>
                        <a:srgbClr val="B9282C"/>
                      </a:solidFill>
                      <a:prstDash val="solid"/>
                      <a:round/>
                      <a:headEnd type="none"/>
                      <a:tailEnd type="none"/>
                    </a:lnR>
                    <a:lnT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T>
                    <a:lnB w="9525" cap="flat" cmpd="sng" algn="ctr">
                      <a:solidFill>
                        <a:srgbClr val="CFDEEA"/>
                      </a:solidFill>
                      <a:prstDash val="solid"/>
                      <a:round/>
                      <a:headEnd type="none"/>
                      <a:tailEnd type="none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566928" y="4681728"/>
            <a:ext cx="2627368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1" name="Rectangle 9"/>
          <p:cNvSpPr/>
          <p:nvPr/>
        </p:nvSpPr>
        <p:spPr>
          <a:xfrm>
            <a:off x="566928" y="4681728"/>
            <a:ext cx="2627368" cy="45720"/>
          </a:xfrm>
          <a:prstGeom prst="rect">
            <a:avLst/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2" name="TextBox 10"/>
          <p:cNvSpPr txBox="1"/>
          <p:nvPr/>
        </p:nvSpPr>
        <p:spPr>
          <a:xfrm>
            <a:off x="731520" y="4809744"/>
            <a:ext cx="2298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50" b="1" spc="80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一体化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31520" y="5102352"/>
            <a:ext cx="229818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萃取与杀菌连续闭环，替代多台单工序设备串联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3377176" y="4681728"/>
            <a:ext cx="2627368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5" name="Rectangle 13"/>
          <p:cNvSpPr/>
          <p:nvPr/>
        </p:nvSpPr>
        <p:spPr>
          <a:xfrm>
            <a:off x="3377176" y="4681728"/>
            <a:ext cx="2627368" cy="45720"/>
          </a:xfrm>
          <a:prstGeom prst="rect">
            <a:avLst/>
          </a:prstGeom>
          <a:solidFill>
            <a:srgbClr val="1E59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6" name="TextBox 14"/>
          <p:cNvSpPr txBox="1"/>
          <p:nvPr/>
        </p:nvSpPr>
        <p:spPr>
          <a:xfrm>
            <a:off x="3541768" y="4809744"/>
            <a:ext cx="2298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50" b="1" spc="80">
                <a:solidFill>
                  <a:srgbClr val="1E5996"/>
                </a:solidFill>
                <a:latin typeface="微软雅黑"/>
                <a:ea typeface="微软雅黑"/>
                <a:cs typeface="微软雅黑"/>
              </a:rPr>
              <a:t>低　温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3541768" y="5102352"/>
            <a:ext cx="229818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56℃ 即达良好杀菌效果，显著降低风味损失</a:t>
            </a:r>
          </a:p>
        </p:txBody>
      </p:sp>
      <p:sp>
        <p:nvSpPr>
          <p:cNvPr id="18" name="Rounded Rectangle 16"/>
          <p:cNvSpPr/>
          <p:nvPr/>
        </p:nvSpPr>
        <p:spPr>
          <a:xfrm>
            <a:off x="6187425" y="4681728"/>
            <a:ext cx="2627368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19" name="Rectangle 17"/>
          <p:cNvSpPr/>
          <p:nvPr/>
        </p:nvSpPr>
        <p:spPr>
          <a:xfrm>
            <a:off x="6187425" y="4681728"/>
            <a:ext cx="2627368" cy="45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6352017" y="4809744"/>
            <a:ext cx="2298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50" b="1" spc="80">
                <a:solidFill>
                  <a:srgbClr val="1F7A4D"/>
                </a:solidFill>
                <a:latin typeface="微软雅黑"/>
                <a:ea typeface="微软雅黑"/>
                <a:cs typeface="微软雅黑"/>
              </a:rPr>
              <a:t>节　能</a:t>
            </a:r>
          </a:p>
        </p:txBody>
      </p:sp>
      <p:sp>
        <p:nvSpPr>
          <p:cNvPr id="21" name="TextBox 19"/>
          <p:cNvSpPr txBox="1"/>
          <p:nvPr/>
        </p:nvSpPr>
        <p:spPr>
          <a:xfrm>
            <a:off x="6352017" y="5102352"/>
            <a:ext cx="229818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综合运行能耗降低 20%~30%</a:t>
            </a:r>
          </a:p>
        </p:txBody>
      </p:sp>
      <p:sp>
        <p:nvSpPr>
          <p:cNvPr id="22" name="Rounded Rectangle 20"/>
          <p:cNvSpPr/>
          <p:nvPr/>
        </p:nvSpPr>
        <p:spPr>
          <a:xfrm>
            <a:off x="8997673" y="4681728"/>
            <a:ext cx="2627368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EEA"/>
            </a:solidFill>
          </a:ln>
          <a:effectLst>
            <a:outerShdw blurRad="114300" dist="31750" dir="5400000" rotWithShape="0">
              <a:srgbClr val="1B3A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3" name="Rectangle 21"/>
          <p:cNvSpPr/>
          <p:nvPr/>
        </p:nvSpPr>
        <p:spPr>
          <a:xfrm>
            <a:off x="8997673" y="4681728"/>
            <a:ext cx="2627368" cy="4572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4" name="TextBox 22"/>
          <p:cNvSpPr txBox="1"/>
          <p:nvPr/>
        </p:nvSpPr>
        <p:spPr>
          <a:xfrm>
            <a:off x="9162265" y="4809744"/>
            <a:ext cx="2298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50" b="1" spc="80">
                <a:solidFill>
                  <a:srgbClr val="B9282C"/>
                </a:solidFill>
                <a:latin typeface="微软雅黑"/>
                <a:ea typeface="微软雅黑"/>
                <a:cs typeface="微软雅黑"/>
              </a:rPr>
              <a:t>可验证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9162265" y="5102352"/>
            <a:ext cx="229818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sz="1080" b="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已出具第三方检验检测报告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566928" y="5687568"/>
            <a:ext cx="11058114" cy="621792"/>
          </a:xfrm>
          <a:prstGeom prst="roundRect">
            <a:avLst>
              <a:gd name="adj" fmla="val 4000"/>
            </a:avLst>
          </a:prstGeom>
          <a:solidFill>
            <a:srgbClr val="164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10896" tIns="36576" bIns="36576" wrap="square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对标结论：以 </a:t>
            </a: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56℃ 低温、连续一体化、20%~30% 综合节能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形成差异化；常温货架期与单位成本</a:t>
            </a: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以中试数据为准</a:t>
            </a: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7" name="Rectangle 25"/>
          <p:cNvSpPr/>
          <p:nvPr/>
        </p:nvSpPr>
        <p:spPr>
          <a:xfrm>
            <a:off x="749808" y="5815584"/>
            <a:ext cx="59436" cy="365760"/>
          </a:xfrm>
          <a:prstGeom prst="rect">
            <a:avLst/>
          </a:prstGeom>
          <a:solidFill>
            <a:srgbClr val="B92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>
            <a:noAutofit/>
          </a:bodyPr>
          <a:lstStyle/>
          <a:p>
            <a:pPr algn="ctr"/>
          </a:p>
        </p:txBody>
      </p:sp>
      <p:sp>
        <p:nvSpPr>
          <p:cNvPr id="28" name="TextBox 26"/>
          <p:cNvSpPr txBox="1"/>
          <p:nvPr/>
        </p:nvSpPr>
        <p:spPr>
          <a:xfrm>
            <a:off x="566928" y="6336792"/>
            <a:ext cx="968651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天津科技大学 · 咖啡液萃取与超声杀菌工艺及装备设计研究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　|　对标口径：UHT / HPP 温度与压力区间取自原稿第 10 页及厂商公开资料；本项目数据取自第 16—18 页实验与第三方检测报告</a:t>
            </a:r>
          </a:p>
        </p:txBody>
      </p:sp>
      <p:sp>
        <p:nvSpPr>
          <p:cNvPr id="29" name="TextBox 27"/>
          <p:cNvSpPr txBox="1"/>
          <p:nvPr/>
        </p:nvSpPr>
        <p:spPr>
          <a:xfrm>
            <a:off x="10436322" y="63367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buNone/>
            </a:pPr>
            <a:r>
              <a:rPr sz="1200" b="1">
                <a:solidFill>
                  <a:srgbClr val="16416C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950" b="0">
                <a:solidFill>
                  <a:srgbClr val="8A94A2"/>
                </a:solidFill>
                <a:latin typeface="微软雅黑"/>
                <a:ea typeface="微软雅黑"/>
                <a:cs typeface="微软雅黑"/>
              </a:rPr>
              <a:t>  /  24</a:t>
            </a:r>
          </a:p>
        </p:txBody>
      </p:sp>
    </p:spTree>
    <p:extLst>
      <p:ext uri="{BB962C8B-B14F-4D97-AF65-F5344CB8AC3E}">
        <p14:creationId xmlns:p14="http://schemas.microsoft.com/office/powerpoint/2010/main" val="97017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579</TotalTime>
  <Words>1950</Words>
  <Application>Microsoft Office PowerPoint</Application>
  <PresentationFormat>宽屏</PresentationFormat>
  <Paragraphs>121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黑体</vt:lpstr>
      <vt:lpstr>华文行楷</vt:lpstr>
      <vt:lpstr>思源黑体 CN Bold</vt:lpstr>
      <vt:lpstr>微软雅黑</vt:lpstr>
      <vt:lpstr>Arial</vt:lpstr>
      <vt:lpstr>Calibri</vt:lpstr>
      <vt:lpstr>Calibri Light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市场前景</vt:lpstr>
      <vt:lpstr>PowerPoint 演示文稿</vt:lpstr>
      <vt:lpstr>应用场景  高峰期大流量人群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竞品分析</vt:lpstr>
      <vt:lpstr>竞品分析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杭 苏</cp:lastModifiedBy>
  <cp:revision>97</cp:revision>
  <dcterms:created xsi:type="dcterms:W3CDTF">2025-07-23T00:59:22Z</dcterms:created>
  <dcterms:modified xsi:type="dcterms:W3CDTF">2026-09-17T05:20:32Z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F1BD18E333F94AD18439EE8A7C1D7EF5_12</vt:lpwstr>
  </property>
</Properties>
</file>