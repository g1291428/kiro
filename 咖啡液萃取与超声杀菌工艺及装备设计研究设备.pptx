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7"/>
  </p:notesMasterIdLst>
  <p:sldIdLst>
    <p:sldId id="297" r:id="rId3"/>
    <p:sldId id="263" r:id="rId4"/>
    <p:sldId id="281" r:id="rId5"/>
    <p:sldId id="283" r:id="rId6"/>
    <p:sldId id="284" r:id="rId7"/>
    <p:sldId id="301" r:id="rId8"/>
    <p:sldId id="286" r:id="rId9"/>
    <p:sldId id="300" r:id="rId10"/>
    <p:sldId id="261" r:id="rId11"/>
    <p:sldId id="285" r:id="rId12"/>
    <p:sldId id="270" r:id="rId13"/>
    <p:sldId id="293" r:id="rId14"/>
    <p:sldId id="292" r:id="rId15"/>
    <p:sldId id="298" r:id="rId16"/>
    <p:sldId id="299" r:id="rId17"/>
    <p:sldId id="294" r:id="rId18"/>
    <p:sldId id="295" r:id="rId19"/>
    <p:sldId id="296" r:id="rId20"/>
    <p:sldId id="291" r:id="rId21"/>
    <p:sldId id="288" r:id="rId22"/>
    <p:sldId id="287" r:id="rId23"/>
    <p:sldId id="290" r:id="rId24"/>
    <p:sldId id="289" r:id="rId25"/>
    <p:sldId id="272" r:id="rId26"/>
  </p:sldIdLst>
  <p:sldSz cx="12192000" cy="6858000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16C"/>
    <a:srgbClr val="1E5996"/>
    <a:srgbClr val="B9282C"/>
    <a:srgbClr val="A2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77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927915-AFB6-469B-9C17-020B5C66077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2026/9/17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8750"/>
          </a:xfrm>
          <a:prstGeom prst="rect">
            <a:avLst/>
          </a:prstGeom>
          <a:solidFill>
            <a:srgbClr val="1E599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786563"/>
            <a:ext cx="12192000" cy="71438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ea typeface="等线" panose="02010600030101010101" pitchFamily="2" charset="-122"/>
              </a:rPr>
              <a:t>‹#›</a:t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8750"/>
          </a:xfrm>
          <a:prstGeom prst="rect">
            <a:avLst/>
          </a:prstGeom>
          <a:solidFill>
            <a:srgbClr val="1E599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786563"/>
            <a:ext cx="12192000" cy="71438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ea typeface="等线" panose="02010600030101010101" pitchFamily="2" charset="-122"/>
              </a:rPr>
              <a:t>‹#›</a:t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1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0.jpeg"/><Relationship Id="rId2" Type="http://schemas.openxmlformats.org/officeDocument/2006/relationships/tags" Target="../tags/tag2.xml"/><Relationship Id="rId16" Type="http://schemas.openxmlformats.org/officeDocument/2006/relationships/image" Target="../media/image9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8.png"/><Relationship Id="rId10" Type="http://schemas.openxmlformats.org/officeDocument/2006/relationships/tags" Target="../tags/tag10.xml"/><Relationship Id="rId19" Type="http://schemas.openxmlformats.org/officeDocument/2006/relationships/image" Target="../media/image12.jpe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13.png"/><Relationship Id="rId4" Type="http://schemas.openxmlformats.org/officeDocument/2006/relationships/image" Target="../media/image22.jpe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76BCB-0CB4-4953-2A0B-B3B3202E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FA72D32-FE5F-1FF3-B83D-5CB0BCDC64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0070C0">
                <a:tint val="45000"/>
                <a:satMod val="400000"/>
              </a:srgbClr>
            </a:duotone>
          </a:blip>
          <a:srcRect t="48268" b="8597"/>
          <a:stretch/>
        </p:blipFill>
        <p:spPr>
          <a:xfrm>
            <a:off x="-11722" y="1378541"/>
            <a:ext cx="12192000" cy="3236415"/>
          </a:xfrm>
          <a:prstGeom prst="rect">
            <a:avLst/>
          </a:prstGeom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F6151FA-7ADA-317C-9C00-70C779A4E8EB}"/>
              </a:ext>
            </a:extLst>
          </p:cNvPr>
          <p:cNvSpPr/>
          <p:nvPr/>
        </p:nvSpPr>
        <p:spPr>
          <a:xfrm>
            <a:off x="-11723" y="1378540"/>
            <a:ext cx="12215445" cy="3236415"/>
          </a:xfrm>
          <a:prstGeom prst="rect">
            <a:avLst/>
          </a:prstGeom>
          <a:solidFill>
            <a:srgbClr val="0C49B7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12E008B0-9DF8-F75C-E425-CA692333A252}"/>
              </a:ext>
            </a:extLst>
          </p:cNvPr>
          <p:cNvSpPr txBox="1"/>
          <p:nvPr/>
        </p:nvSpPr>
        <p:spPr>
          <a:xfrm>
            <a:off x="4871864" y="472583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C49B7"/>
                </a:solidFill>
                <a:latin typeface="Arial" panose="020F0502020204030204"/>
                <a:ea typeface="微软雅黑"/>
                <a:cs typeface="+mn-ea"/>
              </a:rPr>
              <a:t>负责人：苏杭</a:t>
            </a:r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5A9F410B-900B-90B2-80FD-3CDF00FD36E6}"/>
              </a:ext>
            </a:extLst>
          </p:cNvPr>
          <p:cNvGrpSpPr/>
          <p:nvPr/>
        </p:nvGrpSpPr>
        <p:grpSpPr>
          <a:xfrm>
            <a:off x="599116" y="1948358"/>
            <a:ext cx="11017224" cy="2123658"/>
            <a:chOff x="-965903" y="2927935"/>
            <a:chExt cx="9762402" cy="21236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84BDBA-C4D2-B113-08DD-B5B1A6245F28}"/>
                </a:ext>
              </a:extLst>
            </p:cNvPr>
            <p:cNvSpPr/>
            <p:nvPr/>
          </p:nvSpPr>
          <p:spPr>
            <a:xfrm>
              <a:off x="-306326" y="2927935"/>
              <a:ext cx="8805304" cy="21236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阿里巴巴普惠体 B" panose="00020600040101010101" pitchFamily="18" charset="-122"/>
                </a:rPr>
                <a:t>咖啡液萃取与超声杀菌工艺及装备设计研究设备</a:t>
              </a:r>
            </a:p>
            <a:p>
              <a:pPr algn="ctr"/>
              <a:endPara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876DDB-0D4E-7134-9602-BF19725CB9A8}"/>
                </a:ext>
              </a:extLst>
            </p:cNvPr>
            <p:cNvSpPr/>
            <p:nvPr/>
          </p:nvSpPr>
          <p:spPr>
            <a:xfrm>
              <a:off x="-965903" y="4449796"/>
              <a:ext cx="97624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Tianjin University of Science </a:t>
              </a:r>
              <a:r>
                <a:rPr lang="zh-CN" altLang="en-US" sz="2400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＆ </a:t>
              </a:r>
              <a:r>
                <a:rPr lang="en-US" altLang="zh-CN" sz="2400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2400" b="1" dirty="0">
                <a:solidFill>
                  <a:prstClr val="white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082E2CC-1389-A45B-3D2C-8BC1FC1716AD}"/>
              </a:ext>
            </a:extLst>
          </p:cNvPr>
          <p:cNvCxnSpPr>
            <a:cxnSpLocks/>
          </p:cNvCxnSpPr>
          <p:nvPr/>
        </p:nvCxnSpPr>
        <p:spPr>
          <a:xfrm>
            <a:off x="20912" y="6597442"/>
            <a:ext cx="4122832" cy="0"/>
          </a:xfrm>
          <a:prstGeom prst="line">
            <a:avLst/>
          </a:prstGeom>
          <a:noFill/>
          <a:ln w="38100" cap="flat" cmpd="sng" algn="ctr">
            <a:solidFill>
              <a:srgbClr val="0C49B7"/>
            </a:solidFill>
            <a:prstDash val="solid"/>
            <a:miter lim="800000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50654DF-E75D-7170-F331-1222C73E0600}"/>
              </a:ext>
            </a:extLst>
          </p:cNvPr>
          <p:cNvCxnSpPr>
            <a:cxnSpLocks/>
          </p:cNvCxnSpPr>
          <p:nvPr/>
        </p:nvCxnSpPr>
        <p:spPr>
          <a:xfrm flipV="1">
            <a:off x="8090080" y="6566563"/>
            <a:ext cx="4099382" cy="30879"/>
          </a:xfrm>
          <a:prstGeom prst="line">
            <a:avLst/>
          </a:prstGeom>
          <a:noFill/>
          <a:ln w="38100" cap="flat" cmpd="sng" algn="ctr">
            <a:solidFill>
              <a:srgbClr val="0C49B7"/>
            </a:solidFill>
            <a:prstDash val="solid"/>
            <a:miter lim="800000"/>
          </a:ln>
          <a:effectLst/>
        </p:spPr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281BF04E-4526-3623-0D02-0FA6675F3D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08"/>
          <a:stretch/>
        </p:blipFill>
        <p:spPr>
          <a:xfrm>
            <a:off x="4596088" y="-64625"/>
            <a:ext cx="4273676" cy="13793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FB8979C-4588-AA98-6015-479C24507B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922"/>
          <a:stretch/>
        </p:blipFill>
        <p:spPr>
          <a:xfrm>
            <a:off x="3357812" y="-24808"/>
            <a:ext cx="1296144" cy="1379340"/>
          </a:xfrm>
          <a:prstGeom prst="rect">
            <a:avLst/>
          </a:prstGeom>
        </p:spPr>
      </p:pic>
      <p:sp>
        <p:nvSpPr>
          <p:cNvPr id="16" name="标题 4">
            <a:extLst>
              <a:ext uri="{FF2B5EF4-FFF2-40B4-BE49-F238E27FC236}">
                <a16:creationId xmlns:a16="http://schemas.microsoft.com/office/drawing/2014/main" id="{24F75F45-9D11-5103-DC18-B963C8E32BAC}"/>
              </a:ext>
            </a:extLst>
          </p:cNvPr>
          <p:cNvSpPr txBox="1">
            <a:spLocks/>
          </p:cNvSpPr>
          <p:nvPr/>
        </p:nvSpPr>
        <p:spPr>
          <a:xfrm>
            <a:off x="4101921" y="6193266"/>
            <a:ext cx="3946336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r>
              <a:rPr lang="zh-CN" altLang="en-US" sz="2400" dirty="0">
                <a:solidFill>
                  <a:srgbClr val="0C49B7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尚德尚学尚行 爱国爱校爱人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BFBA4164-4F12-DDBD-73A6-53B30A3FE1B1}"/>
              </a:ext>
            </a:extLst>
          </p:cNvPr>
          <p:cNvSpPr txBox="1"/>
          <p:nvPr/>
        </p:nvSpPr>
        <p:spPr>
          <a:xfrm>
            <a:off x="4871864" y="5139741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C49B7"/>
                </a:solidFill>
                <a:latin typeface="Arial" panose="020F0502020204030204"/>
                <a:ea typeface="微软雅黑"/>
                <a:cs typeface="+mn-ea"/>
              </a:rPr>
              <a:t>人文社科负责人：李金茹 副教授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57A73C3F-8FA2-AA26-159C-B355542FC61D}"/>
              </a:ext>
            </a:extLst>
          </p:cNvPr>
          <p:cNvSpPr txBox="1"/>
          <p:nvPr/>
        </p:nvSpPr>
        <p:spPr>
          <a:xfrm>
            <a:off x="4871864" y="599801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C49B7"/>
                </a:solidFill>
                <a:latin typeface="Arial" panose="020F0502020204030204"/>
                <a:ea typeface="微软雅黑"/>
                <a:cs typeface="+mn-ea"/>
              </a:rPr>
              <a:t>日   期：</a:t>
            </a:r>
            <a:r>
              <a:rPr lang="en-US" altLang="zh-CN" b="1" dirty="0">
                <a:solidFill>
                  <a:srgbClr val="0C49B7"/>
                </a:solidFill>
                <a:latin typeface="Arial" panose="020F0502020204030204"/>
                <a:ea typeface="微软雅黑"/>
                <a:cs typeface="+mn-ea"/>
              </a:rPr>
              <a:t>2026.09.14</a:t>
            </a:r>
            <a:endParaRPr lang="zh-CN" altLang="en-US" b="1" dirty="0">
              <a:solidFill>
                <a:srgbClr val="0C49B7"/>
              </a:solidFill>
              <a:latin typeface="Arial" panose="020F0502020204030204"/>
              <a:ea typeface="微软雅黑"/>
              <a:cs typeface="+mn-ea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E5D2AB2E-1B63-E364-5AB0-BCA7413EA44A}"/>
              </a:ext>
            </a:extLst>
          </p:cNvPr>
          <p:cNvSpPr txBox="1"/>
          <p:nvPr/>
        </p:nvSpPr>
        <p:spPr>
          <a:xfrm>
            <a:off x="4871864" y="5588310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C49B7"/>
                </a:solidFill>
                <a:latin typeface="Arial" panose="020F0502020204030204"/>
                <a:ea typeface="微软雅黑"/>
                <a:cs typeface="+mn-ea"/>
              </a:rPr>
              <a:t>理工科负责人：宋继田 教授</a:t>
            </a:r>
          </a:p>
        </p:txBody>
      </p:sp>
    </p:spTree>
    <p:extLst>
      <p:ext uri="{BB962C8B-B14F-4D97-AF65-F5344CB8AC3E}">
        <p14:creationId xmlns:p14="http://schemas.microsoft.com/office/powerpoint/2010/main" val="219561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/>
        </p:nvSpPr>
        <p:spPr>
          <a:xfrm>
            <a:off x="0" y="0"/>
            <a:ext cx="6430963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1" name="文本框 3"/>
          <p:cNvSpPr txBox="1"/>
          <p:nvPr/>
        </p:nvSpPr>
        <p:spPr>
          <a:xfrm>
            <a:off x="7178675" y="1628775"/>
            <a:ext cx="2784475" cy="304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6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12700"/>
            <a:ext cx="2782888" cy="6870700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072938" y="0"/>
            <a:ext cx="119063" cy="6858000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文本框 12"/>
          <p:cNvSpPr txBox="1"/>
          <p:nvPr/>
        </p:nvSpPr>
        <p:spPr>
          <a:xfrm>
            <a:off x="471488" y="981075"/>
            <a:ext cx="6121400" cy="4508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A6ECD-CD0A-3320-5D35-0E4C27F25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2A84CE-F92C-8A8B-5C99-51DF981F4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61" y="764704"/>
            <a:ext cx="11644723" cy="5328592"/>
          </a:xfrm>
          <a:prstGeom prst="rect">
            <a:avLst/>
          </a:prstGeom>
        </p:spPr>
      </p:pic>
      <p:sp>
        <p:nvSpPr>
          <p:cNvPr id="8198" name="文本框 3">
            <a:extLst>
              <a:ext uri="{FF2B5EF4-FFF2-40B4-BE49-F238E27FC236}">
                <a16:creationId xmlns:a16="http://schemas.microsoft.com/office/drawing/2014/main" id="{B8C23E7D-C4D3-84D6-85E1-43597A276D71}"/>
              </a:ext>
            </a:extLst>
          </p:cNvPr>
          <p:cNvSpPr txBox="1"/>
          <p:nvPr/>
        </p:nvSpPr>
        <p:spPr>
          <a:xfrm>
            <a:off x="263525" y="188913"/>
            <a:ext cx="2303463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808080"/>
                </a:solidFill>
                <a:ea typeface="等线" panose="02010600030101010101" pitchFamily="2" charset="-122"/>
              </a:rPr>
              <a:t>市场分析</a:t>
            </a:r>
          </a:p>
        </p:txBody>
      </p:sp>
      <p:sp>
        <p:nvSpPr>
          <p:cNvPr id="6" name="标题 3073">
            <a:extLst>
              <a:ext uri="{FF2B5EF4-FFF2-40B4-BE49-F238E27FC236}">
                <a16:creationId xmlns:a16="http://schemas.microsoft.com/office/drawing/2014/main" id="{952949C4-543D-727F-C6B8-633A915BE234}"/>
              </a:ext>
            </a:extLst>
          </p:cNvPr>
          <p:cNvSpPr txBox="1">
            <a:spLocks noChangeArrowheads="1"/>
          </p:cNvSpPr>
          <p:nvPr/>
        </p:nvSpPr>
        <p:spPr>
          <a:xfrm>
            <a:off x="1199456" y="5532437"/>
            <a:ext cx="9987697" cy="132556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defRPr/>
            </a:pPr>
            <a:r>
              <a:rPr lang="en-US" altLang="zh-CN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年国内咖啡豆生豆消耗量达到</a:t>
            </a:r>
            <a:r>
              <a:rPr lang="en-US" altLang="zh-CN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41.5</a:t>
            </a:r>
            <a:r>
              <a:rPr lang="zh-CN" altLang="en-US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万吨</a:t>
            </a:r>
            <a:endParaRPr lang="zh-CN" altLang="zh-CN" sz="4000" dirty="0">
              <a:solidFill>
                <a:srgbClr val="1641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095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7423-BE2E-AAF5-7830-71264C67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文本框 3">
            <a:extLst>
              <a:ext uri="{FF2B5EF4-FFF2-40B4-BE49-F238E27FC236}">
                <a16:creationId xmlns:a16="http://schemas.microsoft.com/office/drawing/2014/main" id="{C85D1DDE-4FD1-7125-B31F-5D256F82D8FD}"/>
              </a:ext>
            </a:extLst>
          </p:cNvPr>
          <p:cNvSpPr txBox="1"/>
          <p:nvPr/>
        </p:nvSpPr>
        <p:spPr>
          <a:xfrm>
            <a:off x="263525" y="188913"/>
            <a:ext cx="2303463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808080"/>
                </a:solidFill>
                <a:ea typeface="等线" panose="02010600030101010101" pitchFamily="2" charset="-122"/>
              </a:rPr>
              <a:t>市场分析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374ABA-C348-5676-F738-17E3AD938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7" y="800708"/>
            <a:ext cx="10081120" cy="5139765"/>
          </a:xfrm>
          <a:prstGeom prst="rect">
            <a:avLst/>
          </a:prstGeom>
        </p:spPr>
      </p:pic>
      <p:sp>
        <p:nvSpPr>
          <p:cNvPr id="7" name="标题 3073">
            <a:extLst>
              <a:ext uri="{FF2B5EF4-FFF2-40B4-BE49-F238E27FC236}">
                <a16:creationId xmlns:a16="http://schemas.microsoft.com/office/drawing/2014/main" id="{F8514111-216A-536B-4939-59DC4C64176A}"/>
              </a:ext>
            </a:extLst>
          </p:cNvPr>
          <p:cNvSpPr txBox="1">
            <a:spLocks noChangeArrowheads="1"/>
          </p:cNvSpPr>
          <p:nvPr/>
        </p:nvSpPr>
        <p:spPr>
          <a:xfrm>
            <a:off x="1199456" y="5733256"/>
            <a:ext cx="9987697" cy="132556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defRPr/>
            </a:pPr>
            <a:r>
              <a:rPr lang="en-US" altLang="zh-CN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2021-2025</a:t>
            </a:r>
            <a:r>
              <a:rPr lang="zh-CN" altLang="en-US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年咖啡液增长率达到</a:t>
            </a:r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621.74%</a:t>
            </a:r>
            <a:endParaRPr lang="zh-CN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50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5E289-8A4E-0159-815D-7E87D793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文本框 3">
            <a:extLst>
              <a:ext uri="{FF2B5EF4-FFF2-40B4-BE49-F238E27FC236}">
                <a16:creationId xmlns:a16="http://schemas.microsoft.com/office/drawing/2014/main" id="{46A5FF7E-F420-980E-0CCA-6D85424FCA7D}"/>
              </a:ext>
            </a:extLst>
          </p:cNvPr>
          <p:cNvSpPr txBox="1"/>
          <p:nvPr/>
        </p:nvSpPr>
        <p:spPr>
          <a:xfrm>
            <a:off x="263525" y="188913"/>
            <a:ext cx="2303463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808080"/>
                </a:solidFill>
                <a:ea typeface="等线" panose="02010600030101010101" pitchFamily="2" charset="-122"/>
              </a:rPr>
              <a:t>市场分析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4CAE14-56FC-B6B9-7F6E-488AEF70A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980728"/>
            <a:ext cx="10968109" cy="4752528"/>
          </a:xfrm>
          <a:prstGeom prst="rect">
            <a:avLst/>
          </a:prstGeom>
        </p:spPr>
      </p:pic>
      <p:sp>
        <p:nvSpPr>
          <p:cNvPr id="4" name="标题 3073">
            <a:extLst>
              <a:ext uri="{FF2B5EF4-FFF2-40B4-BE49-F238E27FC236}">
                <a16:creationId xmlns:a16="http://schemas.microsoft.com/office/drawing/2014/main" id="{8CE71859-012E-AD07-296A-8D757FFCCA10}"/>
              </a:ext>
            </a:extLst>
          </p:cNvPr>
          <p:cNvSpPr txBox="1">
            <a:spLocks noChangeArrowheads="1"/>
          </p:cNvSpPr>
          <p:nvPr/>
        </p:nvSpPr>
        <p:spPr>
          <a:xfrm>
            <a:off x="551384" y="5543319"/>
            <a:ext cx="11089231" cy="132556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defRPr/>
            </a:pPr>
            <a:r>
              <a:rPr lang="zh-CN" altLang="en-US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4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年，咖啡液年度消费产值达到</a:t>
            </a:r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94.8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endParaRPr lang="zh-CN" altLang="zh-CN" sz="4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48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6468A-3417-0B5F-6EAC-DE8197AE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市场前景</a:t>
            </a:r>
          </a:p>
        </p:txBody>
      </p:sp>
    </p:spTree>
    <p:extLst>
      <p:ext uri="{BB962C8B-B14F-4D97-AF65-F5344CB8AC3E}">
        <p14:creationId xmlns:p14="http://schemas.microsoft.com/office/powerpoint/2010/main" val="391732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A564E-3D71-662C-F144-394049DF3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>
            <a:extLst>
              <a:ext uri="{FF2B5EF4-FFF2-40B4-BE49-F238E27FC236}">
                <a16:creationId xmlns:a16="http://schemas.microsoft.com/office/drawing/2014/main" id="{B8742F82-8983-EF88-6E94-FF2498EF362A}"/>
              </a:ext>
            </a:extLst>
          </p:cNvPr>
          <p:cNvSpPr/>
          <p:nvPr/>
        </p:nvSpPr>
        <p:spPr>
          <a:xfrm>
            <a:off x="0" y="0"/>
            <a:ext cx="6430963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1" name="文本框 3">
            <a:extLst>
              <a:ext uri="{FF2B5EF4-FFF2-40B4-BE49-F238E27FC236}">
                <a16:creationId xmlns:a16="http://schemas.microsoft.com/office/drawing/2014/main" id="{172A6E61-FBBE-1A43-21B5-D46A5932D205}"/>
              </a:ext>
            </a:extLst>
          </p:cNvPr>
          <p:cNvSpPr txBox="1"/>
          <p:nvPr/>
        </p:nvSpPr>
        <p:spPr>
          <a:xfrm>
            <a:off x="7178675" y="1628775"/>
            <a:ext cx="2784475" cy="304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6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行业现状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9605C9-D1FB-5708-6CA8-869164D0F2A2}"/>
              </a:ext>
            </a:extLst>
          </p:cNvPr>
          <p:cNvSpPr/>
          <p:nvPr/>
        </p:nvSpPr>
        <p:spPr>
          <a:xfrm>
            <a:off x="0" y="-12700"/>
            <a:ext cx="2782888" cy="6870700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58A402-49B8-8181-62CE-759E019F6B52}"/>
              </a:ext>
            </a:extLst>
          </p:cNvPr>
          <p:cNvSpPr/>
          <p:nvPr/>
        </p:nvSpPr>
        <p:spPr>
          <a:xfrm>
            <a:off x="12072938" y="0"/>
            <a:ext cx="119063" cy="6858000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文本框 12">
            <a:extLst>
              <a:ext uri="{FF2B5EF4-FFF2-40B4-BE49-F238E27FC236}">
                <a16:creationId xmlns:a16="http://schemas.microsoft.com/office/drawing/2014/main" id="{F456FB39-D28A-6940-E28D-B7ECB55D59B9}"/>
              </a:ext>
            </a:extLst>
          </p:cNvPr>
          <p:cNvSpPr txBox="1"/>
          <p:nvPr/>
        </p:nvSpPr>
        <p:spPr>
          <a:xfrm>
            <a:off x="471488" y="981075"/>
            <a:ext cx="6121400" cy="4508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5551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6559A-DEC1-F34C-E1C3-FC8F1E09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应用场景  高峰期大流量人群</a:t>
            </a:r>
          </a:p>
        </p:txBody>
      </p:sp>
    </p:spTree>
    <p:extLst>
      <p:ext uri="{BB962C8B-B14F-4D97-AF65-F5344CB8AC3E}">
        <p14:creationId xmlns:p14="http://schemas.microsoft.com/office/powerpoint/2010/main" val="1575233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文本框 6"/>
          <p:cNvSpPr txBox="1"/>
          <p:nvPr/>
        </p:nvSpPr>
        <p:spPr>
          <a:xfrm>
            <a:off x="263526" y="979488"/>
            <a:ext cx="6336530" cy="4376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ea typeface="等线" panose="02010600030101010101" pitchFamily="2" charset="-122"/>
              </a:rPr>
              <a:t>咖啡行业市场分析</a:t>
            </a:r>
            <a:r>
              <a:rPr lang="en-US" altLang="zh-CN" sz="2000" b="1" dirty="0">
                <a:ea typeface="等线" panose="02010600030101010101" pitchFamily="2" charset="-122"/>
              </a:rPr>
              <a:t>---</a:t>
            </a:r>
            <a:r>
              <a:rPr lang="zh-CN" altLang="en-US" sz="2000" b="1" dirty="0">
                <a:ea typeface="等线" panose="02010600030101010101" pitchFamily="2" charset="-122"/>
              </a:rPr>
              <a:t>市场萃取与灭菌技术分析</a:t>
            </a:r>
            <a:endParaRPr lang="en-US" altLang="zh-CN" sz="2000" b="1" dirty="0">
              <a:ea typeface="等线" panose="02010600030101010101" pitchFamily="2" charset="-122"/>
            </a:endParaRPr>
          </a:p>
        </p:txBody>
      </p:sp>
      <p:sp>
        <p:nvSpPr>
          <p:cNvPr id="19460" name="文本框 1"/>
          <p:cNvSpPr txBox="1"/>
          <p:nvPr/>
        </p:nvSpPr>
        <p:spPr>
          <a:xfrm>
            <a:off x="263525" y="188913"/>
            <a:ext cx="36004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7F7F7F"/>
                </a:solidFill>
                <a:ea typeface="等线" panose="02010600030101010101" pitchFamily="2" charset="-122"/>
              </a:rPr>
              <a:t>产业现状</a:t>
            </a:r>
          </a:p>
        </p:txBody>
      </p:sp>
      <p:pic>
        <p:nvPicPr>
          <p:cNvPr id="19461" name="图片 3"/>
          <p:cNvPicPr>
            <a:picLocks noChangeAspect="1"/>
          </p:cNvPicPr>
          <p:nvPr/>
        </p:nvPicPr>
        <p:blipFill>
          <a:blip r:embed="rId2"/>
          <a:srcRect r="9596"/>
          <a:stretch>
            <a:fillRect/>
          </a:stretch>
        </p:blipFill>
        <p:spPr>
          <a:xfrm>
            <a:off x="700830" y="1596314"/>
            <a:ext cx="4672409" cy="38753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5" y="1596315"/>
            <a:ext cx="5163390" cy="3873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74F5A90A-C520-1671-C20E-8E3E54A67548}"/>
              </a:ext>
            </a:extLst>
          </p:cNvPr>
          <p:cNvSpPr/>
          <p:nvPr/>
        </p:nvSpPr>
        <p:spPr>
          <a:xfrm>
            <a:off x="5685039" y="986537"/>
            <a:ext cx="1107132" cy="506412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咖啡粉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0E65189-A214-3B21-AEB2-FD4AF5081448}"/>
              </a:ext>
            </a:extLst>
          </p:cNvPr>
          <p:cNvSpPr/>
          <p:nvPr/>
        </p:nvSpPr>
        <p:spPr>
          <a:xfrm>
            <a:off x="7272453" y="986537"/>
            <a:ext cx="1210715" cy="506412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高温萃取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4655D7E-48DE-E40B-7218-75C88437D68A}"/>
              </a:ext>
            </a:extLst>
          </p:cNvPr>
          <p:cNvSpPr/>
          <p:nvPr/>
        </p:nvSpPr>
        <p:spPr>
          <a:xfrm>
            <a:off x="8963450" y="1010350"/>
            <a:ext cx="1210715" cy="506412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灭菌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E48F278-78E2-AB82-6DED-505531FDAA6F}"/>
              </a:ext>
            </a:extLst>
          </p:cNvPr>
          <p:cNvSpPr/>
          <p:nvPr/>
        </p:nvSpPr>
        <p:spPr>
          <a:xfrm>
            <a:off x="10654448" y="1010350"/>
            <a:ext cx="1210715" cy="506412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灌装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E1061BC-EF3B-BEF8-EF7F-1557C9FCF02C}"/>
              </a:ext>
            </a:extLst>
          </p:cNvPr>
          <p:cNvCxnSpPr>
            <a:cxnSpLocks/>
          </p:cNvCxnSpPr>
          <p:nvPr/>
        </p:nvCxnSpPr>
        <p:spPr>
          <a:xfrm>
            <a:off x="6888618" y="1242525"/>
            <a:ext cx="287388" cy="3170"/>
          </a:xfrm>
          <a:prstGeom prst="straightConnector1">
            <a:avLst/>
          </a:prstGeom>
          <a:ln w="508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A0C3413-FE1F-43DA-733D-671C65A84424}"/>
              </a:ext>
            </a:extLst>
          </p:cNvPr>
          <p:cNvCxnSpPr>
            <a:cxnSpLocks/>
          </p:cNvCxnSpPr>
          <p:nvPr/>
        </p:nvCxnSpPr>
        <p:spPr>
          <a:xfrm>
            <a:off x="8579615" y="1242525"/>
            <a:ext cx="287388" cy="3170"/>
          </a:xfrm>
          <a:prstGeom prst="straightConnector1">
            <a:avLst/>
          </a:prstGeom>
          <a:ln w="508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B74EE40-8027-36EF-A388-527CFE4BACDE}"/>
              </a:ext>
            </a:extLst>
          </p:cNvPr>
          <p:cNvCxnSpPr>
            <a:cxnSpLocks/>
          </p:cNvCxnSpPr>
          <p:nvPr/>
        </p:nvCxnSpPr>
        <p:spPr>
          <a:xfrm>
            <a:off x="10270612" y="1242525"/>
            <a:ext cx="287388" cy="3170"/>
          </a:xfrm>
          <a:prstGeom prst="straightConnector1">
            <a:avLst/>
          </a:prstGeom>
          <a:ln w="508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7ACF36-2414-3F34-DB7B-F3ED19B7BFDA}"/>
              </a:ext>
            </a:extLst>
          </p:cNvPr>
          <p:cNvSpPr txBox="1"/>
          <p:nvPr/>
        </p:nvSpPr>
        <p:spPr>
          <a:xfrm>
            <a:off x="767409" y="5820147"/>
            <a:ext cx="105851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咖啡液加工路径是：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磨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粉、高温萃取、灭菌、灌装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灭菌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是决定产品货架期和品质的关键工序。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1FB46-8086-ADC6-AA31-5489EE03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对角圆角 8">
            <a:extLst>
              <a:ext uri="{FF2B5EF4-FFF2-40B4-BE49-F238E27FC236}">
                <a16:creationId xmlns:a16="http://schemas.microsoft.com/office/drawing/2014/main" id="{F2D9368F-4A9E-7B6A-FC0B-114ACFD0FFFB}"/>
              </a:ext>
            </a:extLst>
          </p:cNvPr>
          <p:cNvSpPr/>
          <p:nvPr/>
        </p:nvSpPr>
        <p:spPr>
          <a:xfrm>
            <a:off x="325438" y="1814513"/>
            <a:ext cx="3538538" cy="3414687"/>
          </a:xfrm>
          <a:prstGeom prst="round2DiagRect">
            <a:avLst/>
          </a:prstGeom>
          <a:noFill/>
          <a:ln w="38100">
            <a:solidFill>
              <a:srgbClr val="16416C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: 对角圆角 9">
            <a:extLst>
              <a:ext uri="{FF2B5EF4-FFF2-40B4-BE49-F238E27FC236}">
                <a16:creationId xmlns:a16="http://schemas.microsoft.com/office/drawing/2014/main" id="{A4470272-F72D-F4C9-EA55-6A5E2DE19EF4}"/>
              </a:ext>
            </a:extLst>
          </p:cNvPr>
          <p:cNvSpPr/>
          <p:nvPr/>
        </p:nvSpPr>
        <p:spPr>
          <a:xfrm>
            <a:off x="4284663" y="1814513"/>
            <a:ext cx="3536950" cy="3414687"/>
          </a:xfrm>
          <a:prstGeom prst="round2DiagRect">
            <a:avLst/>
          </a:prstGeom>
          <a:noFill/>
          <a:ln w="38100">
            <a:solidFill>
              <a:srgbClr val="16416C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572A8569-58A3-49D0-D591-888A3A9943EE}"/>
              </a:ext>
            </a:extLst>
          </p:cNvPr>
          <p:cNvSpPr/>
          <p:nvPr/>
        </p:nvSpPr>
        <p:spPr>
          <a:xfrm>
            <a:off x="8224838" y="1814513"/>
            <a:ext cx="3536950" cy="3414687"/>
          </a:xfrm>
          <a:prstGeom prst="round2DiagRect">
            <a:avLst/>
          </a:prstGeom>
          <a:noFill/>
          <a:ln w="38100">
            <a:solidFill>
              <a:srgbClr val="16416C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9" name="文本框 5">
            <a:extLst>
              <a:ext uri="{FF2B5EF4-FFF2-40B4-BE49-F238E27FC236}">
                <a16:creationId xmlns:a16="http://schemas.microsoft.com/office/drawing/2014/main" id="{2B30C9E3-9228-D37C-05ED-145AB0D70030}"/>
              </a:ext>
            </a:extLst>
          </p:cNvPr>
          <p:cNvSpPr txBox="1"/>
          <p:nvPr/>
        </p:nvSpPr>
        <p:spPr>
          <a:xfrm>
            <a:off x="263525" y="188913"/>
            <a:ext cx="36004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7F7F7F"/>
                </a:solidFill>
                <a:ea typeface="等线" panose="02010600030101010101" pitchFamily="2" charset="-122"/>
              </a:rPr>
              <a:t>存在问题</a:t>
            </a:r>
          </a:p>
        </p:txBody>
      </p:sp>
      <p:sp>
        <p:nvSpPr>
          <p:cNvPr id="26631" name="文本框 2">
            <a:extLst>
              <a:ext uri="{FF2B5EF4-FFF2-40B4-BE49-F238E27FC236}">
                <a16:creationId xmlns:a16="http://schemas.microsoft.com/office/drawing/2014/main" id="{29541B97-7B4B-E79C-3A8A-2218845CD410}"/>
              </a:ext>
            </a:extLst>
          </p:cNvPr>
          <p:cNvSpPr txBox="1"/>
          <p:nvPr/>
        </p:nvSpPr>
        <p:spPr>
          <a:xfrm>
            <a:off x="263525" y="957263"/>
            <a:ext cx="11233150" cy="735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ea typeface="等线" panose="02010600030101010101" pitchFamily="2" charset="-122"/>
              </a:rPr>
              <a:t>工艺要求：</a:t>
            </a:r>
            <a:r>
              <a:rPr lang="zh-CN" altLang="en-US" sz="1800" dirty="0">
                <a:ea typeface="等线" panose="02010600030101010101" pitchFamily="2" charset="-122"/>
              </a:rPr>
              <a:t>为了延长产品质保期，获得更高的商业价值，需要对产品进行符合国家要求的无菌化消毒处理，同时尽量保存咖啡的风味物质。</a:t>
            </a:r>
            <a:endParaRPr lang="en-US" altLang="zh-CN" sz="1800" dirty="0">
              <a:ea typeface="等线" panose="02010600030101010101" pitchFamily="2" charset="-122"/>
            </a:endParaRPr>
          </a:p>
        </p:txBody>
      </p:sp>
      <p:sp>
        <p:nvSpPr>
          <p:cNvPr id="19460" name="文本框 3">
            <a:extLst>
              <a:ext uri="{FF2B5EF4-FFF2-40B4-BE49-F238E27FC236}">
                <a16:creationId xmlns:a16="http://schemas.microsoft.com/office/drawing/2014/main" id="{74FEB42B-18B8-01B8-D614-04BA6C519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493" y="1872404"/>
            <a:ext cx="1720850" cy="3965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algn="ctr" defTabSz="4572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chemeClr val="bg1"/>
                </a:solidFill>
                <a:highlight>
                  <a:srgbClr val="16416C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巴氏</a:t>
            </a:r>
            <a:r>
              <a:rPr lang="zh-CN" altLang="en-US" b="1" dirty="0">
                <a:solidFill>
                  <a:schemeClr val="bg1"/>
                </a:solidFill>
                <a:highlight>
                  <a:srgbClr val="16416C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杀菌</a:t>
            </a:r>
            <a:endParaRPr kumimoji="0" lang="zh-CN" altLang="en-US" b="1" kern="1200" cap="none" spc="0" normalizeH="0" baseline="0" noProof="0" dirty="0">
              <a:solidFill>
                <a:schemeClr val="bg1"/>
              </a:solidFill>
              <a:highlight>
                <a:srgbClr val="16416C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FAF116-6D32-248D-375A-009057E6A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587" y="1880901"/>
            <a:ext cx="3006852" cy="3965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algn="ctr" defTabSz="4572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chemeClr val="bg1"/>
                </a:solidFill>
                <a:highlight>
                  <a:srgbClr val="16416C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UHT</a:t>
            </a:r>
            <a:r>
              <a:rPr kumimoji="0" lang="zh-CN" altLang="en-US" b="1" kern="1200" cap="none" spc="0" normalizeH="0" baseline="0" noProof="0" dirty="0">
                <a:solidFill>
                  <a:schemeClr val="bg1"/>
                </a:solidFill>
                <a:highlight>
                  <a:srgbClr val="16416C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超高温瞬时杀菌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BD06A8-104D-6A7F-4620-1F9AD5805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9746" y="1880901"/>
            <a:ext cx="3006853" cy="3965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algn="ctr" defTabSz="4572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chemeClr val="bg1"/>
                </a:solidFill>
                <a:highlight>
                  <a:srgbClr val="16416C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HPP</a:t>
            </a:r>
            <a:r>
              <a:rPr kumimoji="0" lang="zh-CN" altLang="en-US" b="1" kern="1200" cap="none" spc="0" normalizeH="0" baseline="0" noProof="0" dirty="0">
                <a:solidFill>
                  <a:schemeClr val="bg1"/>
                </a:solidFill>
                <a:highlight>
                  <a:srgbClr val="16416C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超高压杀菌</a:t>
            </a:r>
          </a:p>
        </p:txBody>
      </p:sp>
      <p:sp>
        <p:nvSpPr>
          <p:cNvPr id="26635" name="文本框 2">
            <a:extLst>
              <a:ext uri="{FF2B5EF4-FFF2-40B4-BE49-F238E27FC236}">
                <a16:creationId xmlns:a16="http://schemas.microsoft.com/office/drawing/2014/main" id="{275E32E3-8A55-B7A7-40EC-132EEA2A1DD6}"/>
              </a:ext>
            </a:extLst>
          </p:cNvPr>
          <p:cNvSpPr txBox="1"/>
          <p:nvPr/>
        </p:nvSpPr>
        <p:spPr>
          <a:xfrm>
            <a:off x="398463" y="2204864"/>
            <a:ext cx="3394075" cy="287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ea typeface="等线" panose="02010600030101010101" pitchFamily="2" charset="-122"/>
              </a:rPr>
              <a:t>温度：</a:t>
            </a:r>
            <a:r>
              <a:rPr lang="en-US" altLang="zh-CN" sz="1800" b="1" dirty="0">
                <a:ea typeface="等线" panose="02010600030101010101" pitchFamily="2" charset="-122"/>
              </a:rPr>
              <a:t>70-90</a:t>
            </a:r>
            <a:r>
              <a:rPr lang="zh-CN" altLang="en-US" sz="1800" b="1" dirty="0">
                <a:ea typeface="等线" panose="02010600030101010101" pitchFamily="2" charset="-122"/>
              </a:rPr>
              <a:t>℃</a:t>
            </a:r>
            <a:endParaRPr lang="en-US" altLang="zh-CN" sz="1800" b="1" dirty="0">
              <a:ea typeface="等线" panose="02010600030101010101" pitchFamily="2" charset="-122"/>
            </a:endParaRPr>
          </a:p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ea typeface="等线" panose="02010600030101010101" pitchFamily="2" charset="-122"/>
              </a:rPr>
              <a:t>特点：风味损失少，质保期短</a:t>
            </a:r>
            <a:endParaRPr lang="en-US" altLang="zh-CN" sz="1800" b="1" dirty="0">
              <a:ea typeface="等线" panose="02010600030101010101" pitchFamily="2" charset="-122"/>
            </a:endParaRPr>
          </a:p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1800" b="1" dirty="0">
              <a:ea typeface="等线" panose="02010600030101010101" pitchFamily="2" charset="-122"/>
            </a:endParaRPr>
          </a:p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此方法只能将细菌的数量下降至不会引发疾病的水平，不能消灭可以忍受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70°C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以上的细菌孢子，在牛奶中仍然有微生物存在，一旦温度上升至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10°C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或以上，细菌孢子又会变得活跃，细菌加快繁殖使牛奶腐坏，因此需要将牛奶维持在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4-5°C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的低温保存及运输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6" name="文本框 2">
            <a:extLst>
              <a:ext uri="{FF2B5EF4-FFF2-40B4-BE49-F238E27FC236}">
                <a16:creationId xmlns:a16="http://schemas.microsoft.com/office/drawing/2014/main" id="{4D3A05B6-882F-8F98-8FF6-175D6EFDA409}"/>
              </a:ext>
            </a:extLst>
          </p:cNvPr>
          <p:cNvSpPr txBox="1"/>
          <p:nvPr/>
        </p:nvSpPr>
        <p:spPr>
          <a:xfrm>
            <a:off x="4356100" y="2204864"/>
            <a:ext cx="3394075" cy="2166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ea typeface="等线" panose="02010600030101010101" pitchFamily="2" charset="-122"/>
              </a:rPr>
              <a:t>温度：</a:t>
            </a:r>
            <a:r>
              <a:rPr lang="en-US" altLang="zh-CN" sz="1800" b="1" dirty="0">
                <a:ea typeface="等线" panose="02010600030101010101" pitchFamily="2" charset="-122"/>
              </a:rPr>
              <a:t>135-150</a:t>
            </a:r>
            <a:r>
              <a:rPr lang="zh-CN" altLang="en-US" sz="1800" b="1" dirty="0">
                <a:ea typeface="等线" panose="02010600030101010101" pitchFamily="2" charset="-122"/>
              </a:rPr>
              <a:t>℃</a:t>
            </a:r>
            <a:endParaRPr lang="en-US" altLang="zh-CN" sz="1800" b="1" dirty="0">
              <a:ea typeface="等线" panose="02010600030101010101" pitchFamily="2" charset="-122"/>
            </a:endParaRPr>
          </a:p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ea typeface="等线" panose="02010600030101010101" pitchFamily="2" charset="-122"/>
              </a:rPr>
              <a:t>特点：风味损失多，质保期长</a:t>
            </a:r>
            <a:endParaRPr lang="en-US" altLang="zh-CN" sz="1800" b="1" dirty="0">
              <a:ea typeface="等线" panose="02010600030101010101" pitchFamily="2" charset="-122"/>
            </a:endParaRPr>
          </a:p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1800" b="1" dirty="0">
              <a:ea typeface="等线" panose="02010600030101010101" pitchFamily="2" charset="-122"/>
            </a:endParaRPr>
          </a:p>
          <a:p>
            <a:pPr marL="0" lvl="0" indent="0" algn="ctr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ea typeface="等线" panose="02010600030101010101" pitchFamily="2" charset="-122"/>
              </a:rPr>
              <a:t>UHT</a:t>
            </a:r>
            <a:r>
              <a:rPr lang="zh-CN" altLang="en-US" sz="1400" dirty="0">
                <a:ea typeface="等线" panose="02010600030101010101" pitchFamily="2" charset="-122"/>
              </a:rPr>
              <a:t>的加热时间更短，能够更好地保持风味。即使这样，</a:t>
            </a:r>
            <a:r>
              <a:rPr lang="en-US" altLang="zh-CN" sz="1400" dirty="0">
                <a:ea typeface="等线" panose="02010600030101010101" pitchFamily="2" charset="-122"/>
              </a:rPr>
              <a:t>UHT</a:t>
            </a:r>
            <a:r>
              <a:rPr lang="zh-CN" altLang="en-US" sz="1400" dirty="0">
                <a:ea typeface="等线" panose="02010600030101010101" pitchFamily="2" charset="-122"/>
              </a:rPr>
              <a:t>处理的温度也足够造成梅纳反应，会改变乳品的风味和色泽。</a:t>
            </a:r>
          </a:p>
          <a:p>
            <a:pPr marL="0" lvl="0" indent="0" algn="ctr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dirty="0">
                <a:ea typeface="等线" panose="02010600030101010101" pitchFamily="2" charset="-122"/>
              </a:rPr>
              <a:t>经过</a:t>
            </a:r>
            <a:r>
              <a:rPr lang="en-US" altLang="zh-CN" sz="1400" dirty="0">
                <a:ea typeface="等线" panose="02010600030101010101" pitchFamily="2" charset="-122"/>
              </a:rPr>
              <a:t>UHT</a:t>
            </a:r>
            <a:r>
              <a:rPr lang="zh-CN" altLang="en-US" sz="1400" dirty="0">
                <a:ea typeface="等线" panose="02010600030101010101" pitchFamily="2" charset="-122"/>
              </a:rPr>
              <a:t>处理的牛奶储存在无菌容器中，在常温情况下有</a:t>
            </a:r>
            <a:r>
              <a:rPr lang="en-US" altLang="zh-CN" sz="1400" dirty="0">
                <a:ea typeface="等线" panose="02010600030101010101" pitchFamily="2" charset="-122"/>
              </a:rPr>
              <a:t>6—9</a:t>
            </a:r>
            <a:r>
              <a:rPr lang="zh-CN" altLang="en-US" sz="1400" dirty="0">
                <a:ea typeface="等线" panose="02010600030101010101" pitchFamily="2" charset="-122"/>
              </a:rPr>
              <a:t>个月的保质期</a:t>
            </a:r>
          </a:p>
        </p:txBody>
      </p:sp>
      <p:sp>
        <p:nvSpPr>
          <p:cNvPr id="26637" name="文本框 2">
            <a:extLst>
              <a:ext uri="{FF2B5EF4-FFF2-40B4-BE49-F238E27FC236}">
                <a16:creationId xmlns:a16="http://schemas.microsoft.com/office/drawing/2014/main" id="{502E7280-4DF7-46EA-23DF-16F55124F70A}"/>
              </a:ext>
            </a:extLst>
          </p:cNvPr>
          <p:cNvSpPr txBox="1"/>
          <p:nvPr/>
        </p:nvSpPr>
        <p:spPr>
          <a:xfrm>
            <a:off x="8296275" y="2204864"/>
            <a:ext cx="3394075" cy="2714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ea typeface="等线" panose="02010600030101010101" pitchFamily="2" charset="-122"/>
              </a:rPr>
              <a:t>压力：</a:t>
            </a:r>
            <a:r>
              <a:rPr lang="en-US" altLang="zh-CN" sz="1800" b="1" dirty="0">
                <a:ea typeface="等线" panose="02010600030101010101" pitchFamily="2" charset="-122"/>
              </a:rPr>
              <a:t>100-1000MPA</a:t>
            </a:r>
          </a:p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ea typeface="等线" panose="02010600030101010101" pitchFamily="2" charset="-122"/>
              </a:rPr>
              <a:t>特点：风味损失少，质保期长，成本高</a:t>
            </a:r>
            <a:endParaRPr lang="en-US" altLang="zh-CN" sz="1800" b="1" dirty="0">
              <a:ea typeface="等线" panose="02010600030101010101" pitchFamily="2" charset="-122"/>
            </a:endParaRPr>
          </a:p>
          <a:p>
            <a:pPr marL="0" lvl="0" indent="0" algn="ctr" defTabSz="457200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1800" b="1" dirty="0">
              <a:ea typeface="等线" panose="02010600030101010101" pitchFamily="2" charset="-122"/>
            </a:endParaRPr>
          </a:p>
          <a:p>
            <a:pPr marL="0" lvl="0" indent="0" algn="ctr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400" dirty="0">
                <a:ea typeface="等线" panose="02010600030101010101" pitchFamily="2" charset="-122"/>
              </a:rPr>
              <a:t>食品超高压杀菌技术是以水或其他液体介质为传递压力的媒介物质，加在液体中的压力（</a:t>
            </a:r>
            <a:r>
              <a:rPr lang="en-US" altLang="zh-CN" sz="1400" dirty="0">
                <a:ea typeface="等线" panose="02010600030101010101" pitchFamily="2" charset="-122"/>
              </a:rPr>
              <a:t>100</a:t>
            </a:r>
            <a:r>
              <a:rPr lang="zh-CN" altLang="en-US" sz="1400" dirty="0">
                <a:ea typeface="等线" panose="02010600030101010101" pitchFamily="2" charset="-122"/>
              </a:rPr>
              <a:t>～</a:t>
            </a:r>
            <a:r>
              <a:rPr lang="en-US" altLang="zh-CN" sz="1400" dirty="0">
                <a:ea typeface="等线" panose="02010600030101010101" pitchFamily="2" charset="-122"/>
              </a:rPr>
              <a:t>1000MPa</a:t>
            </a:r>
            <a:r>
              <a:rPr lang="zh-CN" altLang="en-US" sz="1400" dirty="0">
                <a:ea typeface="等线" panose="02010600030101010101" pitchFamily="2" charset="-122"/>
              </a:rPr>
              <a:t>），通过介质，以压力作为能量因子，将放在专门密封超高压容器内的食品，在常温或者低温</a:t>
            </a:r>
            <a:r>
              <a:rPr lang="en-US" altLang="zh-CN" sz="1400" dirty="0">
                <a:ea typeface="等线" panose="02010600030101010101" pitchFamily="2" charset="-122"/>
              </a:rPr>
              <a:t>(</a:t>
            </a:r>
            <a:r>
              <a:rPr lang="zh-CN" altLang="en-US" sz="1400" dirty="0">
                <a:ea typeface="等线" panose="02010600030101010101" pitchFamily="2" charset="-122"/>
              </a:rPr>
              <a:t>低于</a:t>
            </a:r>
            <a:r>
              <a:rPr lang="en-US" altLang="zh-CN" sz="1400" dirty="0">
                <a:ea typeface="等线" panose="02010600030101010101" pitchFamily="2" charset="-122"/>
              </a:rPr>
              <a:t>100℃)</a:t>
            </a:r>
            <a:r>
              <a:rPr lang="zh-CN" altLang="en-US" sz="1400" dirty="0">
                <a:ea typeface="等线" panose="02010600030101010101" pitchFamily="2" charset="-122"/>
              </a:rPr>
              <a:t>下对食品加压</a:t>
            </a:r>
            <a:r>
              <a:rPr lang="en-US" altLang="zh-CN" sz="1400" dirty="0">
                <a:ea typeface="等线" panose="02010600030101010101" pitchFamily="2" charset="-122"/>
              </a:rPr>
              <a:t>.</a:t>
            </a:r>
            <a:endParaRPr lang="zh-CN" altLang="en-US" sz="1400" dirty="0"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8475A3-E4C3-7C58-DDC4-8F939F56DBF1}"/>
              </a:ext>
            </a:extLst>
          </p:cNvPr>
          <p:cNvSpPr txBox="1"/>
          <p:nvPr/>
        </p:nvSpPr>
        <p:spPr>
          <a:xfrm>
            <a:off x="717682" y="5373216"/>
            <a:ext cx="10634901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传统咖啡液加工主要为热杀菌技术，包括巴氏杀菌（TP）、高温短时杀菌（HTST）、超高温瞬时杀菌（UHT）等，导致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风味损失、营养破坏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等问题。同时，咖啡液加工高耗能产业，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耗水、耗电、耗气等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能耗为发达国家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1.9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倍。</a:t>
            </a:r>
          </a:p>
        </p:txBody>
      </p:sp>
    </p:spTree>
    <p:extLst>
      <p:ext uri="{BB962C8B-B14F-4D97-AF65-F5344CB8AC3E}">
        <p14:creationId xmlns:p14="http://schemas.microsoft.com/office/powerpoint/2010/main" val="348481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文本框 5"/>
          <p:cNvSpPr txBox="1"/>
          <p:nvPr/>
        </p:nvSpPr>
        <p:spPr>
          <a:xfrm>
            <a:off x="263525" y="188913"/>
            <a:ext cx="36004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7F7F7F"/>
                </a:solidFill>
                <a:ea typeface="等线" panose="02010600030101010101" pitchFamily="2" charset="-122"/>
              </a:rPr>
              <a:t>解决方法</a:t>
            </a:r>
          </a:p>
        </p:txBody>
      </p:sp>
      <p:pic>
        <p:nvPicPr>
          <p:cNvPr id="2" name="图片 1" descr="第3页-3">
            <a:extLst>
              <a:ext uri="{FF2B5EF4-FFF2-40B4-BE49-F238E27FC236}">
                <a16:creationId xmlns:a16="http://schemas.microsoft.com/office/drawing/2014/main" id="{AFDB2B28-4B54-848B-280B-66E06C846F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356" y="1268760"/>
            <a:ext cx="6791994" cy="39234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B514D75-BECB-1237-072D-1F90DDBB5DE9}"/>
              </a:ext>
            </a:extLst>
          </p:cNvPr>
          <p:cNvSpPr txBox="1"/>
          <p:nvPr/>
        </p:nvSpPr>
        <p:spPr>
          <a:xfrm>
            <a:off x="558538" y="5439710"/>
            <a:ext cx="10882431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超声波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作为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非热辅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助杀菌技术，顺应国家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“食品洁净”和“最少加工”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的大健康趋势，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既能高效杀菌，且能有效保留原有风味。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E1AED75-579B-41E1-7C8E-500F8ABB3B3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922500" y="1269395"/>
            <a:ext cx="4675965" cy="3922781"/>
            <a:chOff x="13263" y="3325"/>
            <a:chExt cx="5798" cy="634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F24D324-3CB2-088B-B042-7D21775A9383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14814" y="5622"/>
              <a:ext cx="4087" cy="0"/>
            </a:xfrm>
            <a:prstGeom prst="line">
              <a:avLst/>
            </a:prstGeom>
            <a:ln w="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11">
              <a:extLst>
                <a:ext uri="{FF2B5EF4-FFF2-40B4-BE49-F238E27FC236}">
                  <a16:creationId xmlns:a16="http://schemas.microsoft.com/office/drawing/2014/main" id="{FCF93CC1-3E82-A014-079A-574AB80B86D6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4729" y="5509"/>
              <a:ext cx="4087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600" b="1" dirty="0">
                  <a:solidFill>
                    <a:srgbClr val="7EB000"/>
                  </a:solidFill>
                  <a:latin typeface="微软雅黑" panose="020B0503020204020204" pitchFamily="34" charset="-122"/>
                </a:rPr>
                <a:t>灭活有害微生物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7E4F0D0-F653-5F8F-00CE-B4C754A72438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14758" y="7096"/>
              <a:ext cx="4247" cy="0"/>
            </a:xfrm>
            <a:prstGeom prst="line">
              <a:avLst/>
            </a:prstGeom>
            <a:ln w="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4">
              <a:extLst>
                <a:ext uri="{FF2B5EF4-FFF2-40B4-BE49-F238E27FC236}">
                  <a16:creationId xmlns:a16="http://schemas.microsoft.com/office/drawing/2014/main" id="{683B785C-F0B6-40FF-684D-F9ED961669DE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4814" y="6416"/>
              <a:ext cx="4247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zh-CN" altLang="en-US" sz="1600" b="1" dirty="0">
                  <a:solidFill>
                    <a:srgbClr val="008AD3"/>
                  </a:solidFill>
                  <a:latin typeface="微软雅黑" panose="020B0503020204020204" pitchFamily="34" charset="-122"/>
                </a:rPr>
                <a:t>保留原有风味</a:t>
              </a: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DB12D03-4564-9901-C718-E3508DDE034B}"/>
                </a:ext>
              </a:extLst>
            </p:cNvPr>
            <p:cNvGrpSpPr/>
            <p:nvPr/>
          </p:nvGrpSpPr>
          <p:grpSpPr>
            <a:xfrm>
              <a:off x="13263" y="3325"/>
              <a:ext cx="1466" cy="3210"/>
              <a:chOff x="2323103" y="952941"/>
              <a:chExt cx="1560285" cy="1987551"/>
            </a:xfrm>
            <a:solidFill>
              <a:srgbClr val="7EB000"/>
            </a:solidFill>
          </p:grpSpPr>
          <p:sp>
            <p:nvSpPr>
              <p:cNvPr id="22" name="右箭头 3">
                <a:extLst>
                  <a:ext uri="{FF2B5EF4-FFF2-40B4-BE49-F238E27FC236}">
                    <a16:creationId xmlns:a16="http://schemas.microsoft.com/office/drawing/2014/main" id="{AC3ADF78-EB65-86BE-01F1-E7DD152A152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 rot="5400000" flipH="1">
                <a:off x="2109470" y="1166574"/>
                <a:ext cx="1987551" cy="1560285"/>
              </a:xfrm>
              <a:custGeom>
                <a:avLst/>
                <a:gdLst>
                  <a:gd name="connsiteX0" fmla="*/ 0 w 1987551"/>
                  <a:gd name="connsiteY0" fmla="*/ 453569 h 1611085"/>
                  <a:gd name="connsiteX1" fmla="*/ 1067702 w 1987551"/>
                  <a:gd name="connsiteY1" fmla="*/ 453569 h 1611085"/>
                  <a:gd name="connsiteX2" fmla="*/ 1067702 w 1987551"/>
                  <a:gd name="connsiteY2" fmla="*/ 0 h 1611085"/>
                  <a:gd name="connsiteX3" fmla="*/ 1987551 w 1987551"/>
                  <a:gd name="connsiteY3" fmla="*/ 805543 h 1611085"/>
                  <a:gd name="connsiteX4" fmla="*/ 1067702 w 1987551"/>
                  <a:gd name="connsiteY4" fmla="*/ 1611085 h 1611085"/>
                  <a:gd name="connsiteX5" fmla="*/ 1067702 w 1987551"/>
                  <a:gd name="connsiteY5" fmla="*/ 1157516 h 1611085"/>
                  <a:gd name="connsiteX6" fmla="*/ 0 w 1987551"/>
                  <a:gd name="connsiteY6" fmla="*/ 1157516 h 1611085"/>
                  <a:gd name="connsiteX7" fmla="*/ 0 w 1987551"/>
                  <a:gd name="connsiteY7" fmla="*/ 453569 h 1611085"/>
                  <a:gd name="connsiteX0-1" fmla="*/ 0 w 1987551"/>
                  <a:gd name="connsiteY0-2" fmla="*/ 453569 h 1611085"/>
                  <a:gd name="connsiteX1-3" fmla="*/ 1067702 w 1987551"/>
                  <a:gd name="connsiteY1-4" fmla="*/ 453569 h 1611085"/>
                  <a:gd name="connsiteX2-5" fmla="*/ 813702 w 1987551"/>
                  <a:gd name="connsiteY2-6" fmla="*/ 0 h 1611085"/>
                  <a:gd name="connsiteX3-7" fmla="*/ 1987551 w 1987551"/>
                  <a:gd name="connsiteY3-8" fmla="*/ 805543 h 1611085"/>
                  <a:gd name="connsiteX4-9" fmla="*/ 1067702 w 1987551"/>
                  <a:gd name="connsiteY4-10" fmla="*/ 1611085 h 1611085"/>
                  <a:gd name="connsiteX5-11" fmla="*/ 1067702 w 1987551"/>
                  <a:gd name="connsiteY5-12" fmla="*/ 1157516 h 1611085"/>
                  <a:gd name="connsiteX6-13" fmla="*/ 0 w 1987551"/>
                  <a:gd name="connsiteY6-14" fmla="*/ 1157516 h 1611085"/>
                  <a:gd name="connsiteX7-15" fmla="*/ 0 w 1987551"/>
                  <a:gd name="connsiteY7-16" fmla="*/ 453569 h 1611085"/>
                  <a:gd name="connsiteX0-17" fmla="*/ 0 w 1987551"/>
                  <a:gd name="connsiteY0-18" fmla="*/ 453569 h 1560285"/>
                  <a:gd name="connsiteX1-19" fmla="*/ 1067702 w 1987551"/>
                  <a:gd name="connsiteY1-20" fmla="*/ 453569 h 1560285"/>
                  <a:gd name="connsiteX2-21" fmla="*/ 813702 w 1987551"/>
                  <a:gd name="connsiteY2-22" fmla="*/ 0 h 1560285"/>
                  <a:gd name="connsiteX3-23" fmla="*/ 1987551 w 1987551"/>
                  <a:gd name="connsiteY3-24" fmla="*/ 805543 h 1560285"/>
                  <a:gd name="connsiteX4-25" fmla="*/ 902602 w 1987551"/>
                  <a:gd name="connsiteY4-26" fmla="*/ 1560285 h 1560285"/>
                  <a:gd name="connsiteX5-27" fmla="*/ 1067702 w 1987551"/>
                  <a:gd name="connsiteY5-28" fmla="*/ 1157516 h 1560285"/>
                  <a:gd name="connsiteX6-29" fmla="*/ 0 w 1987551"/>
                  <a:gd name="connsiteY6-30" fmla="*/ 1157516 h 1560285"/>
                  <a:gd name="connsiteX7-31" fmla="*/ 0 w 1987551"/>
                  <a:gd name="connsiteY7-32" fmla="*/ 453569 h 156028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</a:cxnLst>
                <a:rect l="l" t="t" r="r" b="b"/>
                <a:pathLst>
                  <a:path w="1987551" h="1560285">
                    <a:moveTo>
                      <a:pt x="0" y="453569"/>
                    </a:moveTo>
                    <a:lnTo>
                      <a:pt x="1067702" y="453569"/>
                    </a:lnTo>
                    <a:lnTo>
                      <a:pt x="813702" y="0"/>
                    </a:lnTo>
                    <a:lnTo>
                      <a:pt x="1987551" y="805543"/>
                    </a:lnTo>
                    <a:lnTo>
                      <a:pt x="902602" y="1560285"/>
                    </a:lnTo>
                    <a:lnTo>
                      <a:pt x="1067702" y="1157516"/>
                    </a:lnTo>
                    <a:lnTo>
                      <a:pt x="0" y="1157516"/>
                    </a:lnTo>
                    <a:lnTo>
                      <a:pt x="0" y="45356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anchor="ctr"/>
              <a:lstStyle/>
              <a:p>
                <a:pPr algn="ctr"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椭圆 24">
                <a:extLst>
                  <a:ext uri="{FF2B5EF4-FFF2-40B4-BE49-F238E27FC236}">
                    <a16:creationId xmlns:a16="http://schemas.microsoft.com/office/drawing/2014/main" id="{FD4CF354-1197-43E9-9A41-BD61EA70F71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796768" y="1522850"/>
                <a:ext cx="571500" cy="571500"/>
              </a:xfrm>
              <a:prstGeom prst="ellipse">
                <a:avLst/>
              </a:prstGeom>
              <a:grpFill/>
              <a:ln w="25400" algn="ctr">
                <a:noFill/>
                <a:round/>
              </a:ln>
            </p:spPr>
            <p:txBody>
              <a:bodyPr lIns="0" tIns="0" rIns="0" bIns="0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安全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F4B17AC0-3ECA-1E22-EE79-DC36D2D79CDF}"/>
                </a:ext>
              </a:extLst>
            </p:cNvPr>
            <p:cNvGrpSpPr/>
            <p:nvPr/>
          </p:nvGrpSpPr>
          <p:grpSpPr>
            <a:xfrm>
              <a:off x="13263" y="6455"/>
              <a:ext cx="1466" cy="3210"/>
              <a:chOff x="2323103" y="2940701"/>
              <a:chExt cx="1560285" cy="1987551"/>
            </a:xfrm>
            <a:solidFill>
              <a:srgbClr val="008AD3"/>
            </a:solidFill>
          </p:grpSpPr>
          <p:sp>
            <p:nvSpPr>
              <p:cNvPr id="20" name="右箭头 3">
                <a:extLst>
                  <a:ext uri="{FF2B5EF4-FFF2-40B4-BE49-F238E27FC236}">
                    <a16:creationId xmlns:a16="http://schemas.microsoft.com/office/drawing/2014/main" id="{906E132A-6238-727D-ECB1-2D7EB8AE1871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 rot="16200000" flipH="1" flipV="1">
                <a:off x="2109470" y="3154334"/>
                <a:ext cx="1987551" cy="1560285"/>
              </a:xfrm>
              <a:custGeom>
                <a:avLst/>
                <a:gdLst>
                  <a:gd name="connsiteX0" fmla="*/ 0 w 1987551"/>
                  <a:gd name="connsiteY0" fmla="*/ 453569 h 1611085"/>
                  <a:gd name="connsiteX1" fmla="*/ 1067702 w 1987551"/>
                  <a:gd name="connsiteY1" fmla="*/ 453569 h 1611085"/>
                  <a:gd name="connsiteX2" fmla="*/ 1067702 w 1987551"/>
                  <a:gd name="connsiteY2" fmla="*/ 0 h 1611085"/>
                  <a:gd name="connsiteX3" fmla="*/ 1987551 w 1987551"/>
                  <a:gd name="connsiteY3" fmla="*/ 805543 h 1611085"/>
                  <a:gd name="connsiteX4" fmla="*/ 1067702 w 1987551"/>
                  <a:gd name="connsiteY4" fmla="*/ 1611085 h 1611085"/>
                  <a:gd name="connsiteX5" fmla="*/ 1067702 w 1987551"/>
                  <a:gd name="connsiteY5" fmla="*/ 1157516 h 1611085"/>
                  <a:gd name="connsiteX6" fmla="*/ 0 w 1987551"/>
                  <a:gd name="connsiteY6" fmla="*/ 1157516 h 1611085"/>
                  <a:gd name="connsiteX7" fmla="*/ 0 w 1987551"/>
                  <a:gd name="connsiteY7" fmla="*/ 453569 h 1611085"/>
                  <a:gd name="connsiteX0-1" fmla="*/ 0 w 1987551"/>
                  <a:gd name="connsiteY0-2" fmla="*/ 453569 h 1611085"/>
                  <a:gd name="connsiteX1-3" fmla="*/ 1067702 w 1987551"/>
                  <a:gd name="connsiteY1-4" fmla="*/ 453569 h 1611085"/>
                  <a:gd name="connsiteX2-5" fmla="*/ 813702 w 1987551"/>
                  <a:gd name="connsiteY2-6" fmla="*/ 0 h 1611085"/>
                  <a:gd name="connsiteX3-7" fmla="*/ 1987551 w 1987551"/>
                  <a:gd name="connsiteY3-8" fmla="*/ 805543 h 1611085"/>
                  <a:gd name="connsiteX4-9" fmla="*/ 1067702 w 1987551"/>
                  <a:gd name="connsiteY4-10" fmla="*/ 1611085 h 1611085"/>
                  <a:gd name="connsiteX5-11" fmla="*/ 1067702 w 1987551"/>
                  <a:gd name="connsiteY5-12" fmla="*/ 1157516 h 1611085"/>
                  <a:gd name="connsiteX6-13" fmla="*/ 0 w 1987551"/>
                  <a:gd name="connsiteY6-14" fmla="*/ 1157516 h 1611085"/>
                  <a:gd name="connsiteX7-15" fmla="*/ 0 w 1987551"/>
                  <a:gd name="connsiteY7-16" fmla="*/ 453569 h 1611085"/>
                  <a:gd name="connsiteX0-17" fmla="*/ 0 w 1987551"/>
                  <a:gd name="connsiteY0-18" fmla="*/ 453569 h 1560285"/>
                  <a:gd name="connsiteX1-19" fmla="*/ 1067702 w 1987551"/>
                  <a:gd name="connsiteY1-20" fmla="*/ 453569 h 1560285"/>
                  <a:gd name="connsiteX2-21" fmla="*/ 813702 w 1987551"/>
                  <a:gd name="connsiteY2-22" fmla="*/ 0 h 1560285"/>
                  <a:gd name="connsiteX3-23" fmla="*/ 1987551 w 1987551"/>
                  <a:gd name="connsiteY3-24" fmla="*/ 805543 h 1560285"/>
                  <a:gd name="connsiteX4-25" fmla="*/ 902602 w 1987551"/>
                  <a:gd name="connsiteY4-26" fmla="*/ 1560285 h 1560285"/>
                  <a:gd name="connsiteX5-27" fmla="*/ 1067702 w 1987551"/>
                  <a:gd name="connsiteY5-28" fmla="*/ 1157516 h 1560285"/>
                  <a:gd name="connsiteX6-29" fmla="*/ 0 w 1987551"/>
                  <a:gd name="connsiteY6-30" fmla="*/ 1157516 h 1560285"/>
                  <a:gd name="connsiteX7-31" fmla="*/ 0 w 1987551"/>
                  <a:gd name="connsiteY7-32" fmla="*/ 453569 h 156028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</a:cxnLst>
                <a:rect l="l" t="t" r="r" b="b"/>
                <a:pathLst>
                  <a:path w="1987551" h="1560285">
                    <a:moveTo>
                      <a:pt x="0" y="453569"/>
                    </a:moveTo>
                    <a:lnTo>
                      <a:pt x="1067702" y="453569"/>
                    </a:lnTo>
                    <a:lnTo>
                      <a:pt x="813702" y="0"/>
                    </a:lnTo>
                    <a:lnTo>
                      <a:pt x="1987551" y="805543"/>
                    </a:lnTo>
                    <a:lnTo>
                      <a:pt x="902602" y="1560285"/>
                    </a:lnTo>
                    <a:lnTo>
                      <a:pt x="1067702" y="1157516"/>
                    </a:lnTo>
                    <a:lnTo>
                      <a:pt x="0" y="1157516"/>
                    </a:lnTo>
                    <a:lnTo>
                      <a:pt x="0" y="45356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anchor="ctr"/>
              <a:lstStyle/>
              <a:p>
                <a:pPr algn="ctr"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椭圆 25">
                <a:extLst>
                  <a:ext uri="{FF2B5EF4-FFF2-40B4-BE49-F238E27FC236}">
                    <a16:creationId xmlns:a16="http://schemas.microsoft.com/office/drawing/2014/main" id="{7CF9BB95-AE9A-9D26-C254-FEEA0F3BF17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654846" y="3921923"/>
                <a:ext cx="781826" cy="558966"/>
              </a:xfrm>
              <a:prstGeom prst="ellipse">
                <a:avLst/>
              </a:prstGeom>
              <a:grpFill/>
              <a:ln w="25400" algn="ctr">
                <a:noFill/>
                <a:round/>
              </a:ln>
            </p:spPr>
            <p:txBody>
              <a:bodyPr lIns="0" tIns="0" rIns="0" bIns="0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营养</a:t>
                </a:r>
              </a:p>
            </p:txBody>
          </p:sp>
        </p:grp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974DBF3-DBE7-0DF6-5E38-A6B904A34C7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73" y="3582"/>
              <a:ext cx="2056" cy="1367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6982A70-69A7-9DA2-ECF6-7E7A8906DA9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74" y="7436"/>
              <a:ext cx="1528" cy="1633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86A903A-AF22-945D-5086-93D0A08D9B8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47" y="7436"/>
              <a:ext cx="1991" cy="1494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23CF612-5870-2996-452A-4A52254D741C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29" y="3582"/>
              <a:ext cx="1822" cy="13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B3A3-06F9-45B0-CAC2-2FA8F32C7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>
            <a:extLst>
              <a:ext uri="{FF2B5EF4-FFF2-40B4-BE49-F238E27FC236}">
                <a16:creationId xmlns:a16="http://schemas.microsoft.com/office/drawing/2014/main" id="{9CE4701D-7DA8-EBE2-ABC9-BF713B2E5050}"/>
              </a:ext>
            </a:extLst>
          </p:cNvPr>
          <p:cNvSpPr/>
          <p:nvPr/>
        </p:nvSpPr>
        <p:spPr>
          <a:xfrm>
            <a:off x="0" y="0"/>
            <a:ext cx="6430963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1" name="文本框 3">
            <a:extLst>
              <a:ext uri="{FF2B5EF4-FFF2-40B4-BE49-F238E27FC236}">
                <a16:creationId xmlns:a16="http://schemas.microsoft.com/office/drawing/2014/main" id="{779FAFAA-3521-2E44-F21D-EDC2F0DAA53D}"/>
              </a:ext>
            </a:extLst>
          </p:cNvPr>
          <p:cNvSpPr txBox="1"/>
          <p:nvPr/>
        </p:nvSpPr>
        <p:spPr>
          <a:xfrm>
            <a:off x="7178675" y="1628775"/>
            <a:ext cx="2784475" cy="304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6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核心优势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05A7B0-C776-E556-518F-0338B6BC081E}"/>
              </a:ext>
            </a:extLst>
          </p:cNvPr>
          <p:cNvSpPr/>
          <p:nvPr/>
        </p:nvSpPr>
        <p:spPr>
          <a:xfrm>
            <a:off x="0" y="-12700"/>
            <a:ext cx="2782888" cy="6870700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5A008B-310B-5BD4-ECD5-0988167FEEB8}"/>
              </a:ext>
            </a:extLst>
          </p:cNvPr>
          <p:cNvSpPr/>
          <p:nvPr/>
        </p:nvSpPr>
        <p:spPr>
          <a:xfrm>
            <a:off x="12072938" y="0"/>
            <a:ext cx="119063" cy="6858000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文本框 12">
            <a:extLst>
              <a:ext uri="{FF2B5EF4-FFF2-40B4-BE49-F238E27FC236}">
                <a16:creationId xmlns:a16="http://schemas.microsoft.com/office/drawing/2014/main" id="{562EDC7A-BEEB-14CE-696D-1B9F32A5B028}"/>
              </a:ext>
            </a:extLst>
          </p:cNvPr>
          <p:cNvSpPr txBox="1"/>
          <p:nvPr/>
        </p:nvSpPr>
        <p:spPr>
          <a:xfrm>
            <a:off x="471488" y="981075"/>
            <a:ext cx="6121400" cy="4508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9324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3E2BFE7-4344-5B06-C891-3293C6F76312}"/>
              </a:ext>
            </a:extLst>
          </p:cNvPr>
          <p:cNvSpPr txBox="1"/>
          <p:nvPr/>
        </p:nvSpPr>
        <p:spPr>
          <a:xfrm>
            <a:off x="431223" y="229679"/>
            <a:ext cx="1161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accent6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E599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产品介绍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CE064C-82E9-CF29-F645-A2E276BE0472}"/>
              </a:ext>
            </a:extLst>
          </p:cNvPr>
          <p:cNvSpPr>
            <a:spLocks/>
          </p:cNvSpPr>
          <p:nvPr/>
        </p:nvSpPr>
        <p:spPr>
          <a:xfrm rot="16200000">
            <a:off x="325714" y="1403129"/>
            <a:ext cx="5328595" cy="4771818"/>
          </a:xfrm>
          <a:prstGeom prst="rect">
            <a:avLst/>
          </a:prstGeom>
          <a:noFill/>
          <a:ln w="3175">
            <a:solidFill>
              <a:srgbClr val="1E59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CD48257A-3D5F-1867-90FC-0ED73682D205}"/>
              </a:ext>
            </a:extLst>
          </p:cNvPr>
          <p:cNvSpPr/>
          <p:nvPr/>
        </p:nvSpPr>
        <p:spPr>
          <a:xfrm rot="16200000" flipH="1">
            <a:off x="476729" y="1675243"/>
            <a:ext cx="78162" cy="171412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单圆角 8">
            <a:extLst>
              <a:ext uri="{FF2B5EF4-FFF2-40B4-BE49-F238E27FC236}">
                <a16:creationId xmlns:a16="http://schemas.microsoft.com/office/drawing/2014/main" id="{5AFD8682-2CD6-1BAD-65A2-F546D9771C9B}"/>
              </a:ext>
            </a:extLst>
          </p:cNvPr>
          <p:cNvSpPr>
            <a:spLocks/>
          </p:cNvSpPr>
          <p:nvPr/>
        </p:nvSpPr>
        <p:spPr>
          <a:xfrm>
            <a:off x="430101" y="1333462"/>
            <a:ext cx="1873352" cy="382822"/>
          </a:xfrm>
          <a:prstGeom prst="round1Rect">
            <a:avLst>
              <a:gd name="adj" fmla="val 50000"/>
            </a:avLst>
          </a:prstGeom>
          <a:solidFill>
            <a:srgbClr val="1E5996"/>
          </a:solidFill>
          <a:ln>
            <a:noFill/>
          </a:ln>
          <a:effectLst>
            <a:outerShdw blurRad="139700" dist="38100" dir="2700000" sx="103000" sy="103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C0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19EEC0-E66E-0870-B056-672A7B710FC3}"/>
              </a:ext>
            </a:extLst>
          </p:cNvPr>
          <p:cNvSpPr txBox="1"/>
          <p:nvPr/>
        </p:nvSpPr>
        <p:spPr>
          <a:xfrm>
            <a:off x="604099" y="1327609"/>
            <a:ext cx="1701940" cy="400110"/>
          </a:xfrm>
          <a:prstGeom prst="rect">
            <a:avLst/>
          </a:prstGeom>
          <a:solidFill>
            <a:srgbClr val="1E599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SK-Ⅱ</a:t>
            </a:r>
            <a:endParaRPr lang="zh-CN" altLang="en-US" sz="2000" dirty="0">
              <a:solidFill>
                <a:schemeClr val="bg1"/>
              </a:solidFill>
              <a:effectLst>
                <a:outerShdw blurRad="50800" dist="38100" dir="5400000" algn="t" rotWithShape="0">
                  <a:schemeClr val="accent6">
                    <a:lumMod val="50000"/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F49441-EFCA-115A-8E96-229BB27B2CF5}"/>
              </a:ext>
            </a:extLst>
          </p:cNvPr>
          <p:cNvSpPr/>
          <p:nvPr/>
        </p:nvSpPr>
        <p:spPr>
          <a:xfrm>
            <a:off x="855845" y="5994716"/>
            <a:ext cx="4275815" cy="348484"/>
          </a:xfrm>
          <a:prstGeom prst="rect">
            <a:avLst/>
          </a:prstGeom>
          <a:solidFill>
            <a:srgbClr val="1E5996"/>
          </a:solidFill>
          <a:ln w="127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87E0D3-AE8E-C83D-A051-2EC6E7F6C517}"/>
              </a:ext>
            </a:extLst>
          </p:cNvPr>
          <p:cNvSpPr txBox="1"/>
          <p:nvPr/>
        </p:nvSpPr>
        <p:spPr>
          <a:xfrm>
            <a:off x="1271464" y="5983286"/>
            <a:ext cx="3255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50800" dist="38100" dir="5400000" algn="t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产品模型图</a:t>
            </a:r>
          </a:p>
        </p:txBody>
      </p:sp>
      <p:pic>
        <p:nvPicPr>
          <p:cNvPr id="19" name="object 4">
            <a:extLst>
              <a:ext uri="{FF2B5EF4-FFF2-40B4-BE49-F238E27FC236}">
                <a16:creationId xmlns:a16="http://schemas.microsoft.com/office/drawing/2014/main" id="{EE4E8742-CD99-FE51-648F-76FAF4C5DB40}"/>
              </a:ext>
            </a:extLst>
          </p:cNvPr>
          <p:cNvPicPr/>
          <p:nvPr/>
        </p:nvPicPr>
        <p:blipFill>
          <a:blip r:embed="rId2" cstate="print"/>
          <a:srcRect l="16799" t="11000" r="14430" b="9814"/>
          <a:stretch>
            <a:fillRect/>
          </a:stretch>
        </p:blipFill>
        <p:spPr>
          <a:xfrm>
            <a:off x="855845" y="1872385"/>
            <a:ext cx="4275816" cy="393685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DF1CC9E-EFA5-47D6-851C-713A637547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894" b="-1"/>
          <a:stretch>
            <a:fillRect/>
          </a:stretch>
        </p:blipFill>
        <p:spPr>
          <a:xfrm>
            <a:off x="0" y="921102"/>
            <a:ext cx="12192000" cy="78163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2E43494-E85C-71CB-E09C-7460B54E4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221" y="1116666"/>
            <a:ext cx="6528626" cy="548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02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A23AF-ABA8-73E1-E3C4-22BA0E0F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竞品分析</a:t>
            </a:r>
          </a:p>
        </p:txBody>
      </p:sp>
    </p:spTree>
    <p:extLst>
      <p:ext uri="{BB962C8B-B14F-4D97-AF65-F5344CB8AC3E}">
        <p14:creationId xmlns:p14="http://schemas.microsoft.com/office/powerpoint/2010/main" val="3917608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80AF2-1592-FE35-0784-A356241A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85706-23DA-4E85-A97A-EF1122DCE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竞品分析</a:t>
            </a:r>
          </a:p>
        </p:txBody>
      </p:sp>
    </p:spTree>
    <p:extLst>
      <p:ext uri="{BB962C8B-B14F-4D97-AF65-F5344CB8AC3E}">
        <p14:creationId xmlns:p14="http://schemas.microsoft.com/office/powerpoint/2010/main" val="970173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EF1D312C-76E1-CDA6-320B-12A62FD50D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468" y="3502868"/>
            <a:ext cx="1845425" cy="261019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14D6D5B-868D-DBEF-89C8-3143574E839A}"/>
              </a:ext>
            </a:extLst>
          </p:cNvPr>
          <p:cNvSpPr txBox="1"/>
          <p:nvPr/>
        </p:nvSpPr>
        <p:spPr>
          <a:xfrm>
            <a:off x="267877" y="225514"/>
            <a:ext cx="1161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accent6"/>
                </a:solidFill>
                <a:latin typeface="+mj-ea"/>
                <a:ea typeface="+mj-ea"/>
              </a:defRPr>
            </a:lvl1pPr>
          </a:lstStyle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核心技术</a:t>
            </a:r>
            <a:r>
              <a:rPr lang="en-US" altLang="zh-CN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-1</a:t>
            </a:r>
            <a:r>
              <a:rPr lang="zh-CN" altLang="en-US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：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杀菌温度低，风味保留度好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01B8DC-B5D1-A96F-395A-86B15241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426"/>
            <a:ext cx="12192000" cy="1418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966E81D-AD84-A206-FC16-46A92F4516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356" y="3502868"/>
            <a:ext cx="1845425" cy="26101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4D88741-34B0-796A-379C-7144CCB2C7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23" y="3528058"/>
            <a:ext cx="1845425" cy="2610196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FF269254-854B-9001-1948-97690A9C3D9C}"/>
              </a:ext>
            </a:extLst>
          </p:cNvPr>
          <p:cNvSpPr/>
          <p:nvPr/>
        </p:nvSpPr>
        <p:spPr>
          <a:xfrm>
            <a:off x="308498" y="3356992"/>
            <a:ext cx="4612378" cy="2952328"/>
          </a:xfrm>
          <a:prstGeom prst="rect">
            <a:avLst/>
          </a:prstGeom>
          <a:noFill/>
          <a:ln w="28575">
            <a:solidFill>
              <a:srgbClr val="0D377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52BC38-5EEF-4D55-9F8C-FC3EA6CEB2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315" y="3230577"/>
            <a:ext cx="6901913" cy="338052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BCD19B4-E582-A5C0-3518-9864EBC6AB70}"/>
              </a:ext>
            </a:extLst>
          </p:cNvPr>
          <p:cNvSpPr txBox="1"/>
          <p:nvPr/>
        </p:nvSpPr>
        <p:spPr>
          <a:xfrm>
            <a:off x="3545781" y="1137552"/>
            <a:ext cx="8337720" cy="1987211"/>
          </a:xfrm>
          <a:prstGeom prst="rect">
            <a:avLst/>
          </a:prstGeom>
          <a:noFill/>
          <a:ln w="12700">
            <a:solidFill>
              <a:srgbClr val="1E5996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突破传统热杀菌限制，实现低温高效灭菌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超声杀菌技术通过物理能场作用，破坏微生物细胞结构，降低杀菌温度，实现高效杀菌。在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56℃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低温条件下达到良好杀菌效果，同时显著降低风味物质损失，提升产品品质，实现营养、香气及口感的有效保留。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BC25F2B-9F5E-38F9-B9E4-29CC30FB131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5" r="8136" b="3728"/>
          <a:stretch>
            <a:fillRect/>
          </a:stretch>
        </p:blipFill>
        <p:spPr>
          <a:xfrm>
            <a:off x="308498" y="1137552"/>
            <a:ext cx="3071787" cy="1987211"/>
          </a:xfrm>
          <a:prstGeom prst="rect">
            <a:avLst/>
          </a:prstGeom>
          <a:ln w="9525">
            <a:solidFill>
              <a:srgbClr val="1E5996"/>
            </a:solidFill>
          </a:ln>
        </p:spPr>
      </p:pic>
    </p:spTree>
    <p:extLst>
      <p:ext uri="{BB962C8B-B14F-4D97-AF65-F5344CB8AC3E}">
        <p14:creationId xmlns:p14="http://schemas.microsoft.com/office/powerpoint/2010/main" val="1098674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28DC-31FA-37C9-A0A6-C7B66327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19FE321-72CE-E1A4-D62C-880A14AADAEB}"/>
              </a:ext>
            </a:extLst>
          </p:cNvPr>
          <p:cNvSpPr txBox="1"/>
          <p:nvPr/>
        </p:nvSpPr>
        <p:spPr>
          <a:xfrm>
            <a:off x="431223" y="229679"/>
            <a:ext cx="1161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accent6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核心技术</a:t>
            </a:r>
            <a:r>
              <a:rPr lang="en-US" altLang="zh-CN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-2</a:t>
            </a:r>
            <a:r>
              <a:rPr lang="zh-CN" altLang="en-US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：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多级工艺整合实现节能降耗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A3577D-F17C-291C-AE3C-D8ED5C9FB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426"/>
            <a:ext cx="12192000" cy="141839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16B17E69-6004-75DA-70FB-1FCCB44036FF}"/>
              </a:ext>
            </a:extLst>
          </p:cNvPr>
          <p:cNvGrpSpPr/>
          <p:nvPr/>
        </p:nvGrpSpPr>
        <p:grpSpPr>
          <a:xfrm>
            <a:off x="537349" y="4609983"/>
            <a:ext cx="2255489" cy="1805940"/>
            <a:chOff x="1701" y="6842"/>
            <a:chExt cx="3788" cy="2844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A13A419D-6C0A-55CA-EEE4-E8B305F9EF0C}"/>
                </a:ext>
              </a:extLst>
            </p:cNvPr>
            <p:cNvGrpSpPr/>
            <p:nvPr/>
          </p:nvGrpSpPr>
          <p:grpSpPr>
            <a:xfrm>
              <a:off x="1882" y="6842"/>
              <a:ext cx="3506" cy="2178"/>
              <a:chOff x="4332" y="7152"/>
              <a:chExt cx="4796" cy="2853"/>
            </a:xfrm>
          </p:grpSpPr>
          <p:pic>
            <p:nvPicPr>
              <p:cNvPr id="39" name="http://photo-static-api.fotomore.com/creative/vcg/400/new/VCG211333301167.jpg?uid=386&amp;timestamp=1726036479&amp;sign=99449d4e949b3bbdcc1f076f873706c3" descr="templates\picture_hover\&amp;pky290_sjzg_VCG211333301167&amp;">
                <a:extLst>
                  <a:ext uri="{FF2B5EF4-FFF2-40B4-BE49-F238E27FC236}">
                    <a16:creationId xmlns:a16="http://schemas.microsoft.com/office/drawing/2014/main" id="{40A45656-4551-B6FC-2B5F-BDABBF52F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10" y="7343"/>
                <a:ext cx="3618" cy="2336"/>
              </a:xfrm>
              <a:prstGeom prst="rect">
                <a:avLst/>
              </a:prstGeom>
            </p:spPr>
          </p:pic>
          <p:pic>
            <p:nvPicPr>
              <p:cNvPr id="40" name="http://photo-static-api.fotomore.com/creative/vcg/veer/400/new/VCG41N163232006.jpg?uid=386&amp;timestamp=1726036675&amp;sign=26eb101267938ea65a140fd04b7953e0" descr="templates\picture_hover\&amp;pky260_sjzg_VCG41N163232006&amp;">
                <a:extLst>
                  <a:ext uri="{FF2B5EF4-FFF2-40B4-BE49-F238E27FC236}">
                    <a16:creationId xmlns:a16="http://schemas.microsoft.com/office/drawing/2014/main" id="{06545486-9687-5D15-03B0-26DA226E68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659" t="5990" r="34891"/>
              <a:stretch>
                <a:fillRect/>
              </a:stretch>
            </p:blipFill>
            <p:spPr>
              <a:xfrm rot="10800000">
                <a:off x="4332" y="7152"/>
                <a:ext cx="533" cy="2853"/>
              </a:xfrm>
              <a:prstGeom prst="rect">
                <a:avLst/>
              </a:prstGeom>
            </p:spPr>
          </p:pic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59E4E82-232E-E238-83DA-6CDC0120EF8B}"/>
                </a:ext>
              </a:extLst>
            </p:cNvPr>
            <p:cNvSpPr txBox="1"/>
            <p:nvPr/>
          </p:nvSpPr>
          <p:spPr>
            <a:xfrm>
              <a:off x="1701" y="9058"/>
              <a:ext cx="3788" cy="628"/>
            </a:xfrm>
            <a:prstGeom prst="rect">
              <a:avLst/>
            </a:prstGeom>
            <a:solidFill>
              <a:srgbClr val="1E599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超声杀菌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系统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F923199-9978-9467-28DD-B844D3627F71}"/>
              </a:ext>
            </a:extLst>
          </p:cNvPr>
          <p:cNvGrpSpPr/>
          <p:nvPr/>
        </p:nvGrpSpPr>
        <p:grpSpPr>
          <a:xfrm>
            <a:off x="596743" y="2631256"/>
            <a:ext cx="10686185" cy="3916812"/>
            <a:chOff x="1744" y="4226"/>
            <a:chExt cx="16829" cy="6168"/>
          </a:xfrm>
          <a:solidFill>
            <a:srgbClr val="1E5996"/>
          </a:solidFill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361F1B7-9DDE-9B03-B182-DD53D1DA4AAB}"/>
                </a:ext>
              </a:extLst>
            </p:cNvPr>
            <p:cNvSpPr txBox="1"/>
            <p:nvPr/>
          </p:nvSpPr>
          <p:spPr>
            <a:xfrm>
              <a:off x="1744" y="6467"/>
              <a:ext cx="3512" cy="6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工业级萃取泵</a:t>
              </a: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508CE67-9618-D265-E49F-977458DD2F7C}"/>
                </a:ext>
              </a:extLst>
            </p:cNvPr>
            <p:cNvGrpSpPr/>
            <p:nvPr/>
          </p:nvGrpSpPr>
          <p:grpSpPr>
            <a:xfrm>
              <a:off x="14466" y="4226"/>
              <a:ext cx="4107" cy="2850"/>
              <a:chOff x="13646" y="4206"/>
              <a:chExt cx="4107" cy="2850"/>
            </a:xfrm>
            <a:grpFill/>
          </p:grpSpPr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1E77AE4-381A-41BB-60F8-E134CD24D209}"/>
                  </a:ext>
                </a:extLst>
              </p:cNvPr>
              <p:cNvSpPr txBox="1"/>
              <p:nvPr/>
            </p:nvSpPr>
            <p:spPr>
              <a:xfrm>
                <a:off x="13647" y="6428"/>
                <a:ext cx="4106" cy="628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温度、流量传感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系统</a:t>
                </a:r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FB809C1F-880F-BF9E-4C79-ED2EECF2E31A}"/>
                  </a:ext>
                </a:extLst>
              </p:cNvPr>
              <p:cNvGrpSpPr/>
              <p:nvPr/>
            </p:nvGrpSpPr>
            <p:grpSpPr>
              <a:xfrm>
                <a:off x="13646" y="4206"/>
                <a:ext cx="4106" cy="2040"/>
                <a:chOff x="12836" y="4200"/>
                <a:chExt cx="5028" cy="2264"/>
              </a:xfrm>
              <a:grpFill/>
            </p:grpSpPr>
            <p:pic>
              <p:nvPicPr>
                <p:cNvPr id="58" name="图片 57" descr="钟表的特写&#10;&#10;描述已自动生成">
                  <a:extLst>
                    <a:ext uri="{FF2B5EF4-FFF2-40B4-BE49-F238E27FC236}">
                      <a16:creationId xmlns:a16="http://schemas.microsoft.com/office/drawing/2014/main" id="{0D3DCF4D-A793-0E45-7AF1-D2C22FBE41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 cstate="screen"/>
                <a:srcRect b="10254"/>
                <a:stretch>
                  <a:fillRect/>
                </a:stretch>
              </p:blipFill>
              <p:spPr>
                <a:xfrm>
                  <a:off x="15095" y="4200"/>
                  <a:ext cx="2769" cy="2253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</p:pic>
            <p:pic>
              <p:nvPicPr>
                <p:cNvPr id="59" name="图片 58" descr="图片包含 物体, 游戏机, 桌子, 站&#10;&#10;描述已自动生成">
                  <a:extLst>
                    <a:ext uri="{FF2B5EF4-FFF2-40B4-BE49-F238E27FC236}">
                      <a16:creationId xmlns:a16="http://schemas.microsoft.com/office/drawing/2014/main" id="{153ED1C0-BFBE-D50C-BF42-C478EECC28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 cstate="email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20000" contrast="20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/>
                </a:stretch>
              </p:blipFill>
              <p:spPr>
                <a:xfrm rot="10800000">
                  <a:off x="12836" y="4200"/>
                  <a:ext cx="2377" cy="2264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</p:pic>
          </p:grp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3888DC1A-A38E-B875-964E-6DB4375BCE02}"/>
                </a:ext>
              </a:extLst>
            </p:cNvPr>
            <p:cNvGrpSpPr/>
            <p:nvPr/>
          </p:nvGrpSpPr>
          <p:grpSpPr>
            <a:xfrm>
              <a:off x="13998" y="7342"/>
              <a:ext cx="4575" cy="2865"/>
              <a:chOff x="13573" y="7036"/>
              <a:chExt cx="4575" cy="2865"/>
            </a:xfrm>
            <a:grpFill/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CF1172B-4FEE-8D6A-92E2-959818262E87}"/>
                  </a:ext>
                </a:extLst>
              </p:cNvPr>
              <p:cNvGrpSpPr/>
              <p:nvPr/>
            </p:nvGrpSpPr>
            <p:grpSpPr>
              <a:xfrm>
                <a:off x="13573" y="7036"/>
                <a:ext cx="4575" cy="2187"/>
                <a:chOff x="13023" y="6472"/>
                <a:chExt cx="6655" cy="2743"/>
              </a:xfrm>
              <a:grpFill/>
            </p:grpSpPr>
            <p:pic>
              <p:nvPicPr>
                <p:cNvPr id="54" name="图片 53">
                  <a:extLst>
                    <a:ext uri="{FF2B5EF4-FFF2-40B4-BE49-F238E27FC236}">
                      <a16:creationId xmlns:a16="http://schemas.microsoft.com/office/drawing/2014/main" id="{20DCD9B5-84B8-1779-3CF8-A52F87C588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rcRect l="4703" t="7597" r="13732" b="47667"/>
                <a:stretch>
                  <a:fillRect/>
                </a:stretch>
              </p:blipFill>
              <p:spPr>
                <a:xfrm>
                  <a:off x="13023" y="6493"/>
                  <a:ext cx="3717" cy="2722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5" name="图片 54">
                  <a:extLst>
                    <a:ext uri="{FF2B5EF4-FFF2-40B4-BE49-F238E27FC236}">
                      <a16:creationId xmlns:a16="http://schemas.microsoft.com/office/drawing/2014/main" id="{F2A967C9-4FD2-2F57-9B60-9A0E7B36BC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10504" t="28569" r="12610" b="12689"/>
                <a:stretch>
                  <a:fillRect/>
                </a:stretch>
              </p:blipFill>
              <p:spPr>
                <a:xfrm>
                  <a:off x="16809" y="6472"/>
                  <a:ext cx="2869" cy="2721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3898D8E-412F-62F2-F405-1BD8A52D8082}"/>
                  </a:ext>
                </a:extLst>
              </p:cNvPr>
              <p:cNvSpPr txBox="1"/>
              <p:nvPr/>
            </p:nvSpPr>
            <p:spPr>
              <a:xfrm>
                <a:off x="13573" y="9273"/>
                <a:ext cx="4575" cy="628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PLC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管控系统</a:t>
                </a:r>
              </a:p>
            </p:txBody>
          </p:sp>
        </p:grpSp>
        <p:sp>
          <p:nvSpPr>
            <p:cNvPr id="47" name="上弧形箭头 45">
              <a:extLst>
                <a:ext uri="{FF2B5EF4-FFF2-40B4-BE49-F238E27FC236}">
                  <a16:creationId xmlns:a16="http://schemas.microsoft.com/office/drawing/2014/main" id="{BC8E9AC4-63B4-5851-C056-609B17ED27E0}"/>
                </a:ext>
              </a:extLst>
            </p:cNvPr>
            <p:cNvSpPr/>
            <p:nvPr/>
          </p:nvSpPr>
          <p:spPr>
            <a:xfrm rot="21240000">
              <a:off x="5310" y="4473"/>
              <a:ext cx="1823" cy="639"/>
            </a:xfrm>
            <a:prstGeom prst="curvedDown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上弧形箭头 46">
              <a:extLst>
                <a:ext uri="{FF2B5EF4-FFF2-40B4-BE49-F238E27FC236}">
                  <a16:creationId xmlns:a16="http://schemas.microsoft.com/office/drawing/2014/main" id="{AA1EE4AD-8B5F-EB7B-E8DD-61D2E72BC58A}"/>
                </a:ext>
              </a:extLst>
            </p:cNvPr>
            <p:cNvSpPr/>
            <p:nvPr/>
          </p:nvSpPr>
          <p:spPr>
            <a:xfrm rot="21060000" flipH="1">
              <a:off x="12776" y="4401"/>
              <a:ext cx="1590" cy="639"/>
            </a:xfrm>
            <a:prstGeom prst="curvedDown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上弧形箭头 47">
              <a:extLst>
                <a:ext uri="{FF2B5EF4-FFF2-40B4-BE49-F238E27FC236}">
                  <a16:creationId xmlns:a16="http://schemas.microsoft.com/office/drawing/2014/main" id="{D7B472AE-F81A-A5D3-B0B9-60AB89EE9B6F}"/>
                </a:ext>
              </a:extLst>
            </p:cNvPr>
            <p:cNvSpPr/>
            <p:nvPr/>
          </p:nvSpPr>
          <p:spPr>
            <a:xfrm rot="10370894" flipH="1">
              <a:off x="5394" y="8773"/>
              <a:ext cx="1962" cy="741"/>
            </a:xfrm>
            <a:prstGeom prst="curvedDown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上弧形箭头 48">
              <a:extLst>
                <a:ext uri="{FF2B5EF4-FFF2-40B4-BE49-F238E27FC236}">
                  <a16:creationId xmlns:a16="http://schemas.microsoft.com/office/drawing/2014/main" id="{0EC3A52E-4CDE-E04D-3247-A4AFAFC71921}"/>
                </a:ext>
              </a:extLst>
            </p:cNvPr>
            <p:cNvSpPr/>
            <p:nvPr/>
          </p:nvSpPr>
          <p:spPr>
            <a:xfrm rot="540000" flipH="1" flipV="1">
              <a:off x="11981" y="9116"/>
              <a:ext cx="1936" cy="700"/>
            </a:xfrm>
            <a:prstGeom prst="curvedDown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008F330-6F0E-1F72-93A2-FE77DD229A4F}"/>
                </a:ext>
              </a:extLst>
            </p:cNvPr>
            <p:cNvSpPr txBox="1"/>
            <p:nvPr/>
          </p:nvSpPr>
          <p:spPr>
            <a:xfrm>
              <a:off x="7507" y="9766"/>
              <a:ext cx="492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技术集成</a:t>
              </a: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2C4FBC48-D4C6-1054-F1EB-0563FAA10C57}"/>
              </a:ext>
            </a:extLst>
          </p:cNvPr>
          <p:cNvSpPr txBox="1"/>
          <p:nvPr/>
        </p:nvSpPr>
        <p:spPr>
          <a:xfrm>
            <a:off x="335361" y="1064748"/>
            <a:ext cx="11276788" cy="961289"/>
          </a:xfrm>
          <a:prstGeom prst="rect">
            <a:avLst/>
          </a:prstGeom>
          <a:noFill/>
          <a:ln>
            <a:solidFill>
              <a:srgbClr val="1E5996"/>
            </a:solidFill>
          </a:ln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工艺协同：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高效萃取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低温超声杀菌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，实现低温高效处理，大幅降低传统热杀菌与萃取的高能耗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智能匹配：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传感闭环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+PLC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精准调控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，实现按需供能与动态匹配，综合降低运行能耗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20%~30%</a:t>
            </a:r>
            <a:endParaRPr 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7" name="object 4">
            <a:extLst>
              <a:ext uri="{FF2B5EF4-FFF2-40B4-BE49-F238E27FC236}">
                <a16:creationId xmlns:a16="http://schemas.microsoft.com/office/drawing/2014/main" id="{0CEE0B09-E6D5-F53B-AA28-7402A21B3C88}"/>
              </a:ext>
            </a:extLst>
          </p:cNvPr>
          <p:cNvPicPr/>
          <p:nvPr/>
        </p:nvPicPr>
        <p:blipFill rotWithShape="1">
          <a:blip r:embed="rId10" cstate="print"/>
          <a:srcRect l="14294" t="16471" r="12660" b="14274"/>
          <a:stretch>
            <a:fillRect/>
          </a:stretch>
        </p:blipFill>
        <p:spPr>
          <a:xfrm>
            <a:off x="3431704" y="2482765"/>
            <a:ext cx="4600235" cy="3517809"/>
          </a:xfrm>
          <a:prstGeom prst="ellipse">
            <a:avLst/>
          </a:prstGeom>
        </p:spPr>
      </p:pic>
      <p:pic>
        <p:nvPicPr>
          <p:cNvPr id="4" name="object 22">
            <a:extLst>
              <a:ext uri="{FF2B5EF4-FFF2-40B4-BE49-F238E27FC236}">
                <a16:creationId xmlns:a16="http://schemas.microsoft.com/office/drawing/2014/main" id="{956F4246-55F3-0C60-8506-8694A7DEA462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1797" y="2395861"/>
            <a:ext cx="2301564" cy="163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11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E8CC-52F6-F1A4-1840-76929FE1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1CDB822-8653-70F2-2E5D-A6B56E4915A5}"/>
              </a:ext>
            </a:extLst>
          </p:cNvPr>
          <p:cNvSpPr txBox="1"/>
          <p:nvPr/>
        </p:nvSpPr>
        <p:spPr>
          <a:xfrm>
            <a:off x="431223" y="229679"/>
            <a:ext cx="1161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chemeClr val="accent6"/>
                </a:solidFill>
                <a:latin typeface="+mj-ea"/>
                <a:ea typeface="+mj-ea"/>
              </a:defRPr>
            </a:lvl1pPr>
          </a:lstStyle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核心技术</a:t>
            </a:r>
            <a:r>
              <a:rPr lang="en-US" altLang="zh-CN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-3</a:t>
            </a:r>
            <a:r>
              <a:rPr lang="zh-CN" altLang="en-US" b="1" dirty="0">
                <a:solidFill>
                  <a:srgbClr val="1E59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：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萃取与超声杀菌一体化装备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Arial Unicode MS" panose="020B0604020202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DE2D07-2D7F-7688-564D-588EB8ED2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426"/>
            <a:ext cx="12192000" cy="14183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DAF7B56-AD51-87D3-4E0E-44325FF95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00"/>
          <a:stretch>
            <a:fillRect/>
          </a:stretch>
        </p:blipFill>
        <p:spPr>
          <a:xfrm>
            <a:off x="623392" y="2192600"/>
            <a:ext cx="10369152" cy="44116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E663673-87FC-7030-3448-FF3604EB56D0}"/>
              </a:ext>
            </a:extLst>
          </p:cNvPr>
          <p:cNvSpPr txBox="1"/>
          <p:nvPr/>
        </p:nvSpPr>
        <p:spPr>
          <a:xfrm>
            <a:off x="431223" y="1064748"/>
            <a:ext cx="11180925" cy="961289"/>
          </a:xfrm>
          <a:prstGeom prst="rect">
            <a:avLst/>
          </a:prstGeom>
          <a:noFill/>
          <a:ln>
            <a:solidFill>
              <a:srgbClr val="1E5996"/>
            </a:solidFill>
          </a:ln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本装备将萃取混合与超声空化灭菌两大核心技术集于一体，采用全封闭管道化连续作业模式，实现物料萃取与杀菌工艺的连续化闭环运行，在有效保留物料原有品质的同时大幅降低系统综合能耗。</a:t>
            </a: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013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527A0-73EB-6A4F-E816-F914BC5F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>
            <a:extLst>
              <a:ext uri="{FF2B5EF4-FFF2-40B4-BE49-F238E27FC236}">
                <a16:creationId xmlns:a16="http://schemas.microsoft.com/office/drawing/2014/main" id="{AF730635-971F-B3AA-2433-5210741766BA}"/>
              </a:ext>
            </a:extLst>
          </p:cNvPr>
          <p:cNvSpPr/>
          <p:nvPr/>
        </p:nvSpPr>
        <p:spPr>
          <a:xfrm>
            <a:off x="0" y="0"/>
            <a:ext cx="6430963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1" name="文本框 3">
            <a:extLst>
              <a:ext uri="{FF2B5EF4-FFF2-40B4-BE49-F238E27FC236}">
                <a16:creationId xmlns:a16="http://schemas.microsoft.com/office/drawing/2014/main" id="{199A2DD0-0DC5-453D-03F0-A2CBC2F15A6C}"/>
              </a:ext>
            </a:extLst>
          </p:cNvPr>
          <p:cNvSpPr txBox="1"/>
          <p:nvPr/>
        </p:nvSpPr>
        <p:spPr>
          <a:xfrm>
            <a:off x="7178675" y="1628775"/>
            <a:ext cx="2784475" cy="304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6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团队成员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F00A3A-6FE3-E2A4-5118-DDD6A65A327D}"/>
              </a:ext>
            </a:extLst>
          </p:cNvPr>
          <p:cNvSpPr/>
          <p:nvPr/>
        </p:nvSpPr>
        <p:spPr>
          <a:xfrm>
            <a:off x="0" y="-12700"/>
            <a:ext cx="2782888" cy="6870700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25260E-4489-DBB3-49DB-2E95270DEF45}"/>
              </a:ext>
            </a:extLst>
          </p:cNvPr>
          <p:cNvSpPr/>
          <p:nvPr/>
        </p:nvSpPr>
        <p:spPr>
          <a:xfrm>
            <a:off x="12072938" y="0"/>
            <a:ext cx="119063" cy="6858000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文本框 12">
            <a:extLst>
              <a:ext uri="{FF2B5EF4-FFF2-40B4-BE49-F238E27FC236}">
                <a16:creationId xmlns:a16="http://schemas.microsoft.com/office/drawing/2014/main" id="{8D71AA27-267F-E729-BC10-F4F10011D12D}"/>
              </a:ext>
            </a:extLst>
          </p:cNvPr>
          <p:cNvSpPr txBox="1"/>
          <p:nvPr/>
        </p:nvSpPr>
        <p:spPr>
          <a:xfrm>
            <a:off x="471488" y="981075"/>
            <a:ext cx="6121400" cy="4508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3162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9E7A5-82B8-ADFD-0B5D-F1A20872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文本框 5">
            <a:extLst>
              <a:ext uri="{FF2B5EF4-FFF2-40B4-BE49-F238E27FC236}">
                <a16:creationId xmlns:a16="http://schemas.microsoft.com/office/drawing/2014/main" id="{F86BB7F1-81A0-576B-0508-CD114E0F504B}"/>
              </a:ext>
            </a:extLst>
          </p:cNvPr>
          <p:cNvSpPr txBox="1"/>
          <p:nvPr/>
        </p:nvSpPr>
        <p:spPr>
          <a:xfrm>
            <a:off x="263525" y="188913"/>
            <a:ext cx="36004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7F7F7F"/>
                </a:solidFill>
                <a:ea typeface="等线" panose="02010600030101010101" pitchFamily="2" charset="-122"/>
              </a:rPr>
              <a:t>团队成员</a:t>
            </a:r>
          </a:p>
        </p:txBody>
      </p:sp>
      <p:sp>
        <p:nvSpPr>
          <p:cNvPr id="26630" name="TextBox 20">
            <a:extLst>
              <a:ext uri="{FF2B5EF4-FFF2-40B4-BE49-F238E27FC236}">
                <a16:creationId xmlns:a16="http://schemas.microsoft.com/office/drawing/2014/main" id="{485FCE1F-9B31-7EDA-28A9-BAC2D61F27A2}"/>
              </a:ext>
            </a:extLst>
          </p:cNvPr>
          <p:cNvSpPr txBox="1"/>
          <p:nvPr/>
        </p:nvSpPr>
        <p:spPr>
          <a:xfrm>
            <a:off x="1520183" y="856438"/>
            <a:ext cx="2532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defRPr/>
            </a:pPr>
            <a:r>
              <a:rPr lang="zh-CN" altLang="en-US" sz="2400" b="1" spc="15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rPr>
              <a:t>苏杭 </a:t>
            </a:r>
            <a:r>
              <a:rPr lang="zh-CN" altLang="en-US" sz="1600" b="1" spc="150" dirty="0">
                <a:solidFill>
                  <a:srgbClr val="FFC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项目负责人</a:t>
            </a:r>
          </a:p>
          <a:p>
            <a:pPr marL="0" marR="0" lvl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normalizeH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26632" name="文本框 26631">
            <a:extLst>
              <a:ext uri="{FF2B5EF4-FFF2-40B4-BE49-F238E27FC236}">
                <a16:creationId xmlns:a16="http://schemas.microsoft.com/office/drawing/2014/main" id="{0F3A8B16-B4A2-B385-6B3E-ACC5CDC8D163}"/>
              </a:ext>
            </a:extLst>
          </p:cNvPr>
          <p:cNvSpPr txBox="1"/>
          <p:nvPr/>
        </p:nvSpPr>
        <p:spPr>
          <a:xfrm>
            <a:off x="1634079" y="1317607"/>
            <a:ext cx="2860749" cy="13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3765" fontAlgn="auto">
              <a:lnSpc>
                <a:spcPct val="110000"/>
              </a:lnSpc>
              <a:defRPr/>
            </a:pPr>
            <a:r>
              <a:rPr lang="zh-CN" altLang="en-US" sz="1600" b="1" spc="150" dirty="0">
                <a:latin typeface="黑体" panose="02010609060101010101" charset="-122"/>
                <a:ea typeface="黑体" panose="02010609060101010101" charset="-122"/>
              </a:rPr>
              <a:t>机械工程专业研究生</a:t>
            </a:r>
            <a:endParaRPr lang="en-US" altLang="zh-CN" sz="1600" b="1" spc="150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12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获第十七届“挑战杯”天津科技大学大学生课外学术科技作品竞赛市赛一等奖；获天津市知识产权创新创业发明与设计大赛“超声联合杀菌装置”校赛一等奖</a:t>
            </a:r>
            <a:endParaRPr lang="en-US" altLang="zh-CN" sz="1400" spc="150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6" name="图片 5" descr="C:\Users\SASHA\Desktop\微信图片_20200903141218.png微信图片_20200903141218">
            <a:extLst>
              <a:ext uri="{FF2B5EF4-FFF2-40B4-BE49-F238E27FC236}">
                <a16:creationId xmlns:a16="http://schemas.microsoft.com/office/drawing/2014/main" id="{B00142AC-D466-7B4F-E358-AF988C042C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5" r="171" b="-1580"/>
          <a:stretch>
            <a:fillRect/>
          </a:stretch>
        </p:blipFill>
        <p:spPr>
          <a:xfrm>
            <a:off x="287514" y="856438"/>
            <a:ext cx="1244009" cy="1870522"/>
          </a:xfrm>
          <a:custGeom>
            <a:avLst/>
            <a:gdLst>
              <a:gd name="csX0" fmla="*/ 609368 w 1244009"/>
              <a:gd name="csY0" fmla="*/ 0 h 1870522"/>
              <a:gd name="csX1" fmla="*/ 1244009 w 1244009"/>
              <a:gd name="csY1" fmla="*/ 935261 h 1870522"/>
              <a:gd name="csX2" fmla="*/ 609368 w 1244009"/>
              <a:gd name="csY2" fmla="*/ 1870522 h 1870522"/>
              <a:gd name="csX3" fmla="*/ 24600 w 1244009"/>
              <a:gd name="csY3" fmla="*/ 1299307 h 1870522"/>
              <a:gd name="csX4" fmla="*/ 0 w 1244009"/>
              <a:gd name="csY4" fmla="*/ 1182519 h 1870522"/>
              <a:gd name="csX5" fmla="*/ 0 w 1244009"/>
              <a:gd name="csY5" fmla="*/ 688003 h 1870522"/>
              <a:gd name="csX6" fmla="*/ 24600 w 1244009"/>
              <a:gd name="csY6" fmla="*/ 571215 h 1870522"/>
              <a:gd name="csX7" fmla="*/ 609368 w 1244009"/>
              <a:gd name="csY7" fmla="*/ 0 h 18705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44009" h="1870522">
                <a:moveTo>
                  <a:pt x="609368" y="0"/>
                </a:moveTo>
                <a:cubicBezTo>
                  <a:pt x="959871" y="0"/>
                  <a:pt x="1244009" y="418731"/>
                  <a:pt x="1244009" y="935261"/>
                </a:cubicBezTo>
                <a:cubicBezTo>
                  <a:pt x="1244009" y="1451791"/>
                  <a:pt x="959871" y="1870522"/>
                  <a:pt x="609368" y="1870522"/>
                </a:cubicBezTo>
                <a:cubicBezTo>
                  <a:pt x="346491" y="1870522"/>
                  <a:pt x="120944" y="1634986"/>
                  <a:pt x="24600" y="1299307"/>
                </a:cubicBezTo>
                <a:lnTo>
                  <a:pt x="0" y="1182519"/>
                </a:lnTo>
                <a:lnTo>
                  <a:pt x="0" y="688003"/>
                </a:lnTo>
                <a:lnTo>
                  <a:pt x="24600" y="571215"/>
                </a:lnTo>
                <a:cubicBezTo>
                  <a:pt x="120944" y="235536"/>
                  <a:pt x="346491" y="0"/>
                  <a:pt x="609368" y="0"/>
                </a:cubicBezTo>
                <a:close/>
              </a:path>
            </a:pathLst>
          </a:cu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14CC2F-A8C4-3718-AA98-CB0A59BF64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67" b="14892"/>
          <a:stretch>
            <a:fillRect/>
          </a:stretch>
        </p:blipFill>
        <p:spPr>
          <a:xfrm>
            <a:off x="8454341" y="998713"/>
            <a:ext cx="1360631" cy="169959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D63466-BBFA-6BE4-AC69-EC61683462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46" b="10010"/>
          <a:stretch>
            <a:fillRect/>
          </a:stretch>
        </p:blipFill>
        <p:spPr>
          <a:xfrm>
            <a:off x="4597384" y="1041254"/>
            <a:ext cx="1376767" cy="1685706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20">
            <a:extLst>
              <a:ext uri="{FF2B5EF4-FFF2-40B4-BE49-F238E27FC236}">
                <a16:creationId xmlns:a16="http://schemas.microsoft.com/office/drawing/2014/main" id="{AE2CC89B-3A02-5C03-ACC1-0688A9BDFCA5}"/>
              </a:ext>
            </a:extLst>
          </p:cNvPr>
          <p:cNvSpPr txBox="1"/>
          <p:nvPr/>
        </p:nvSpPr>
        <p:spPr>
          <a:xfrm>
            <a:off x="5760481" y="1014363"/>
            <a:ext cx="1549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Calibri" panose="020F0502020204030204" charset="0"/>
              </a:rPr>
              <a:t>袁祎晨</a:t>
            </a: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351A7E77-B62D-B14A-8139-AF0B5FE040AE}"/>
              </a:ext>
            </a:extLst>
          </p:cNvPr>
          <p:cNvSpPr txBox="1"/>
          <p:nvPr/>
        </p:nvSpPr>
        <p:spPr>
          <a:xfrm>
            <a:off x="9640892" y="953816"/>
            <a:ext cx="144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Calibri" panose="020F0502020204030204" charset="0"/>
              </a:rPr>
              <a:t>雷国豪</a:t>
            </a:r>
            <a:endParaRPr kumimoji="0" lang="zh-CN" altLang="en-US" b="1" i="0" u="none" strike="noStrike" kern="1200" cap="none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03938D4B-CA89-BD50-F16D-2D48C340EA63}"/>
              </a:ext>
            </a:extLst>
          </p:cNvPr>
          <p:cNvSpPr txBox="1"/>
          <p:nvPr/>
        </p:nvSpPr>
        <p:spPr>
          <a:xfrm>
            <a:off x="5789564" y="1506994"/>
            <a:ext cx="2738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defRPr/>
            </a:pPr>
            <a:r>
              <a:rPr lang="zh-CN" altLang="en-US" sz="16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能源动力专业研究生</a:t>
            </a:r>
            <a:endParaRPr lang="zh-CN" altLang="en-US" sz="1600" spc="15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CEE75AEB-9CA6-3397-11E1-232B2D0F9359}"/>
              </a:ext>
            </a:extLst>
          </p:cNvPr>
          <p:cNvSpPr txBox="1"/>
          <p:nvPr/>
        </p:nvSpPr>
        <p:spPr>
          <a:xfrm>
            <a:off x="9638814" y="1492779"/>
            <a:ext cx="2738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defRPr/>
            </a:pPr>
            <a:r>
              <a:rPr lang="zh-CN" altLang="en-US" sz="16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机械工程专业研究生</a:t>
            </a:r>
            <a:endParaRPr lang="zh-CN" altLang="en-US" sz="1600" spc="15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C9AAF10-23C3-174F-20D3-D26147881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369" y="3789040"/>
            <a:ext cx="1360631" cy="1814175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9278846-03CB-4143-1EE1-33054209C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281" y="3831308"/>
            <a:ext cx="1336781" cy="1771907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sp>
        <p:nvSpPr>
          <p:cNvPr id="25" name="TextBox 20">
            <a:extLst>
              <a:ext uri="{FF2B5EF4-FFF2-40B4-BE49-F238E27FC236}">
                <a16:creationId xmlns:a16="http://schemas.microsoft.com/office/drawing/2014/main" id="{C691A8F4-060B-FE78-BD48-5B0D57235A9B}"/>
              </a:ext>
            </a:extLst>
          </p:cNvPr>
          <p:cNvSpPr txBox="1"/>
          <p:nvPr/>
        </p:nvSpPr>
        <p:spPr>
          <a:xfrm>
            <a:off x="5943471" y="3869176"/>
            <a:ext cx="1549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Calibri" panose="020F0502020204030204" charset="0"/>
              </a:rPr>
              <a:t>张善槟</a:t>
            </a:r>
            <a:endParaRPr kumimoji="0" lang="zh-CN" altLang="en-US" b="1" i="0" u="none" strike="noStrike" kern="1200" cap="none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8D38763C-FB00-07D8-B379-E8D87CA76FA8}"/>
              </a:ext>
            </a:extLst>
          </p:cNvPr>
          <p:cNvSpPr txBox="1"/>
          <p:nvPr/>
        </p:nvSpPr>
        <p:spPr>
          <a:xfrm>
            <a:off x="9543847" y="3775796"/>
            <a:ext cx="1549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Calibri" panose="020F0502020204030204" charset="0"/>
              </a:rPr>
              <a:t>马建斌</a:t>
            </a:r>
            <a:endParaRPr kumimoji="0" lang="zh-CN" altLang="en-US" b="1" i="0" u="none" strike="noStrike" kern="1200" cap="none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F53B79FD-74F1-C696-AE49-E52CFACA932B}"/>
              </a:ext>
            </a:extLst>
          </p:cNvPr>
          <p:cNvSpPr txBox="1"/>
          <p:nvPr/>
        </p:nvSpPr>
        <p:spPr>
          <a:xfrm>
            <a:off x="5974655" y="4286482"/>
            <a:ext cx="2738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defRPr/>
            </a:pPr>
            <a:r>
              <a:rPr lang="zh-CN" altLang="en-US" sz="16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能源动力专业研究生</a:t>
            </a:r>
            <a:endParaRPr lang="zh-CN" altLang="en-US" sz="1600" spc="15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624" name="TextBox 21">
            <a:extLst>
              <a:ext uri="{FF2B5EF4-FFF2-40B4-BE49-F238E27FC236}">
                <a16:creationId xmlns:a16="http://schemas.microsoft.com/office/drawing/2014/main" id="{09E5787E-0852-AD97-9DE8-A573EBF07DC4}"/>
              </a:ext>
            </a:extLst>
          </p:cNvPr>
          <p:cNvSpPr txBox="1"/>
          <p:nvPr/>
        </p:nvSpPr>
        <p:spPr>
          <a:xfrm>
            <a:off x="9657725" y="4197637"/>
            <a:ext cx="2738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defRPr/>
            </a:pPr>
            <a:r>
              <a:rPr lang="zh-CN" altLang="en-US" sz="16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能源动力专业研究生</a:t>
            </a:r>
            <a:endParaRPr lang="zh-CN" altLang="en-US" sz="1600" spc="15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628" name="文本框 26627">
            <a:extLst>
              <a:ext uri="{FF2B5EF4-FFF2-40B4-BE49-F238E27FC236}">
                <a16:creationId xmlns:a16="http://schemas.microsoft.com/office/drawing/2014/main" id="{6AD31E91-69CF-4CDD-9346-CA67A350C36A}"/>
              </a:ext>
            </a:extLst>
          </p:cNvPr>
          <p:cNvSpPr txBox="1"/>
          <p:nvPr/>
        </p:nvSpPr>
        <p:spPr>
          <a:xfrm>
            <a:off x="6170718" y="1947516"/>
            <a:ext cx="2115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</a:rPr>
              <a:t>获“初级工程师”证书；曾参加多项学科知识比赛；曾获国家电网北方客服中心优秀见习生。</a:t>
            </a:r>
          </a:p>
        </p:txBody>
      </p:sp>
      <p:sp>
        <p:nvSpPr>
          <p:cNvPr id="26633" name="文本框 26632">
            <a:extLst>
              <a:ext uri="{FF2B5EF4-FFF2-40B4-BE49-F238E27FC236}">
                <a16:creationId xmlns:a16="http://schemas.microsoft.com/office/drawing/2014/main" id="{AD910A73-703C-FE2E-FB37-6BF2D96C0566}"/>
              </a:ext>
            </a:extLst>
          </p:cNvPr>
          <p:cNvSpPr txBox="1"/>
          <p:nvPr/>
        </p:nvSpPr>
        <p:spPr>
          <a:xfrm>
            <a:off x="6241431" y="4696127"/>
            <a:ext cx="2115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</a:rPr>
              <a:t>获天津科技大学第一届校友创新创业大赛学生组二等奖</a:t>
            </a:r>
          </a:p>
        </p:txBody>
      </p:sp>
      <p:sp>
        <p:nvSpPr>
          <p:cNvPr id="26635" name="文本框 26634">
            <a:extLst>
              <a:ext uri="{FF2B5EF4-FFF2-40B4-BE49-F238E27FC236}">
                <a16:creationId xmlns:a16="http://schemas.microsoft.com/office/drawing/2014/main" id="{FD8107FF-81E9-B9B8-D65A-35A85731C31F}"/>
              </a:ext>
            </a:extLst>
          </p:cNvPr>
          <p:cNvSpPr txBox="1"/>
          <p:nvPr/>
        </p:nvSpPr>
        <p:spPr>
          <a:xfrm>
            <a:off x="10002896" y="4642823"/>
            <a:ext cx="2115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</a:rPr>
              <a:t>获天津科技大学第一届校友创新创业大赛学生组二等奖</a:t>
            </a:r>
          </a:p>
        </p:txBody>
      </p:sp>
      <p:sp>
        <p:nvSpPr>
          <p:cNvPr id="26637" name="文本框 26636">
            <a:extLst>
              <a:ext uri="{FF2B5EF4-FFF2-40B4-BE49-F238E27FC236}">
                <a16:creationId xmlns:a16="http://schemas.microsoft.com/office/drawing/2014/main" id="{0FC3B341-A375-97B9-9F45-3E054D2DC79E}"/>
              </a:ext>
            </a:extLst>
          </p:cNvPr>
          <p:cNvSpPr txBox="1"/>
          <p:nvPr/>
        </p:nvSpPr>
        <p:spPr>
          <a:xfrm>
            <a:off x="9908000" y="1867306"/>
            <a:ext cx="2156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</a:rPr>
              <a:t>曾获第一届天津市节能减排社会实践与科技竞赛市赛三等奖；熟练运用各类办公软件。</a:t>
            </a:r>
          </a:p>
        </p:txBody>
      </p:sp>
      <p:pic>
        <p:nvPicPr>
          <p:cNvPr id="26639" name="图片 26638">
            <a:extLst>
              <a:ext uri="{FF2B5EF4-FFF2-40B4-BE49-F238E27FC236}">
                <a16:creationId xmlns:a16="http://schemas.microsoft.com/office/drawing/2014/main" id="{9AD3548C-21A2-52FE-5D23-910E425349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680" y="3831308"/>
            <a:ext cx="1226158" cy="1717272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sp>
        <p:nvSpPr>
          <p:cNvPr id="26641" name="TextBox 20">
            <a:extLst>
              <a:ext uri="{FF2B5EF4-FFF2-40B4-BE49-F238E27FC236}">
                <a16:creationId xmlns:a16="http://schemas.microsoft.com/office/drawing/2014/main" id="{3602C5D7-ACCA-60E9-A15D-590FC82A9C0B}"/>
              </a:ext>
            </a:extLst>
          </p:cNvPr>
          <p:cNvSpPr txBox="1"/>
          <p:nvPr/>
        </p:nvSpPr>
        <p:spPr>
          <a:xfrm>
            <a:off x="1463362" y="3965868"/>
            <a:ext cx="1549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Calibri" panose="020F0502020204030204" charset="0"/>
              </a:rPr>
              <a:t>李丽梅</a:t>
            </a:r>
            <a:endParaRPr kumimoji="0" lang="zh-CN" altLang="en-US" b="1" i="0" u="none" strike="noStrike" kern="1200" cap="none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26643" name="文本框 26642">
            <a:extLst>
              <a:ext uri="{FF2B5EF4-FFF2-40B4-BE49-F238E27FC236}">
                <a16:creationId xmlns:a16="http://schemas.microsoft.com/office/drawing/2014/main" id="{5AE734E2-1939-24C3-8F88-E29AAA9632E2}"/>
              </a:ext>
            </a:extLst>
          </p:cNvPr>
          <p:cNvSpPr txBox="1"/>
          <p:nvPr/>
        </p:nvSpPr>
        <p:spPr>
          <a:xfrm>
            <a:off x="1811753" y="4670191"/>
            <a:ext cx="2115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</a:rPr>
              <a:t>发表论文</a:t>
            </a:r>
            <a:r>
              <a:rPr lang="en-US" altLang="zh-CN" sz="1200" dirty="0">
                <a:latin typeface="黑体" panose="02010609060101010101" charset="-122"/>
                <a:ea typeface="黑体" panose="02010609060101010101" charset="-122"/>
              </a:rPr>
              <a:t>6</a:t>
            </a:r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</a:rPr>
              <a:t>篇，授权发明专利</a:t>
            </a:r>
            <a:r>
              <a:rPr lang="en-US" altLang="zh-CN" sz="1200" dirty="0">
                <a:latin typeface="黑体" panose="02010609060101010101" charset="-122"/>
                <a:ea typeface="黑体" panose="02010609060101010101" charset="-122"/>
              </a:rPr>
              <a:t>9</a:t>
            </a:r>
            <a:r>
              <a:rPr lang="zh-CN" altLang="en-US" sz="1200" dirty="0">
                <a:latin typeface="黑体" panose="02010609060101010101" charset="-122"/>
                <a:ea typeface="黑体" panose="02010609060101010101" charset="-122"/>
              </a:rPr>
              <a:t>篇</a:t>
            </a:r>
          </a:p>
        </p:txBody>
      </p:sp>
      <p:sp>
        <p:nvSpPr>
          <p:cNvPr id="26645" name="TextBox 21">
            <a:extLst>
              <a:ext uri="{FF2B5EF4-FFF2-40B4-BE49-F238E27FC236}">
                <a16:creationId xmlns:a16="http://schemas.microsoft.com/office/drawing/2014/main" id="{C45EA3B5-3254-8CBE-99E5-BE03D5D8E000}"/>
              </a:ext>
            </a:extLst>
          </p:cNvPr>
          <p:cNvSpPr txBox="1"/>
          <p:nvPr/>
        </p:nvSpPr>
        <p:spPr>
          <a:xfrm>
            <a:off x="1312297" y="4331637"/>
            <a:ext cx="2738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defRPr/>
            </a:pPr>
            <a:r>
              <a:rPr lang="zh-CN" altLang="en-US" sz="1600" spc="150" dirty="0">
                <a:latin typeface="黑体" panose="02010609060101010101" charset="-122"/>
                <a:ea typeface="黑体" panose="02010609060101010101" charset="-122"/>
                <a:sym typeface="+mn-ea"/>
              </a:rPr>
              <a:t>机械专业博士生</a:t>
            </a:r>
            <a:endParaRPr lang="zh-CN" altLang="en-US" sz="1600" spc="15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7555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645BC-ABCC-0BA2-4173-120DB73E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文本框 5">
            <a:extLst>
              <a:ext uri="{FF2B5EF4-FFF2-40B4-BE49-F238E27FC236}">
                <a16:creationId xmlns:a16="http://schemas.microsoft.com/office/drawing/2014/main" id="{5A332558-58CA-C4E7-EF80-3F989AF8C6D1}"/>
              </a:ext>
            </a:extLst>
          </p:cNvPr>
          <p:cNvSpPr txBox="1"/>
          <p:nvPr/>
        </p:nvSpPr>
        <p:spPr>
          <a:xfrm>
            <a:off x="263525" y="188913"/>
            <a:ext cx="36004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7F7F7F"/>
                </a:solidFill>
                <a:ea typeface="等线" panose="02010600030101010101" pitchFamily="2" charset="-122"/>
              </a:rPr>
              <a:t>团队成员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9F534F46-06A2-76E8-4F4D-057156D33A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1102583"/>
            <a:ext cx="1589122" cy="2270175"/>
          </a:xfrm>
          <a:prstGeom prst="rect">
            <a:avLst/>
          </a:prstGeom>
          <a:noFill/>
          <a:ln w="50800" cmpd="sng">
            <a:noFill/>
            <a:prstDash val="solid"/>
          </a:ln>
        </p:spPr>
      </p:pic>
      <p:sp>
        <p:nvSpPr>
          <p:cNvPr id="26625" name="Text Box 21">
            <a:extLst>
              <a:ext uri="{FF2B5EF4-FFF2-40B4-BE49-F238E27FC236}">
                <a16:creationId xmlns:a16="http://schemas.microsoft.com/office/drawing/2014/main" id="{C5A3B235-1572-5611-2F66-0CACA354A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912" y="1227049"/>
            <a:ext cx="3877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5750" indent="-28575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ctr" defTabSz="913765">
              <a:defRPr/>
            </a:pPr>
            <a:r>
              <a:rPr lang="zh-CN" altLang="en-US" sz="2400" b="1" spc="15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理工科负责人：宋继田</a:t>
            </a:r>
          </a:p>
        </p:txBody>
      </p:sp>
      <p:sp>
        <p:nvSpPr>
          <p:cNvPr id="26636" name="Text Box 22">
            <a:extLst>
              <a:ext uri="{FF2B5EF4-FFF2-40B4-BE49-F238E27FC236}">
                <a16:creationId xmlns:a16="http://schemas.microsoft.com/office/drawing/2014/main" id="{E572DE09-E2E3-CDBA-F673-4C2CD6FC8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632" y="1772816"/>
            <a:ext cx="8384621" cy="1640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221" tIns="56397" rIns="108221" bIns="56397">
            <a:spAutoFit/>
          </a:bodyPr>
          <a:lstStyle>
            <a:lvl1pPr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天津科技大学教授；博士生导师；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全国蒸发结晶学组专家</a:t>
            </a:r>
          </a:p>
          <a:p>
            <a:pPr>
              <a:defRPr/>
            </a:pP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天津市轻工工程学会副理事长，天津市节能协会专家组成员，发表学术论文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余篇，主持完成省部级和横向科研项目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余项，申请并授权专利近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项。荣获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年天津市专利优秀奖；获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第三届中国创新挑战赛（宁夏）优胜奖（一等奖）。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8CA720-09A9-E386-5A1E-43D3D82200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3789040"/>
            <a:ext cx="1587600" cy="2396377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62A13FF9-B47C-6351-8BC4-5E7368BEF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624" y="3976833"/>
            <a:ext cx="3877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5750" indent="-28575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ctr" defTabSz="913765">
              <a:defRPr/>
            </a:pPr>
            <a:r>
              <a:rPr lang="zh-CN" altLang="en-US" sz="2400" b="1" spc="15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人文社科负责人：李金茹</a:t>
            </a: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F8C34BE8-1194-37E4-6ED4-EA4166C38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789" y="4522600"/>
            <a:ext cx="8554795" cy="1640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221" tIns="56397" rIns="108221" bIns="56397">
            <a:spAutoFit/>
          </a:bodyPr>
          <a:lstStyle>
            <a:lvl1pPr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7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天津科技大学副教授；硕士生导师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天津市无形资产研究会理事，承担、参与多项各级科研课题，发表论文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余篇，出版专著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部，主编出版等多部教材。撰写的教学案例入选中国专业学位案例库，并荣获中国专业学位案例中心优秀案例。擅长案例教学，承担多项学校研究生案例教学教改项目，注重校企合作。</a:t>
            </a:r>
          </a:p>
        </p:txBody>
      </p:sp>
    </p:spTree>
    <p:extLst>
      <p:ext uri="{BB962C8B-B14F-4D97-AF65-F5344CB8AC3E}">
        <p14:creationId xmlns:p14="http://schemas.microsoft.com/office/powerpoint/2010/main" val="3841247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BFD0A-4D52-A068-85A5-2B342077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>
            <a:extLst>
              <a:ext uri="{FF2B5EF4-FFF2-40B4-BE49-F238E27FC236}">
                <a16:creationId xmlns:a16="http://schemas.microsoft.com/office/drawing/2014/main" id="{1F71FE76-443D-78A4-ECE6-815E42505C9E}"/>
              </a:ext>
            </a:extLst>
          </p:cNvPr>
          <p:cNvSpPr/>
          <p:nvPr/>
        </p:nvSpPr>
        <p:spPr>
          <a:xfrm>
            <a:off x="0" y="0"/>
            <a:ext cx="6430963" cy="6858000"/>
          </a:xfrm>
          <a:custGeom>
            <a:avLst/>
            <a:gdLst>
              <a:gd name="connsiteX0" fmla="*/ 0 w 6431042"/>
              <a:gd name="connsiteY0" fmla="*/ 6858001 h 6858001"/>
              <a:gd name="connsiteX1" fmla="*/ 2691520 w 6431042"/>
              <a:gd name="connsiteY1" fmla="*/ 0 h 6858001"/>
              <a:gd name="connsiteX2" fmla="*/ 6431042 w 6431042"/>
              <a:gd name="connsiteY2" fmla="*/ 0 h 6858001"/>
              <a:gd name="connsiteX3" fmla="*/ 3739522 w 6431042"/>
              <a:gd name="connsiteY3" fmla="*/ 6858001 h 6858001"/>
              <a:gd name="connsiteX4" fmla="*/ 0 w 6431042"/>
              <a:gd name="connsiteY4" fmla="*/ 6858001 h 6858001"/>
              <a:gd name="connsiteX0-1" fmla="*/ 0 w 6431042"/>
              <a:gd name="connsiteY0-2" fmla="*/ 6858001 h 6858001"/>
              <a:gd name="connsiteX1-3" fmla="*/ 1269120 w 6431042"/>
              <a:gd name="connsiteY1-4" fmla="*/ 0 h 6858001"/>
              <a:gd name="connsiteX2-5" fmla="*/ 6431042 w 6431042"/>
              <a:gd name="connsiteY2-6" fmla="*/ 0 h 6858001"/>
              <a:gd name="connsiteX3-7" fmla="*/ 3739522 w 6431042"/>
              <a:gd name="connsiteY3-8" fmla="*/ 6858001 h 6858001"/>
              <a:gd name="connsiteX4-9" fmla="*/ 0 w 6431042"/>
              <a:gd name="connsiteY4-10" fmla="*/ 6858001 h 68580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31042" h="6858001">
                <a:moveTo>
                  <a:pt x="0" y="6858001"/>
                </a:moveTo>
                <a:lnTo>
                  <a:pt x="1269120" y="0"/>
                </a:lnTo>
                <a:lnTo>
                  <a:pt x="6431042" y="0"/>
                </a:lnTo>
                <a:lnTo>
                  <a:pt x="3739522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6416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1" name="文本框 3">
            <a:extLst>
              <a:ext uri="{FF2B5EF4-FFF2-40B4-BE49-F238E27FC236}">
                <a16:creationId xmlns:a16="http://schemas.microsoft.com/office/drawing/2014/main" id="{A338572B-00DD-0B83-BD67-CE88142F072A}"/>
              </a:ext>
            </a:extLst>
          </p:cNvPr>
          <p:cNvSpPr txBox="1"/>
          <p:nvPr/>
        </p:nvSpPr>
        <p:spPr>
          <a:xfrm>
            <a:off x="7178675" y="1628775"/>
            <a:ext cx="2784475" cy="3046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96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未来规划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33645E-AAC3-0118-7EA7-A9CCDD031DBB}"/>
              </a:ext>
            </a:extLst>
          </p:cNvPr>
          <p:cNvSpPr/>
          <p:nvPr/>
        </p:nvSpPr>
        <p:spPr>
          <a:xfrm>
            <a:off x="0" y="-12700"/>
            <a:ext cx="2782888" cy="6870700"/>
          </a:xfrm>
          <a:custGeom>
            <a:avLst/>
            <a:gdLst>
              <a:gd name="connsiteX0" fmla="*/ 0 w 2783632"/>
              <a:gd name="connsiteY0" fmla="*/ 0 h 6858001"/>
              <a:gd name="connsiteX1" fmla="*/ 2783632 w 2783632"/>
              <a:gd name="connsiteY1" fmla="*/ 0 h 6858001"/>
              <a:gd name="connsiteX2" fmla="*/ 2783632 w 2783632"/>
              <a:gd name="connsiteY2" fmla="*/ 6858001 h 6858001"/>
              <a:gd name="connsiteX3" fmla="*/ 0 w 2783632"/>
              <a:gd name="connsiteY3" fmla="*/ 6858001 h 6858001"/>
              <a:gd name="connsiteX4" fmla="*/ 0 w 2783632"/>
              <a:gd name="connsiteY4" fmla="*/ 0 h 6858001"/>
              <a:gd name="connsiteX0-1" fmla="*/ 0 w 2783632"/>
              <a:gd name="connsiteY0-2" fmla="*/ 12700 h 6870701"/>
              <a:gd name="connsiteX1-3" fmla="*/ 1551732 w 2783632"/>
              <a:gd name="connsiteY1-4" fmla="*/ 0 h 6870701"/>
              <a:gd name="connsiteX2-5" fmla="*/ 2783632 w 2783632"/>
              <a:gd name="connsiteY2-6" fmla="*/ 6870701 h 6870701"/>
              <a:gd name="connsiteX3-7" fmla="*/ 0 w 2783632"/>
              <a:gd name="connsiteY3-8" fmla="*/ 6870701 h 6870701"/>
              <a:gd name="connsiteX4-9" fmla="*/ 0 w 2783632"/>
              <a:gd name="connsiteY4-10" fmla="*/ 12700 h 6870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783632" h="6870701">
                <a:moveTo>
                  <a:pt x="0" y="12700"/>
                </a:moveTo>
                <a:lnTo>
                  <a:pt x="1551732" y="0"/>
                </a:lnTo>
                <a:lnTo>
                  <a:pt x="2783632" y="6870701"/>
                </a:lnTo>
                <a:lnTo>
                  <a:pt x="0" y="6870701"/>
                </a:lnTo>
                <a:lnTo>
                  <a:pt x="0" y="12700"/>
                </a:lnTo>
                <a:close/>
              </a:path>
            </a:pathLst>
          </a:custGeom>
          <a:solidFill>
            <a:srgbClr val="1E5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2BB4A8-E836-9D2E-D5E1-F64D435A36BD}"/>
              </a:ext>
            </a:extLst>
          </p:cNvPr>
          <p:cNvSpPr/>
          <p:nvPr/>
        </p:nvSpPr>
        <p:spPr>
          <a:xfrm>
            <a:off x="12072938" y="0"/>
            <a:ext cx="119063" cy="6858000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4" name="文本框 12">
            <a:extLst>
              <a:ext uri="{FF2B5EF4-FFF2-40B4-BE49-F238E27FC236}">
                <a16:creationId xmlns:a16="http://schemas.microsoft.com/office/drawing/2014/main" id="{E2BA9E9F-8E50-840E-98BC-A6C9B11EFF49}"/>
              </a:ext>
            </a:extLst>
          </p:cNvPr>
          <p:cNvSpPr txBox="1"/>
          <p:nvPr/>
        </p:nvSpPr>
        <p:spPr>
          <a:xfrm>
            <a:off x="471488" y="981075"/>
            <a:ext cx="6121400" cy="4508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3662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2BCEB-B9A5-BBFD-7D03-C8C74BCF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文本框 5">
            <a:extLst>
              <a:ext uri="{FF2B5EF4-FFF2-40B4-BE49-F238E27FC236}">
                <a16:creationId xmlns:a16="http://schemas.microsoft.com/office/drawing/2014/main" id="{66120450-EC84-077C-443E-5CE87259DBF7}"/>
              </a:ext>
            </a:extLst>
          </p:cNvPr>
          <p:cNvSpPr txBox="1"/>
          <p:nvPr/>
        </p:nvSpPr>
        <p:spPr>
          <a:xfrm>
            <a:off x="263525" y="188913"/>
            <a:ext cx="36004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7F7F7F"/>
                </a:solidFill>
                <a:ea typeface="等线" panose="02010600030101010101" pitchFamily="2" charset="-122"/>
              </a:rPr>
              <a:t>未来规划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0DBFA5-7F73-6AA7-E559-C61854C66F2D}"/>
              </a:ext>
            </a:extLst>
          </p:cNvPr>
          <p:cNvSpPr txBox="1"/>
          <p:nvPr/>
        </p:nvSpPr>
        <p:spPr>
          <a:xfrm>
            <a:off x="1584047" y="5783649"/>
            <a:ext cx="1863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</a:t>
            </a:r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A77C56-55B4-0BF3-270F-50597645AA09}"/>
              </a:ext>
            </a:extLst>
          </p:cNvPr>
          <p:cNvSpPr txBox="1"/>
          <p:nvPr/>
        </p:nvSpPr>
        <p:spPr>
          <a:xfrm>
            <a:off x="5465445" y="5783549"/>
            <a:ext cx="1788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2027</a:t>
            </a:r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672B66-9F3D-E945-69D4-BE2A112D4B9B}"/>
              </a:ext>
            </a:extLst>
          </p:cNvPr>
          <p:cNvSpPr txBox="1"/>
          <p:nvPr/>
        </p:nvSpPr>
        <p:spPr>
          <a:xfrm>
            <a:off x="9457690" y="5793709"/>
            <a:ext cx="16205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2028</a:t>
            </a:r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FF50BB8-9D6E-D287-174F-C877544EBABD}"/>
              </a:ext>
            </a:extLst>
          </p:cNvPr>
          <p:cNvCxnSpPr/>
          <p:nvPr/>
        </p:nvCxnSpPr>
        <p:spPr>
          <a:xfrm flipH="1">
            <a:off x="2498725" y="5131404"/>
            <a:ext cx="11430" cy="664845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1DC3327-0A74-D827-CD97-554F4531FFD7}"/>
              </a:ext>
            </a:extLst>
          </p:cNvPr>
          <p:cNvCxnSpPr/>
          <p:nvPr/>
        </p:nvCxnSpPr>
        <p:spPr>
          <a:xfrm>
            <a:off x="10266680" y="3582639"/>
            <a:ext cx="17780" cy="2284095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97D7593-4368-E582-436B-07DA8DD3A202}"/>
              </a:ext>
            </a:extLst>
          </p:cNvPr>
          <p:cNvCxnSpPr/>
          <p:nvPr/>
        </p:nvCxnSpPr>
        <p:spPr>
          <a:xfrm>
            <a:off x="6348095" y="4543394"/>
            <a:ext cx="23495" cy="1291590"/>
          </a:xfrm>
          <a:prstGeom prst="straightConnector1">
            <a:avLst/>
          </a:prstGeom>
          <a:noFill/>
          <a:ln w="28575" cap="flat" cmpd="sng" algn="ctr">
            <a:solidFill>
              <a:srgbClr val="0070C0"/>
            </a:solidFill>
            <a:prstDash val="sysDash"/>
            <a:miter lim="800000"/>
            <a:tailEnd type="arrow"/>
          </a:ln>
          <a:effectLst/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B893ABA-B80D-F4A2-AC82-5BEBD2F81C11}"/>
              </a:ext>
            </a:extLst>
          </p:cNvPr>
          <p:cNvSpPr txBox="1"/>
          <p:nvPr/>
        </p:nvSpPr>
        <p:spPr>
          <a:xfrm>
            <a:off x="795023" y="1717451"/>
            <a:ext cx="337629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</a:rPr>
              <a:t>成立公司</a:t>
            </a: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打开市场积累技术经验</a:t>
            </a: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</a:t>
            </a:r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萃取</a:t>
            </a: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超声杀菌</a:t>
            </a:r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落到实处进行中试运行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E042FD-09BD-5E8C-9744-F66A0BAC02CB}"/>
              </a:ext>
            </a:extLst>
          </p:cNvPr>
          <p:cNvSpPr txBox="1"/>
          <p:nvPr/>
        </p:nvSpPr>
        <p:spPr>
          <a:xfrm>
            <a:off x="8761095" y="605962"/>
            <a:ext cx="2744470" cy="149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  <a:sym typeface="+mn-ea"/>
              </a:rPr>
              <a:t>更新产品技术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完成咖啡萃取杀菌的</a:t>
            </a: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交钥匙</a:t>
            </a: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6A524E-57C3-9A90-95E9-5078FB428271}"/>
              </a:ext>
            </a:extLst>
          </p:cNvPr>
          <p:cNvSpPr/>
          <p:nvPr/>
        </p:nvSpPr>
        <p:spPr>
          <a:xfrm>
            <a:off x="8063865" y="2326609"/>
            <a:ext cx="4138930" cy="28384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57CAE6-7520-151D-D753-BA2F28296B94}"/>
              </a:ext>
            </a:extLst>
          </p:cNvPr>
          <p:cNvSpPr/>
          <p:nvPr/>
        </p:nvSpPr>
        <p:spPr>
          <a:xfrm>
            <a:off x="8063865" y="2385664"/>
            <a:ext cx="253365" cy="102679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013F61-6154-1C5A-C6F7-2A5315892077}"/>
              </a:ext>
            </a:extLst>
          </p:cNvPr>
          <p:cNvSpPr/>
          <p:nvPr/>
        </p:nvSpPr>
        <p:spPr>
          <a:xfrm>
            <a:off x="4293870" y="3129249"/>
            <a:ext cx="259080" cy="99758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5F6FD2-A1D8-535F-2578-0F0AFB09DE60}"/>
              </a:ext>
            </a:extLst>
          </p:cNvPr>
          <p:cNvSpPr/>
          <p:nvPr/>
        </p:nvSpPr>
        <p:spPr>
          <a:xfrm>
            <a:off x="391317" y="4005367"/>
            <a:ext cx="253365" cy="115760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C012F3-E882-2ACB-23F4-6553270CBA33}"/>
              </a:ext>
            </a:extLst>
          </p:cNvPr>
          <p:cNvSpPr/>
          <p:nvPr/>
        </p:nvSpPr>
        <p:spPr>
          <a:xfrm>
            <a:off x="4294187" y="3129243"/>
            <a:ext cx="3876040" cy="28384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8CB36A-792F-4D15-3EA0-358267E216E5}"/>
              </a:ext>
            </a:extLst>
          </p:cNvPr>
          <p:cNvSpPr/>
          <p:nvPr/>
        </p:nvSpPr>
        <p:spPr>
          <a:xfrm>
            <a:off x="390993" y="3846388"/>
            <a:ext cx="4026535" cy="28384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5D8EA5-AAFC-3D41-C5F9-93463A182D95}"/>
              </a:ext>
            </a:extLst>
          </p:cNvPr>
          <p:cNvSpPr/>
          <p:nvPr/>
        </p:nvSpPr>
        <p:spPr>
          <a:xfrm>
            <a:off x="9525" y="4879309"/>
            <a:ext cx="628015" cy="28384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EB13C2-BD01-FE89-2D00-D1DA2493FE52}"/>
              </a:ext>
            </a:extLst>
          </p:cNvPr>
          <p:cNvSpPr txBox="1"/>
          <p:nvPr/>
        </p:nvSpPr>
        <p:spPr>
          <a:xfrm>
            <a:off x="2108835" y="4349084"/>
            <a:ext cx="784225" cy="490536"/>
          </a:xfrm>
          <a:prstGeom prst="bevel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天津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8004FF-0741-F04E-E6B3-572F9137ADCE}"/>
              </a:ext>
            </a:extLst>
          </p:cNvPr>
          <p:cNvSpPr txBox="1"/>
          <p:nvPr/>
        </p:nvSpPr>
        <p:spPr>
          <a:xfrm>
            <a:off x="5960745" y="3581369"/>
            <a:ext cx="798195" cy="491052"/>
          </a:xfrm>
          <a:prstGeom prst="bevel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华北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97076D-B384-4657-A56B-81CC8A624607}"/>
              </a:ext>
            </a:extLst>
          </p:cNvPr>
          <p:cNvSpPr txBox="1"/>
          <p:nvPr/>
        </p:nvSpPr>
        <p:spPr>
          <a:xfrm>
            <a:off x="9749790" y="2800319"/>
            <a:ext cx="849630" cy="491172"/>
          </a:xfrm>
          <a:prstGeom prst="bevel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全国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65E99A-C86C-3D1F-29EF-C63C8D297CEA}"/>
              </a:ext>
            </a:extLst>
          </p:cNvPr>
          <p:cNvSpPr txBox="1"/>
          <p:nvPr/>
        </p:nvSpPr>
        <p:spPr>
          <a:xfrm>
            <a:off x="4329525" y="981993"/>
            <a:ext cx="3890645" cy="195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</a:rPr>
              <a:t>一体化设备开发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</a:rPr>
              <a:t>开发出</a:t>
            </a: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</a:rPr>
              <a:t>萃取、超声低温杀菌一体化装备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  <a:sym typeface="+mn-ea"/>
              </a:rPr>
              <a:t>树立企业品牌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pitchFamily="34" charset="-122"/>
                <a:sym typeface="+mn-ea"/>
              </a:rPr>
              <a:t>做行业先行者</a:t>
            </a:r>
            <a:endParaRPr lang="zh-CN" altLang="en-US" sz="2000" b="1" dirty="0">
              <a:latin typeface="黑体" panose="02010609060101010101" charset="-122"/>
              <a:ea typeface="黑体" panose="02010609060101010101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0517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组合 1"/>
          <p:cNvGrpSpPr/>
          <p:nvPr/>
        </p:nvGrpSpPr>
        <p:grpSpPr>
          <a:xfrm rot="10800000">
            <a:off x="5761038" y="-12700"/>
            <a:ext cx="6430962" cy="6870700"/>
            <a:chOff x="0" y="-12700"/>
            <a:chExt cx="6430963" cy="6870700"/>
          </a:xfrm>
        </p:grpSpPr>
        <p:sp>
          <p:nvSpPr>
            <p:cNvPr id="8" name="平行四边形 7"/>
            <p:cNvSpPr/>
            <p:nvPr/>
          </p:nvSpPr>
          <p:spPr>
            <a:xfrm>
              <a:off x="0" y="0"/>
              <a:ext cx="6430963" cy="6858000"/>
            </a:xfrm>
            <a:custGeom>
              <a:avLst/>
              <a:gdLst>
                <a:gd name="connsiteX0" fmla="*/ 0 w 6431042"/>
                <a:gd name="connsiteY0" fmla="*/ 6858001 h 6858001"/>
                <a:gd name="connsiteX1" fmla="*/ 2691520 w 6431042"/>
                <a:gd name="connsiteY1" fmla="*/ 0 h 6858001"/>
                <a:gd name="connsiteX2" fmla="*/ 6431042 w 6431042"/>
                <a:gd name="connsiteY2" fmla="*/ 0 h 6858001"/>
                <a:gd name="connsiteX3" fmla="*/ 3739522 w 6431042"/>
                <a:gd name="connsiteY3" fmla="*/ 6858001 h 6858001"/>
                <a:gd name="connsiteX4" fmla="*/ 0 w 6431042"/>
                <a:gd name="connsiteY4" fmla="*/ 6858001 h 6858001"/>
                <a:gd name="connsiteX0-1" fmla="*/ 0 w 6431042"/>
                <a:gd name="connsiteY0-2" fmla="*/ 6858001 h 6858001"/>
                <a:gd name="connsiteX1-3" fmla="*/ 1269120 w 6431042"/>
                <a:gd name="connsiteY1-4" fmla="*/ 0 h 6858001"/>
                <a:gd name="connsiteX2-5" fmla="*/ 6431042 w 6431042"/>
                <a:gd name="connsiteY2-6" fmla="*/ 0 h 6858001"/>
                <a:gd name="connsiteX3-7" fmla="*/ 3739522 w 6431042"/>
                <a:gd name="connsiteY3-8" fmla="*/ 6858001 h 6858001"/>
                <a:gd name="connsiteX4-9" fmla="*/ 0 w 6431042"/>
                <a:gd name="connsiteY4-10" fmla="*/ 6858001 h 685800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31042" h="6858001">
                  <a:moveTo>
                    <a:pt x="0" y="6858001"/>
                  </a:moveTo>
                  <a:lnTo>
                    <a:pt x="1269120" y="0"/>
                  </a:lnTo>
                  <a:lnTo>
                    <a:pt x="6431042" y="0"/>
                  </a:lnTo>
                  <a:lnTo>
                    <a:pt x="3739522" y="6858001"/>
                  </a:lnTo>
                  <a:lnTo>
                    <a:pt x="0" y="6858001"/>
                  </a:lnTo>
                  <a:close/>
                </a:path>
              </a:pathLst>
            </a:custGeom>
            <a:solidFill>
              <a:srgbClr val="16416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-9525"/>
              <a:ext cx="2782887" cy="6870700"/>
            </a:xfrm>
            <a:custGeom>
              <a:avLst/>
              <a:gdLst>
                <a:gd name="connsiteX0" fmla="*/ 0 w 2783632"/>
                <a:gd name="connsiteY0" fmla="*/ 0 h 6858001"/>
                <a:gd name="connsiteX1" fmla="*/ 2783632 w 2783632"/>
                <a:gd name="connsiteY1" fmla="*/ 0 h 6858001"/>
                <a:gd name="connsiteX2" fmla="*/ 2783632 w 2783632"/>
                <a:gd name="connsiteY2" fmla="*/ 6858001 h 6858001"/>
                <a:gd name="connsiteX3" fmla="*/ 0 w 2783632"/>
                <a:gd name="connsiteY3" fmla="*/ 6858001 h 6858001"/>
                <a:gd name="connsiteX4" fmla="*/ 0 w 2783632"/>
                <a:gd name="connsiteY4" fmla="*/ 0 h 6858001"/>
                <a:gd name="connsiteX0-1" fmla="*/ 0 w 2783632"/>
                <a:gd name="connsiteY0-2" fmla="*/ 12700 h 6870701"/>
                <a:gd name="connsiteX1-3" fmla="*/ 1551732 w 2783632"/>
                <a:gd name="connsiteY1-4" fmla="*/ 0 h 6870701"/>
                <a:gd name="connsiteX2-5" fmla="*/ 2783632 w 2783632"/>
                <a:gd name="connsiteY2-6" fmla="*/ 6870701 h 6870701"/>
                <a:gd name="connsiteX3-7" fmla="*/ 0 w 2783632"/>
                <a:gd name="connsiteY3-8" fmla="*/ 6870701 h 6870701"/>
                <a:gd name="connsiteX4-9" fmla="*/ 0 w 2783632"/>
                <a:gd name="connsiteY4-10" fmla="*/ 12700 h 687070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783632" h="6870701">
                  <a:moveTo>
                    <a:pt x="0" y="12700"/>
                  </a:moveTo>
                  <a:lnTo>
                    <a:pt x="1551732" y="0"/>
                  </a:lnTo>
                  <a:lnTo>
                    <a:pt x="2783632" y="6870701"/>
                  </a:lnTo>
                  <a:lnTo>
                    <a:pt x="0" y="6870701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E59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0" y="0"/>
            <a:ext cx="119063" cy="6858000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48" name="文本框 3"/>
          <p:cNvSpPr txBox="1"/>
          <p:nvPr/>
        </p:nvSpPr>
        <p:spPr>
          <a:xfrm>
            <a:off x="347662" y="2132856"/>
            <a:ext cx="10826751" cy="175432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6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感谢各位专家聆听</a:t>
            </a:r>
            <a:endParaRPr lang="en-US" altLang="zh-CN" sz="6000" b="1" dirty="0">
              <a:solidFill>
                <a:srgbClr val="1641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800" b="1" dirty="0">
              <a:solidFill>
                <a:srgbClr val="1641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49" name="文本框 3"/>
          <p:cNvSpPr txBox="1"/>
          <p:nvPr/>
        </p:nvSpPr>
        <p:spPr>
          <a:xfrm>
            <a:off x="347662" y="3645024"/>
            <a:ext cx="5761038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 b="1" dirty="0">
                <a:solidFill>
                  <a:srgbClr val="1641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6000" b="1" dirty="0">
              <a:solidFill>
                <a:srgbClr val="1641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85,&quot;left&quot;:474.05,&quot;top&quot;:194.65,&quot;width&quot;:419.7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579</TotalTime>
  <Words>1950</Words>
  <Application>Microsoft Office PowerPoint</Application>
  <PresentationFormat>宽屏</PresentationFormat>
  <Paragraphs>121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黑体</vt:lpstr>
      <vt:lpstr>华文行楷</vt:lpstr>
      <vt:lpstr>思源黑体 CN Bold</vt:lpstr>
      <vt:lpstr>微软雅黑</vt:lpstr>
      <vt:lpstr>Arial</vt:lpstr>
      <vt:lpstr>Calibri</vt:lpstr>
      <vt:lpstr>Calibri Light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市场前景</vt:lpstr>
      <vt:lpstr>PowerPoint 演示文稿</vt:lpstr>
      <vt:lpstr>应用场景  高峰期大流量人群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竞品分析</vt:lpstr>
      <vt:lpstr>竞品分析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杭 苏</cp:lastModifiedBy>
  <cp:revision>97</cp:revision>
  <dcterms:created xsi:type="dcterms:W3CDTF">2025-07-23T00:59:22Z</dcterms:created>
  <dcterms:modified xsi:type="dcterms:W3CDTF">2026-09-17T05:20:32Z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F1BD18E333F94AD18439EE8A7C1D7EF5_12</vt:lpwstr>
  </property>
</Properties>
</file>